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74" r:id="rId5"/>
    <p:sldId id="257" r:id="rId6"/>
    <p:sldId id="258" r:id="rId7"/>
    <p:sldId id="276" r:id="rId8"/>
    <p:sldId id="259" r:id="rId9"/>
    <p:sldId id="260" r:id="rId10"/>
    <p:sldId id="261" r:id="rId11"/>
    <p:sldId id="277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8" r:id="rId20"/>
    <p:sldId id="269" r:id="rId21"/>
    <p:sldId id="270" r:id="rId22"/>
    <p:sldId id="271" r:id="rId23"/>
    <p:sldId id="272" r:id="rId24"/>
    <p:sldId id="273" r:id="rId25"/>
  </p:sldIdLst>
  <p:sldSz cx="12192000" cy="6858000"/>
  <p:notesSz cx="6858000" cy="9144000"/>
  <p:custDataLst>
    <p:tags r:id="rId29"/>
  </p:custData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gs" Target="tags/tag198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预评估</c:f>
              <c:strCache>
                <c:ptCount val="1"/>
                <c:pt idx="0">
                  <c:v>预评估</c:v>
                </c:pt>
              </c:strCache>
            </c:strRef>
          </c:tx>
          <c:spPr>
            <a:ln w="28575" cap="rnd">
              <a:solidFill>
                <a:srgbClr val="8E6035"/>
              </a:solidFill>
              <a:prstDash val="solid"/>
              <a:round/>
            </a:ln>
          </c:spPr>
          <c:marker>
            <c:symbol val="circle"/>
            <c:size val="8"/>
          </c:marker>
          <c:dLbls>
            <c:delete val="1"/>
          </c:dLbls>
          <c:cat>
            <c:strRef>
              <c:f>{"技术","UX 人本","专业有效","伦理合规"}</c:f>
              <c:strCache>
                <c:ptCount val="4"/>
                <c:pt idx="0">
                  <c:v>技术</c:v>
                </c:pt>
                <c:pt idx="1">
                  <c:v>UX 人本</c:v>
                </c:pt>
                <c:pt idx="2">
                  <c:v>专业有效</c:v>
                </c:pt>
                <c:pt idx="3">
                  <c:v>伦理合规</c:v>
                </c:pt>
              </c:strCache>
            </c:strRef>
          </c:cat>
          <c:val>
            <c:numRef>
              <c:f>{4,4.25,3.67,3.67}</c:f>
              <c:numCache>
                <c:formatCode>General</c:formatCode>
                <c:ptCount val="4"/>
                <c:pt idx="0">
                  <c:v>4</c:v>
                </c:pt>
                <c:pt idx="1">
                  <c:v>4.25</c:v>
                </c:pt>
                <c:pt idx="2">
                  <c:v>3.67</c:v>
                </c:pt>
                <c:pt idx="3">
                  <c:v>3.67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rad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w="9525">
              <a:solidFill>
                <a:srgbClr val="CBC7BE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25" b="0" i="0" u="none" strike="noStrike" kern="1200" baseline="0">
                <a:solidFill>
                  <a:srgbClr val="77736D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  <c:majorUnit val="1"/>
      </c:valAx>
      <c:spPr>
        <a:noFill/>
      </c:spPr>
    </c:plotArea>
    <c:plotVisOnly val="1"/>
    <c:dispBlanksAs val="gap"/>
    <c:showDLblsOverMax val="0"/>
    <c:extLst>
      <c:ext uri="{0b15fc19-7d7d-44ad-8c2d-2c3a37ce22c3}">
        <chartProps xmlns="https://web.wps.cn/et/2018/main" chartId="{17042311-15c7-4562-9674-c54c999e89d6}"/>
      </c:ext>
    </c:extLst>
  </c:chart>
  <c:spPr>
    <a:solidFill>
      <a:srgbClr val="FBFAF7"/>
    </a:solidFill>
    <a:ln w="0">
      <a:solidFill>
        <a:srgbClr val="FBFAF7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用一句具体场景开场：当一次没有被接话、没有被打招呼的经历，在晚上独处时不断回放，用户真正缺少的是什么？我们做的产品从这个问题开始。</a:t>
            </a:r>
          </a:p>
          <a:p>
            <a:r>
              <a:t>转场：先说明这到底是什么产品。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强调边界：它不是“心理咨询 AI”，更不是治疗工具。它补的是现实支持中经常缺席的“持续在场”和“梳理想法”。</a:t>
            </a:r>
          </a:p>
          <a:p>
            <a:r>
              <a:t>转场：这个定位并不是从功能清单开始，而是从一个真实困境走出来的。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强调边界：它不是“心理咨询 AI”，更不是治疗工具。它补的是现实支持中经常缺席的“持续在场”和“梳理想法”。</a:t>
            </a:r>
          </a:p>
          <a:p>
            <a:r>
              <a:t>转场：这个定位并不是从功能清单开始，而是从一个真实困境走出来的。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方法论只作为背后的路径，不逐章讲课程。主线是：真实问题如何转化成一个能上线、能验证的产品。</a:t>
            </a:r>
          </a:p>
          <a:p>
            <a:r>
              <a:t>转场：接下来从那个具体的晚上开始。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强调边界：它不是“心理咨询 AI”，更不是治疗工具。它补的是现实支持中经常缺席的“持续在场”和“梳理想法”。</a:t>
            </a:r>
          </a:p>
          <a:p>
            <a:r>
              <a:t>转场：这个定位并不是从功能清单开始，而是从一个真实困境走出来的。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不要把“小远”讲成抽象人群标签。讲清食堂、手机、宿舍和深夜四个时刻，让问题落到一个具体的人。</a:t>
            </a:r>
          </a:p>
          <a:p>
            <a:r>
              <a:t>转场：真正要解决的，并不是“让别人打招呼”。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用三层需求说明：产品不只是帮助“想明白”，还要让用户感到被理解，并最终减少对 AI 的依赖、回到真实关系。</a:t>
            </a:r>
          </a:p>
          <a:p>
            <a:r>
              <a:t>转场：心理支持场景的难点，是帮助与越界只隔着很细的一条线。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这页给出设计问题和三条不可妥协的约束。心理支持产品的好坏，不只看它能做什么，更看它明确不做什么。</a:t>
            </a:r>
          </a:p>
          <a:p>
            <a:r>
              <a:t>转场：因此我们的解决方案不是替用户下结论。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强调边界：它不是“心理咨询 AI”，更不是治疗工具。它补的是现实支持中经常缺席的“持续在场”和“梳理想法”。</a:t>
            </a:r>
          </a:p>
          <a:p>
            <a:r>
              <a:t>转场：这个定位并不是从功能清单开始，而是从一个真实困境走出来的。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三步顺序不能颠倒：用户情绪重时，直接进入分析会产生侵扰感；只有用户愿意，才进入行动。</a:t>
            </a:r>
          </a:p>
          <a:p>
            <a:r>
              <a:t>转场：这个逻辑如何变成用户真正能使用的产品？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界面选择服务于情绪低落时的低认知负荷：可以直接点场景按钮，也可以自由输入；紧急帮助始终可见。</a:t>
            </a:r>
          </a:p>
          <a:p>
            <a:r>
              <a:t>转场：进入对话之后，关键不是一次给出漂亮答案，而是过程。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展示移动端测试场景。强调工作流不是流水线，用户情绪重时可以停在共情或缓冲阶段。</a:t>
            </a:r>
          </a:p>
          <a:p>
            <a:r>
              <a:t>转场：同样是负面情绪，不同风险必须走不同路径。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四级安全灯的价值，是同时减少漏判和误判。普通低落不应该被突然用危机话术打断；而明确危险必须越过模型，直接连接真人支持。</a:t>
            </a:r>
          </a:p>
          <a:p>
            <a:r>
              <a:t>转场：为什么不能把这件事只写进 Prompt？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心理支持场景需要前后两道确定性护栏。最关键的一点：紧急按钮和红灯不依赖模型临场发挥。</a:t>
            </a:r>
          </a:p>
          <a:p>
            <a:r>
              <a:t>转场：这些规则已经被包装成一个真实的公网应用。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讲清三层架构和密钥位置。当前版本是 GitHub Pages + Render + OpenRouter，展示 2026-07-14 的健康检查结果。</a:t>
            </a:r>
          </a:p>
          <a:p>
            <a:r>
              <a:t>转场：技术选择并非炫技，每一个都对应一个风险。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用“风险—设计”映射说明产品决策：安全、隐私和失败处理不是上线前补丁，而是从 PRD 阶段进入产品。</a:t>
            </a:r>
          </a:p>
          <a:p>
            <a:r>
              <a:t>转场：接下来不能再靠“看起来不错”评价它。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强调边界：它不是“心理咨询 AI”，更不是治疗工具。它补的是现实支持中经常缺席的“持续在场”和“梳理想法”。</a:t>
            </a:r>
          </a:p>
          <a:p>
            <a:r>
              <a:t>转场：这个定位并不是从功能清单开始，而是从一个真实困境走出来的。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不把四维压成一个总分。前两维已有较多工程和体验证据；专业有效与伦理合规的短板必须保留。</a:t>
            </a:r>
          </a:p>
          <a:p>
            <a:r>
              <a:t>转场：先看我们已经能够拿出的证据。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 32/32 来自最终发布验收记录；本次重新运行前端合同检查也得到 OK。后端当前公网健康检查为 HTTP 200。</a:t>
            </a:r>
          </a:p>
          <a:p>
            <a:r>
              <a:t>转场：但“全 PASS”本身不是最有价值的结果。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两个案例都说明：迭代不是换一句更好听的话，而是发现设计哲学或分类规则的根因。</a:t>
            </a:r>
          </a:p>
          <a:p>
            <a:r>
              <a:t>转场：同样重要的是，诚实说明哪些结论目前还不能下。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明确区分自动化测试、完整 T7 和真实用户效果。不要把“32 个后端测试通过”等同于“26 条 T7 已全部填入真实输出”。</a:t>
            </a:r>
          </a:p>
          <a:p>
            <a:r>
              <a:t>转场：因此结论不是产品已经成熟，而是我们已经建立了一个负责任的起点。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用四句话回扣：Project 是什么；Problem 为什么需要；Solution 如何工作；Evaluation 已证明什么、还未证明什么。最后邀请老师扫码体验或查看仓库。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1223505" y="747137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727505" y="747137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9489105" y="747137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4" Type="http://schemas.openxmlformats.org/officeDocument/2006/relationships/notesSlide" Target="../notesSlides/notesSlide4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37.xml"/><Relationship Id="rId21" Type="http://schemas.openxmlformats.org/officeDocument/2006/relationships/tags" Target="../tags/tag36.xml"/><Relationship Id="rId20" Type="http://schemas.openxmlformats.org/officeDocument/2006/relationships/tags" Target="../tags/tag35.xml"/><Relationship Id="rId2" Type="http://schemas.openxmlformats.org/officeDocument/2006/relationships/tags" Target="../tags/tag17.xml"/><Relationship Id="rId19" Type="http://schemas.openxmlformats.org/officeDocument/2006/relationships/tags" Target="../tags/tag34.xml"/><Relationship Id="rId18" Type="http://schemas.openxmlformats.org/officeDocument/2006/relationships/tags" Target="../tags/tag33.xml"/><Relationship Id="rId17" Type="http://schemas.openxmlformats.org/officeDocument/2006/relationships/tags" Target="../tags/tag32.xml"/><Relationship Id="rId16" Type="http://schemas.openxmlformats.org/officeDocument/2006/relationships/tags" Target="../tags/tag31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tags" Target="../tags/tag4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tags" Target="../tags/tag3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tags" Target="../tags/tag5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4" Type="http://schemas.openxmlformats.org/officeDocument/2006/relationships/notesSlide" Target="../notesSlides/notesSlide8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tags" Target="../tags/tag6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6" Type="http://schemas.openxmlformats.org/officeDocument/2006/relationships/notesSlide" Target="../notesSlides/notesSlide9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tags" Target="../tags/tag7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9" Type="http://schemas.openxmlformats.org/officeDocument/2006/relationships/notesSlide" Target="../notesSlides/notesSlide10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tags" Target="../tags/tag9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16.xml"/><Relationship Id="rId8" Type="http://schemas.openxmlformats.org/officeDocument/2006/relationships/tags" Target="../tags/tag115.xml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5" Type="http://schemas.openxmlformats.org/officeDocument/2006/relationships/notesSlide" Target="../notesSlides/notesSlide1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4.png"/><Relationship Id="rId12" Type="http://schemas.openxmlformats.org/officeDocument/2006/relationships/tags" Target="../tags/tag119.xml"/><Relationship Id="rId11" Type="http://schemas.openxmlformats.org/officeDocument/2006/relationships/tags" Target="../tags/tag118.xml"/><Relationship Id="rId10" Type="http://schemas.openxmlformats.org/officeDocument/2006/relationships/tags" Target="../tags/tag117.xml"/><Relationship Id="rId1" Type="http://schemas.openxmlformats.org/officeDocument/2006/relationships/tags" Target="../tags/tag108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image" Target="../media/image5.png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4" Type="http://schemas.openxmlformats.org/officeDocument/2006/relationships/notesSlide" Target="../notesSlides/notesSlide13.xml"/><Relationship Id="rId33" Type="http://schemas.openxmlformats.org/officeDocument/2006/relationships/slideLayout" Target="../slideLayouts/slideLayout1.xml"/><Relationship Id="rId32" Type="http://schemas.openxmlformats.org/officeDocument/2006/relationships/tags" Target="../tags/tag147.xml"/><Relationship Id="rId31" Type="http://schemas.openxmlformats.org/officeDocument/2006/relationships/tags" Target="../tags/tag146.xml"/><Relationship Id="rId30" Type="http://schemas.openxmlformats.org/officeDocument/2006/relationships/image" Target="../media/image8.png"/><Relationship Id="rId3" Type="http://schemas.openxmlformats.org/officeDocument/2006/relationships/tags" Target="../tags/tag122.xml"/><Relationship Id="rId29" Type="http://schemas.openxmlformats.org/officeDocument/2006/relationships/tags" Target="../tags/tag145.xml"/><Relationship Id="rId28" Type="http://schemas.openxmlformats.org/officeDocument/2006/relationships/tags" Target="../tags/tag144.xml"/><Relationship Id="rId27" Type="http://schemas.openxmlformats.org/officeDocument/2006/relationships/tags" Target="../tags/tag143.xml"/><Relationship Id="rId26" Type="http://schemas.openxmlformats.org/officeDocument/2006/relationships/tags" Target="../tags/tag142.xml"/><Relationship Id="rId25" Type="http://schemas.openxmlformats.org/officeDocument/2006/relationships/tags" Target="../tags/tag141.xml"/><Relationship Id="rId24" Type="http://schemas.openxmlformats.org/officeDocument/2006/relationships/tags" Target="../tags/tag140.xml"/><Relationship Id="rId23" Type="http://schemas.openxmlformats.org/officeDocument/2006/relationships/tags" Target="../tags/tag139.xml"/><Relationship Id="rId22" Type="http://schemas.openxmlformats.org/officeDocument/2006/relationships/image" Target="../media/image7.png"/><Relationship Id="rId21" Type="http://schemas.openxmlformats.org/officeDocument/2006/relationships/tags" Target="../tags/tag138.xml"/><Relationship Id="rId20" Type="http://schemas.openxmlformats.org/officeDocument/2006/relationships/tags" Target="../tags/tag137.xml"/><Relationship Id="rId2" Type="http://schemas.openxmlformats.org/officeDocument/2006/relationships/tags" Target="../tags/tag121.xml"/><Relationship Id="rId19" Type="http://schemas.openxmlformats.org/officeDocument/2006/relationships/tags" Target="../tags/tag136.xml"/><Relationship Id="rId18" Type="http://schemas.openxmlformats.org/officeDocument/2006/relationships/tags" Target="../tags/tag135.xml"/><Relationship Id="rId17" Type="http://schemas.openxmlformats.org/officeDocument/2006/relationships/tags" Target="../tags/tag134.xml"/><Relationship Id="rId16" Type="http://schemas.openxmlformats.org/officeDocument/2006/relationships/tags" Target="../tags/tag133.xml"/><Relationship Id="rId15" Type="http://schemas.openxmlformats.org/officeDocument/2006/relationships/tags" Target="../tags/tag132.xml"/><Relationship Id="rId14" Type="http://schemas.openxmlformats.org/officeDocument/2006/relationships/image" Target="../media/image6.png"/><Relationship Id="rId13" Type="http://schemas.openxmlformats.org/officeDocument/2006/relationships/tags" Target="../tags/tag131.xml"/><Relationship Id="rId12" Type="http://schemas.openxmlformats.org/officeDocument/2006/relationships/tags" Target="../tags/tag130.xml"/><Relationship Id="rId11" Type="http://schemas.openxmlformats.org/officeDocument/2006/relationships/tags" Target="../tags/tag129.xml"/><Relationship Id="rId10" Type="http://schemas.openxmlformats.org/officeDocument/2006/relationships/tags" Target="../tags/tag128.xml"/><Relationship Id="rId1" Type="http://schemas.openxmlformats.org/officeDocument/2006/relationships/tags" Target="../tags/tag1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56.xml"/><Relationship Id="rId8" Type="http://schemas.openxmlformats.org/officeDocument/2006/relationships/tags" Target="../tags/tag155.xml"/><Relationship Id="rId7" Type="http://schemas.openxmlformats.org/officeDocument/2006/relationships/tags" Target="../tags/tag154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4" Type="http://schemas.openxmlformats.org/officeDocument/2006/relationships/tags" Target="../tags/tag151.xml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6" Type="http://schemas.openxmlformats.org/officeDocument/2006/relationships/notesSlide" Target="../notesSlides/notesSlide17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161.xml"/><Relationship Id="rId13" Type="http://schemas.openxmlformats.org/officeDocument/2006/relationships/tags" Target="../tags/tag160.xml"/><Relationship Id="rId12" Type="http://schemas.openxmlformats.org/officeDocument/2006/relationships/tags" Target="../tags/tag159.xml"/><Relationship Id="rId11" Type="http://schemas.openxmlformats.org/officeDocument/2006/relationships/tags" Target="../tags/tag158.xml"/><Relationship Id="rId10" Type="http://schemas.openxmlformats.org/officeDocument/2006/relationships/tags" Target="../tags/tag157.xml"/><Relationship Id="rId1" Type="http://schemas.openxmlformats.org/officeDocument/2006/relationships/tags" Target="../tags/tag148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69.xml"/><Relationship Id="rId8" Type="http://schemas.openxmlformats.org/officeDocument/2006/relationships/tags" Target="../tags/tag168.xml"/><Relationship Id="rId7" Type="http://schemas.openxmlformats.org/officeDocument/2006/relationships/tags" Target="../tags/tag167.xml"/><Relationship Id="rId6" Type="http://schemas.openxmlformats.org/officeDocument/2006/relationships/tags" Target="../tags/tag166.xml"/><Relationship Id="rId5" Type="http://schemas.openxmlformats.org/officeDocument/2006/relationships/tags" Target="../tags/tag165.xml"/><Relationship Id="rId4" Type="http://schemas.openxmlformats.org/officeDocument/2006/relationships/tags" Target="../tags/tag164.xml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5" Type="http://schemas.openxmlformats.org/officeDocument/2006/relationships/notesSlide" Target="../notesSlides/notesSlide18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73.xml"/><Relationship Id="rId12" Type="http://schemas.openxmlformats.org/officeDocument/2006/relationships/tags" Target="../tags/tag172.xml"/><Relationship Id="rId11" Type="http://schemas.openxmlformats.org/officeDocument/2006/relationships/tags" Target="../tags/tag171.xml"/><Relationship Id="rId10" Type="http://schemas.openxmlformats.org/officeDocument/2006/relationships/tags" Target="../tags/tag170.xml"/><Relationship Id="rId1" Type="http://schemas.openxmlformats.org/officeDocument/2006/relationships/chart" Target="../charts/chart1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82.xml"/><Relationship Id="rId8" Type="http://schemas.openxmlformats.org/officeDocument/2006/relationships/tags" Target="../tags/tag181.xml"/><Relationship Id="rId7" Type="http://schemas.openxmlformats.org/officeDocument/2006/relationships/tags" Target="../tags/tag180.xml"/><Relationship Id="rId6" Type="http://schemas.openxmlformats.org/officeDocument/2006/relationships/tags" Target="../tags/tag179.xml"/><Relationship Id="rId5" Type="http://schemas.openxmlformats.org/officeDocument/2006/relationships/tags" Target="../tags/tag178.xml"/><Relationship Id="rId4" Type="http://schemas.openxmlformats.org/officeDocument/2006/relationships/tags" Target="../tags/tag177.xml"/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4" Type="http://schemas.openxmlformats.org/officeDocument/2006/relationships/notesSlide" Target="../notesSlides/notesSlide19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85.xml"/><Relationship Id="rId11" Type="http://schemas.openxmlformats.org/officeDocument/2006/relationships/tags" Target="../tags/tag184.xml"/><Relationship Id="rId10" Type="http://schemas.openxmlformats.org/officeDocument/2006/relationships/tags" Target="../tags/tag183.xml"/><Relationship Id="rId1" Type="http://schemas.openxmlformats.org/officeDocument/2006/relationships/tags" Target="../tags/tag17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194.xml"/><Relationship Id="rId8" Type="http://schemas.openxmlformats.org/officeDocument/2006/relationships/tags" Target="../tags/tag193.xml"/><Relationship Id="rId7" Type="http://schemas.openxmlformats.org/officeDocument/2006/relationships/tags" Target="../tags/tag192.xml"/><Relationship Id="rId6" Type="http://schemas.openxmlformats.org/officeDocument/2006/relationships/tags" Target="../tags/tag191.xml"/><Relationship Id="rId5" Type="http://schemas.openxmlformats.org/officeDocument/2006/relationships/tags" Target="../tags/tag190.xml"/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4" Type="http://schemas.openxmlformats.org/officeDocument/2006/relationships/notesSlide" Target="../notesSlides/notesSlide21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97.xml"/><Relationship Id="rId11" Type="http://schemas.openxmlformats.org/officeDocument/2006/relationships/tags" Target="../tags/tag196.xml"/><Relationship Id="rId10" Type="http://schemas.openxmlformats.org/officeDocument/2006/relationships/tags" Target="../tags/tag195.xml"/><Relationship Id="rId1" Type="http://schemas.openxmlformats.org/officeDocument/2006/relationships/tags" Target="../tags/tag186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-image-frame"/>
          <p:cNvSpPr>
            <a:spLocks noGrp="1"/>
          </p:cNvSpPr>
          <p:nvPr/>
        </p:nvSpPr>
        <p:spPr>
          <a:xfrm>
            <a:off x="4994275" y="1333500"/>
            <a:ext cx="6906895" cy="4182110"/>
          </a:xfrm>
          <a:prstGeom prst="roundRect">
            <a:avLst>
              <a:gd name="adj" fmla="val 2083"/>
            </a:avLst>
          </a:prstGeom>
          <a:solidFill>
            <a:srgbClr val="F5F2EC"/>
          </a:solidFill>
          <a:ln w="9525">
            <a:solidFill>
              <a:srgbClr val="CBC7BE"/>
            </a:solidFill>
            <a:prstDash val="solid"/>
          </a:ln>
        </p:spPr>
      </p:sp>
      <p:sp>
        <p:nvSpPr>
          <p:cNvPr id="3" name="cover-kicker"/>
          <p:cNvSpPr>
            <a:spLocks noGrp="1"/>
          </p:cNvSpPr>
          <p:nvPr/>
        </p:nvSpPr>
        <p:spPr>
          <a:xfrm>
            <a:off x="552450" y="5905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8E603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BNU · HUMAN-CENTERED AI</a:t>
            </a:r>
            <a:endParaRPr sz="1050" b="1">
              <a:solidFill>
                <a:srgbClr val="8E603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cxnSp>
        <p:nvCxnSpPr>
          <p:cNvPr id="12" name="cover-accent"/>
          <p:cNvCxnSpPr/>
          <p:nvPr/>
        </p:nvCxnSpPr>
        <p:spPr>
          <a:xfrm>
            <a:off x="552450" y="1028700"/>
            <a:ext cx="1238250" cy="0"/>
          </a:xfrm>
          <a:prstGeom prst="straightConnector1">
            <a:avLst/>
          </a:prstGeom>
          <a:ln w="57150">
            <a:solidFill>
              <a:srgbClr val="D7A06D"/>
            </a:solidFill>
            <a:prstDash val="solid"/>
          </a:ln>
        </p:spPr>
      </p:cxnSp>
      <p:sp>
        <p:nvSpPr>
          <p:cNvPr id="5" name="cover-title"/>
          <p:cNvSpPr>
            <a:spLocks noGrp="1"/>
          </p:cNvSpPr>
          <p:nvPr/>
        </p:nvSpPr>
        <p:spPr>
          <a:xfrm>
            <a:off x="552450" y="1428750"/>
            <a:ext cx="51054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49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9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被忽视之后，</a:t>
            </a:r>
            <a:endParaRPr sz="49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algn="l">
              <a:defRPr sz="49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9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先被接住</a:t>
            </a:r>
            <a:endParaRPr sz="49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6" name="cover-subtitle"/>
          <p:cNvSpPr>
            <a:spLocks noGrp="1"/>
          </p:cNvSpPr>
          <p:nvPr/>
        </p:nvSpPr>
        <p:spPr>
          <a:xfrm>
            <a:off x="552450" y="352425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8E60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留学生情绪梳理 </a:t>
            </a:r>
            <a:r>
              <a:rPr sz="2250" b="1">
                <a:solidFill>
                  <a:srgbClr val="8E603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Agent</a:t>
            </a:r>
            <a:endParaRPr sz="2250" b="1">
              <a:solidFill>
                <a:srgbClr val="8E603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7" name="cover-value"/>
          <p:cNvSpPr>
            <a:spLocks noGrp="1"/>
          </p:cNvSpPr>
          <p:nvPr/>
        </p:nvSpPr>
        <p:spPr>
          <a:xfrm>
            <a:off x="552450" y="4191000"/>
            <a:ext cx="49530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77736D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为社交受挫后的独处反刍，提供</a:t>
            </a:r>
            <a:endParaRPr sz="1725" b="0">
              <a:solidFill>
                <a:srgbClr val="77736D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algn="l">
              <a:defRPr sz="17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77736D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先共情、再澄清、最后形成一个小行动的</a:t>
            </a:r>
            <a:endParaRPr sz="1725" b="0">
              <a:solidFill>
                <a:srgbClr val="77736D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algn="l">
              <a:defRPr sz="17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77736D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低门槛支持。</a:t>
            </a:r>
            <a:endParaRPr sz="1725" b="0">
              <a:solidFill>
                <a:srgbClr val="77736D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8" name="cover-team"/>
          <p:cNvSpPr>
            <a:spLocks noGrp="1"/>
          </p:cNvSpPr>
          <p:nvPr/>
        </p:nvSpPr>
        <p:spPr>
          <a:xfrm>
            <a:off x="552450" y="59055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6 组</a:t>
            </a:r>
            <a:r>
              <a:rPr lang="zh-CN" sz="12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：林金茂</a:t>
            </a:r>
            <a:r>
              <a:rPr lang="en-US" altLang="zh-CN" sz="12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12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袁一丁</a:t>
            </a:r>
            <a:endParaRPr lang="zh-CN" altLang="en-US" sz="120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7620" y="1412875"/>
            <a:ext cx="6750050" cy="40176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page-2"/>
          <p:cNvSpPr>
            <a:spLocks noGrp="1"/>
          </p:cNvSpPr>
          <p:nvPr/>
        </p:nvSpPr>
        <p:spPr>
          <a:xfrm>
            <a:off x="11106150" y="64198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050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7"/>
          <p:cNvSpPr/>
          <p:nvPr>
            <p:custDataLst>
              <p:tags r:id="rId1"/>
            </p:custDataLst>
          </p:nvPr>
        </p:nvSpPr>
        <p:spPr>
          <a:xfrm>
            <a:off x="611505" y="1909445"/>
            <a:ext cx="10968990" cy="3213100"/>
          </a:xfrm>
          <a:custGeom>
            <a:avLst/>
            <a:gdLst>
              <a:gd name="connsiteX0" fmla="*/ 0 w 10969200"/>
              <a:gd name="connsiteY0" fmla="*/ 0 h 3529797"/>
              <a:gd name="connsiteX1" fmla="*/ 9748804 w 10969200"/>
              <a:gd name="connsiteY1" fmla="*/ 963548 h 3529797"/>
              <a:gd name="connsiteX2" fmla="*/ 10135800 w 10969200"/>
              <a:gd name="connsiteY2" fmla="*/ 955331 h 3529797"/>
              <a:gd name="connsiteX3" fmla="*/ 10135800 w 10969200"/>
              <a:gd name="connsiteY3" fmla="*/ 447619 h 3529797"/>
              <a:gd name="connsiteX4" fmla="*/ 10969200 w 10969200"/>
              <a:gd name="connsiteY4" fmla="*/ 1583634 h 3529797"/>
              <a:gd name="connsiteX5" fmla="*/ 10135800 w 10969200"/>
              <a:gd name="connsiteY5" fmla="*/ 2719649 h 3529797"/>
              <a:gd name="connsiteX6" fmla="*/ 10135800 w 10969200"/>
              <a:gd name="connsiteY6" fmla="*/ 2231548 h 3529797"/>
              <a:gd name="connsiteX7" fmla="*/ 8978224 w 10969200"/>
              <a:gd name="connsiteY7" fmla="*/ 2247545 h 3529797"/>
              <a:gd name="connsiteX8" fmla="*/ 0 w 10969200"/>
              <a:gd name="connsiteY8" fmla="*/ 3529797 h 3529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969200" h="3529797">
                <a:moveTo>
                  <a:pt x="0" y="0"/>
                </a:moveTo>
                <a:cubicBezTo>
                  <a:pt x="3063277" y="778525"/>
                  <a:pt x="6747271" y="1008367"/>
                  <a:pt x="9748804" y="963548"/>
                </a:cubicBezTo>
                <a:lnTo>
                  <a:pt x="10135800" y="955331"/>
                </a:lnTo>
                <a:lnTo>
                  <a:pt x="10135800" y="447619"/>
                </a:lnTo>
                <a:lnTo>
                  <a:pt x="10969200" y="1583634"/>
                </a:lnTo>
                <a:lnTo>
                  <a:pt x="10135800" y="2719649"/>
                </a:lnTo>
                <a:lnTo>
                  <a:pt x="10135800" y="2231548"/>
                </a:lnTo>
                <a:lnTo>
                  <a:pt x="8978224" y="2247545"/>
                </a:lnTo>
                <a:cubicBezTo>
                  <a:pt x="5793188" y="2320957"/>
                  <a:pt x="2580542" y="2619391"/>
                  <a:pt x="0" y="3529797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40000"/>
                </a:schemeClr>
              </a:gs>
              <a:gs pos="47000">
                <a:schemeClr val="accent1">
                  <a:alpha val="20000"/>
                </a:schemeClr>
              </a:gs>
              <a:gs pos="0">
                <a:schemeClr val="accent1">
                  <a:alpha val="0"/>
                </a:schemeClr>
              </a:gs>
            </a:gsLst>
            <a:lin ang="0" scaled="1"/>
            <a:tileRect/>
          </a:gradFill>
          <a:ln w="15875">
            <a:gradFill flip="none" rotWithShape="1">
              <a:gsLst>
                <a:gs pos="68000">
                  <a:schemeClr val="accent1">
                    <a:alpha val="100000"/>
                  </a:schemeClr>
                </a:gs>
                <a:gs pos="33000">
                  <a:schemeClr val="accent1">
                    <a:alpha val="40000"/>
                  </a:schemeClr>
                </a:gs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 panose="020B0500000000000000" charset="-122"/>
              <a:cs typeface="+mn-cs"/>
            </a:endParaRPr>
          </a:p>
        </p:txBody>
      </p:sp>
      <p:sp>
        <p:nvSpPr>
          <p:cNvPr id="16" name="序号"/>
          <p:cNvSpPr txBox="1">
            <a:spLocks noChangeAspect="1"/>
          </p:cNvSpPr>
          <p:nvPr>
            <p:custDataLst>
              <p:tags r:id="rId2"/>
            </p:custDataLst>
          </p:nvPr>
        </p:nvSpPr>
        <p:spPr>
          <a:xfrm>
            <a:off x="4728845" y="2941955"/>
            <a:ext cx="908475" cy="908475"/>
          </a:xfrm>
          <a:prstGeom prst="ellipse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63000">
                <a:schemeClr val="accent2">
                  <a:lumMod val="40000"/>
                  <a:lumOff val="60000"/>
                  <a:alpha val="100000"/>
                </a:schemeClr>
              </a:gs>
              <a:gs pos="100000">
                <a:schemeClr val="accent2">
                  <a:lumMod val="20000"/>
                  <a:lumOff val="80000"/>
                  <a:alpha val="100000"/>
                </a:schemeClr>
              </a:gs>
            </a:gsLst>
            <a:lin ang="13500000" scaled="1"/>
          </a:gradFill>
          <a:effectLst>
            <a:outerShdw blurRad="101600" dist="38100" dir="2700000" algn="tl" rotWithShape="0">
              <a:schemeClr val="accent2">
                <a:alpha val="50000"/>
              </a:schemeClr>
            </a:outerShdw>
          </a:effectLst>
        </p:spPr>
        <p:txBody>
          <a:bodyPr wrap="none" lIns="0" tIns="0" rIns="0" bIns="0" rtlCol="0" anchor="ctr">
            <a:no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en-US" dirty="0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chemeClr val="accent2">
                      <a:lumMod val="75000"/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02</a:t>
            </a:r>
            <a:endParaRPr lang="en-US" dirty="0">
              <a:solidFill>
                <a:srgbClr val="FFFFFF">
                  <a:alpha val="80000"/>
                </a:srgbClr>
              </a:solidFill>
              <a:effectLst>
                <a:outerShdw blurRad="50800" dist="63500" dir="2700000" algn="tl" rotWithShape="0">
                  <a:schemeClr val="accent2">
                    <a:lumMod val="75000"/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4" name="直接连接符 23"/>
          <p:cNvCxnSpPr/>
          <p:nvPr>
            <p:custDataLst>
              <p:tags r:id="rId3"/>
            </p:custDataLst>
          </p:nvPr>
        </p:nvCxnSpPr>
        <p:spPr>
          <a:xfrm>
            <a:off x="6086475" y="2366645"/>
            <a:ext cx="0" cy="3383281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50000">
                  <a:schemeClr val="accent1">
                    <a:alpha val="4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序号"/>
          <p:cNvSpPr txBox="1">
            <a:spLocks noChangeAspect="1"/>
          </p:cNvSpPr>
          <p:nvPr>
            <p:custDataLst>
              <p:tags r:id="rId4"/>
            </p:custDataLst>
          </p:nvPr>
        </p:nvSpPr>
        <p:spPr>
          <a:xfrm>
            <a:off x="6563360" y="2941955"/>
            <a:ext cx="908475" cy="908475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63000">
                <a:schemeClr val="accent1">
                  <a:lumMod val="40000"/>
                  <a:lumOff val="60000"/>
                  <a:alpha val="100000"/>
                </a:schemeClr>
              </a:gs>
              <a:gs pos="100000">
                <a:schemeClr val="accent1">
                  <a:lumMod val="20000"/>
                  <a:lumOff val="80000"/>
                  <a:alpha val="100000"/>
                </a:schemeClr>
              </a:gs>
            </a:gsLst>
            <a:lin ang="13500000" scaled="1"/>
          </a:gradFill>
          <a:effectLst>
            <a:outerShdw blurRad="101600" dist="38100" dir="2700000" algn="tl" rotWithShape="0">
              <a:schemeClr val="accent1">
                <a:alpha val="50000"/>
              </a:schemeClr>
            </a:outerShdw>
          </a:effectLst>
        </p:spPr>
        <p:txBody>
          <a:bodyPr wrap="none" lIns="0" tIns="0" rIns="0" bIns="0" rtlCol="0" anchor="ctr">
            <a:no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en-US" dirty="0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03</a:t>
            </a:r>
            <a:endParaRPr lang="en-US" dirty="0">
              <a:solidFill>
                <a:srgbClr val="FFFFFF">
                  <a:alpha val="80000"/>
                </a:srgbClr>
              </a:solidFill>
              <a:effectLst>
                <a:outerShdw blurRad="50800" dist="63500" dir="2700000" algn="tl" rotWithShape="0">
                  <a:schemeClr val="accent1">
                    <a:lumMod val="75000"/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标题"/>
          <p:cNvSpPr txBox="1"/>
          <p:nvPr>
            <p:custDataLst>
              <p:tags r:id="rId5"/>
            </p:custDataLst>
          </p:nvPr>
        </p:nvSpPr>
        <p:spPr>
          <a:xfrm>
            <a:off x="4471670" y="5008880"/>
            <a:ext cx="1422538" cy="38551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FFFFFF"/>
              </a:gs>
              <a:gs pos="100000">
                <a:schemeClr val="accent2">
                  <a:lumMod val="20000"/>
                  <a:lumOff val="80000"/>
                  <a:alpha val="10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 algn="ctr">
              <a:defRPr sz="1600" b="1" spc="3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dirty="0">
                <a:solidFill>
                  <a:schemeClr val="accent2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rPr>
              <a:t>Problem</a:t>
            </a:r>
            <a:endParaRPr lang="en-US" altLang="zh-CN" dirty="0">
              <a:solidFill>
                <a:schemeClr val="accent2"/>
              </a:solidFill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sp>
        <p:nvSpPr>
          <p:cNvPr id="21" name="标题"/>
          <p:cNvSpPr txBox="1"/>
          <p:nvPr>
            <p:custDataLst>
              <p:tags r:id="rId6"/>
            </p:custDataLst>
          </p:nvPr>
        </p:nvSpPr>
        <p:spPr>
          <a:xfrm>
            <a:off x="6306185" y="5008880"/>
            <a:ext cx="1422538" cy="38551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FFFFFF"/>
              </a:gs>
              <a:gs pos="100000">
                <a:schemeClr val="accent1">
                  <a:lumMod val="20000"/>
                  <a:lumOff val="80000"/>
                  <a:alpha val="10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 algn="ctr">
              <a:defRPr sz="1600" b="1" spc="3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dirty="0">
                <a:solidFill>
                  <a:schemeClr val="accent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rPr>
              <a:t>Solution</a:t>
            </a:r>
            <a:endParaRPr lang="en-US" altLang="zh-CN" dirty="0">
              <a:solidFill>
                <a:schemeClr val="accent1"/>
              </a:solidFill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cxnSp>
        <p:nvCxnSpPr>
          <p:cNvPr id="25" name="直接连接符 24"/>
          <p:cNvCxnSpPr/>
          <p:nvPr>
            <p:custDataLst>
              <p:tags r:id="rId7"/>
            </p:custDataLst>
          </p:nvPr>
        </p:nvCxnSpPr>
        <p:spPr>
          <a:xfrm>
            <a:off x="4244975" y="2366645"/>
            <a:ext cx="0" cy="3383281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>
                    <a:alpha val="4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8"/>
            </p:custDataLst>
          </p:nvPr>
        </p:nvCxnSpPr>
        <p:spPr>
          <a:xfrm>
            <a:off x="7927975" y="2366645"/>
            <a:ext cx="0" cy="3383281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>
                    <a:alpha val="4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序号"/>
          <p:cNvSpPr txBox="1"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591435" y="2679700"/>
            <a:ext cx="1433195" cy="1433195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63000">
                <a:schemeClr val="accent1">
                  <a:lumMod val="40000"/>
                  <a:lumOff val="60000"/>
                  <a:alpha val="100000"/>
                </a:schemeClr>
              </a:gs>
              <a:gs pos="100000">
                <a:schemeClr val="accent1">
                  <a:lumMod val="20000"/>
                  <a:lumOff val="80000"/>
                  <a:alpha val="100000"/>
                </a:schemeClr>
              </a:gs>
            </a:gsLst>
            <a:lin ang="13500000" scaled="1"/>
          </a:gradFill>
          <a:effectLst>
            <a:outerShdw blurRad="101600" dist="38100" dir="2700000" algn="tl" rotWithShape="0">
              <a:schemeClr val="accent1">
                <a:alpha val="50000"/>
              </a:schemeClr>
            </a:outerShdw>
          </a:effectLst>
        </p:spPr>
        <p:txBody>
          <a:bodyPr wrap="none" lIns="0" tIns="0" rIns="0" bIns="0" rtlCol="0" anchor="ctr">
            <a:no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en-US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01</a:t>
            </a:r>
            <a:endParaRPr lang="en-US" dirty="0">
              <a:solidFill>
                <a:srgbClr val="FFFFFF">
                  <a:alpha val="80000"/>
                </a:srgbClr>
              </a:solidFill>
              <a:effectLst>
                <a:outerShdw blurRad="50800" dist="63500" dir="2700000" algn="tl" rotWithShape="0">
                  <a:schemeClr val="accent1">
                    <a:lumMod val="75000"/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序号"/>
          <p:cNvSpPr txBox="1"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8402955" y="2941955"/>
            <a:ext cx="908475" cy="908475"/>
          </a:xfrm>
          <a:prstGeom prst="ellipse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63000">
                <a:schemeClr val="accent2">
                  <a:lumMod val="40000"/>
                  <a:lumOff val="60000"/>
                  <a:alpha val="100000"/>
                </a:schemeClr>
              </a:gs>
              <a:gs pos="100000">
                <a:schemeClr val="accent2">
                  <a:lumMod val="20000"/>
                  <a:lumOff val="80000"/>
                  <a:alpha val="100000"/>
                </a:schemeClr>
              </a:gs>
            </a:gsLst>
            <a:lin ang="13500000" scaled="1"/>
          </a:gradFill>
          <a:effectLst>
            <a:outerShdw blurRad="101600" dist="38100" dir="2700000" algn="tl" rotWithShape="0">
              <a:schemeClr val="accent2">
                <a:alpha val="50000"/>
              </a:schemeClr>
            </a:outerShdw>
          </a:effectLst>
        </p:spPr>
        <p:txBody>
          <a:bodyPr wrap="none" lIns="0" tIns="0" rIns="0" bIns="0" rtlCol="0" anchor="ctr">
            <a:no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en-US" dirty="0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chemeClr val="accent2">
                      <a:lumMod val="75000"/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04</a:t>
            </a:r>
            <a:endParaRPr lang="en-US" dirty="0">
              <a:solidFill>
                <a:srgbClr val="FFFFFF">
                  <a:alpha val="80000"/>
                </a:srgbClr>
              </a:solidFill>
              <a:effectLst>
                <a:outerShdw blurRad="50800" dist="63500" dir="2700000" algn="tl" rotWithShape="0">
                  <a:schemeClr val="accent2">
                    <a:lumMod val="75000"/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标题"/>
          <p:cNvSpPr txBox="1"/>
          <p:nvPr>
            <p:custDataLst>
              <p:tags r:id="rId11"/>
            </p:custDataLst>
          </p:nvPr>
        </p:nvSpPr>
        <p:spPr>
          <a:xfrm>
            <a:off x="2629535" y="5008880"/>
            <a:ext cx="1422538" cy="38551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FFFFFF"/>
              </a:gs>
              <a:gs pos="100000">
                <a:schemeClr val="accent1">
                  <a:lumMod val="20000"/>
                  <a:lumOff val="80000"/>
                  <a:alpha val="10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 algn="ctr">
              <a:defRPr sz="1600" b="1" spc="3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dirty="0">
                <a:solidFill>
                  <a:schemeClr val="accent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rPr>
              <a:t>Project</a:t>
            </a:r>
            <a:endParaRPr lang="en-US" altLang="zh-CN" dirty="0">
              <a:solidFill>
                <a:schemeClr val="accent1"/>
              </a:solidFill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sp>
        <p:nvSpPr>
          <p:cNvPr id="33" name="标题"/>
          <p:cNvSpPr txBox="1"/>
          <p:nvPr>
            <p:custDataLst>
              <p:tags r:id="rId12"/>
            </p:custDataLst>
          </p:nvPr>
        </p:nvSpPr>
        <p:spPr>
          <a:xfrm>
            <a:off x="8145780" y="5008880"/>
            <a:ext cx="1544320" cy="38544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FFFFFF"/>
              </a:gs>
              <a:gs pos="100000">
                <a:schemeClr val="accent2">
                  <a:lumMod val="20000"/>
                  <a:lumOff val="80000"/>
                  <a:alpha val="10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 algn="ctr">
              <a:defRPr sz="1600" b="1" spc="3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dirty="0">
                <a:solidFill>
                  <a:schemeClr val="accent2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rPr>
              <a:t>Evaluation</a:t>
            </a:r>
            <a:endParaRPr lang="en-US" altLang="zh-CN" dirty="0">
              <a:solidFill>
                <a:schemeClr val="accent2"/>
              </a:solidFill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102610" y="939800"/>
            <a:ext cx="6240780" cy="96901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zh-CN" sz="4800" b="1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Project Workflow</a:t>
            </a:r>
            <a:endParaRPr lang="en-US" altLang="zh-CN" sz="4800" b="1">
              <a:ln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590800" y="5760720"/>
            <a:ext cx="2492375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PHRASE1</a:t>
            </a:r>
            <a:r>
              <a:rPr lang="zh-CN" altLang="en-US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</a:t>
            </a:r>
            <a:r>
              <a:rPr lang="en-US" altLang="zh-CN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PROJECT</a:t>
            </a:r>
            <a:endParaRPr lang="en-US" altLang="zh-CN">
              <a:ln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-2"/>
          <p:cNvSpPr>
            <a:spLocks noGrp="1"/>
          </p:cNvSpPr>
          <p:nvPr/>
        </p:nvSpPr>
        <p:spPr>
          <a:xfrm>
            <a:off x="533400" y="27622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8E603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PROJECT</a:t>
            </a:r>
            <a:endParaRPr sz="975" b="1">
              <a:solidFill>
                <a:srgbClr val="8E603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" name="title-2"/>
          <p:cNvSpPr>
            <a:spLocks noGrp="1"/>
          </p:cNvSpPr>
          <p:nvPr/>
        </p:nvSpPr>
        <p:spPr>
          <a:xfrm>
            <a:off x="533400" y="552450"/>
            <a:ext cx="11096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这不是心理咨询师，而是情绪梳理伙伴</a:t>
            </a:r>
            <a:endParaRPr sz="34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cxnSp>
        <p:nvCxnSpPr>
          <p:cNvPr id="19" name="header-rule-2"/>
          <p:cNvCxnSpPr/>
          <p:nvPr/>
        </p:nvCxnSpPr>
        <p:spPr>
          <a:xfrm>
            <a:off x="533400" y="1238250"/>
            <a:ext cx="11125200" cy="0"/>
          </a:xfrm>
          <a:prstGeom prst="straightConnector1">
            <a:avLst/>
          </a:prstGeom>
          <a:ln w="9525">
            <a:solidFill>
              <a:srgbClr val="CBC7BE"/>
            </a:solidFill>
            <a:prstDash val="solid"/>
          </a:ln>
        </p:spPr>
      </p:cxnSp>
      <p:sp>
        <p:nvSpPr>
          <p:cNvPr id="4" name="source-2"/>
          <p:cNvSpPr>
            <a:spLocks noGrp="1"/>
          </p:cNvSpPr>
          <p:nvPr/>
        </p:nvSpPr>
        <p:spPr>
          <a:xfrm>
            <a:off x="533400" y="64960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来源：项目仓库 README、T4 PRD 与边界</a:t>
            </a:r>
            <a:endParaRPr sz="825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2"/>
          <p:cNvSpPr>
            <a:spLocks noGrp="1"/>
          </p:cNvSpPr>
          <p:nvPr/>
        </p:nvSpPr>
        <p:spPr>
          <a:xfrm>
            <a:off x="11106150" y="64198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sz="1050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claim"/>
          <p:cNvSpPr>
            <a:spLocks noGrp="1"/>
          </p:cNvSpPr>
          <p:nvPr/>
        </p:nvSpPr>
        <p:spPr>
          <a:xfrm>
            <a:off x="590550" y="1619250"/>
            <a:ext cx="44767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7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750" b="1">
                <a:solidFill>
                  <a:srgbClr val="24232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AI 补位，</a:t>
            </a:r>
            <a:endParaRPr sz="3750" b="1">
              <a:solidFill>
                <a:srgbClr val="24232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defRPr sz="37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750" b="1">
                <a:solidFill>
                  <a:srgbClr val="24232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不是 AI 取代</a:t>
            </a:r>
            <a:endParaRPr sz="3750" b="1">
              <a:solidFill>
                <a:srgbClr val="24232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cxnSp>
        <p:nvCxnSpPr>
          <p:cNvPr id="23" name="claim-accent"/>
          <p:cNvCxnSpPr/>
          <p:nvPr/>
        </p:nvCxnSpPr>
        <p:spPr>
          <a:xfrm>
            <a:off x="590550" y="3105150"/>
            <a:ext cx="2381250" cy="0"/>
          </a:xfrm>
          <a:prstGeom prst="straightConnector1">
            <a:avLst/>
          </a:prstGeom>
          <a:ln w="47625">
            <a:solidFill>
              <a:srgbClr val="D7A06D"/>
            </a:solidFill>
            <a:prstDash val="solid"/>
          </a:ln>
        </p:spPr>
      </p:cxnSp>
      <p:sp>
        <p:nvSpPr>
          <p:cNvPr id="8" name="who-label"/>
          <p:cNvSpPr>
            <a:spLocks noGrp="1"/>
          </p:cNvSpPr>
          <p:nvPr/>
        </p:nvSpPr>
        <p:spPr>
          <a:xfrm>
            <a:off x="590550" y="3476625"/>
            <a:ext cx="819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600" b="1">
                <a:solidFill>
                  <a:srgbClr val="8E603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WHO</a:t>
            </a:r>
            <a:endParaRPr lang="en-US" sz="1600" b="1">
              <a:solidFill>
                <a:srgbClr val="8E603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9" name="who"/>
          <p:cNvSpPr>
            <a:spLocks noGrp="1"/>
          </p:cNvSpPr>
          <p:nvPr/>
        </p:nvSpPr>
        <p:spPr>
          <a:xfrm>
            <a:off x="1504950" y="3476625"/>
            <a:ext cx="3695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跨文化学习环境中的留学生</a:t>
            </a:r>
            <a:endParaRPr sz="16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0" name="when-label"/>
          <p:cNvSpPr>
            <a:spLocks noGrp="1"/>
          </p:cNvSpPr>
          <p:nvPr/>
        </p:nvSpPr>
        <p:spPr>
          <a:xfrm>
            <a:off x="590550" y="4029075"/>
            <a:ext cx="819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600" b="1">
                <a:solidFill>
                  <a:srgbClr val="8E603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WHEN</a:t>
            </a:r>
            <a:endParaRPr lang="en-US" sz="1600" b="1">
              <a:solidFill>
                <a:srgbClr val="8E603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1" name="when"/>
          <p:cNvSpPr>
            <a:spLocks noGrp="1"/>
          </p:cNvSpPr>
          <p:nvPr/>
        </p:nvSpPr>
        <p:spPr>
          <a:xfrm>
            <a:off x="1504950" y="4029075"/>
            <a:ext cx="3905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社交受挫后，独处、反刍、自我怀疑时</a:t>
            </a:r>
            <a:endParaRPr sz="16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2" name="do-label"/>
          <p:cNvSpPr>
            <a:spLocks noGrp="1"/>
          </p:cNvSpPr>
          <p:nvPr/>
        </p:nvSpPr>
        <p:spPr>
          <a:xfrm>
            <a:off x="590550" y="4578985"/>
            <a:ext cx="819150" cy="459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600" b="1">
                <a:solidFill>
                  <a:srgbClr val="8E603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WHAT</a:t>
            </a:r>
            <a:endParaRPr lang="en-US" sz="1600" b="1">
              <a:solidFill>
                <a:srgbClr val="8E603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3" name="do"/>
          <p:cNvSpPr>
            <a:spLocks noGrp="1"/>
          </p:cNvSpPr>
          <p:nvPr/>
        </p:nvSpPr>
        <p:spPr>
          <a:xfrm>
            <a:off x="1504950" y="4573905"/>
            <a:ext cx="3905250" cy="7600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接住情绪 → 澄清事件 → 带走一个小行动</a:t>
            </a:r>
            <a:endParaRPr sz="16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boundary-band"/>
          <p:cNvSpPr>
            <a:spLocks noGrp="1"/>
          </p:cNvSpPr>
          <p:nvPr/>
        </p:nvSpPr>
        <p:spPr>
          <a:xfrm>
            <a:off x="590550" y="5619750"/>
            <a:ext cx="4810125" cy="552450"/>
          </a:xfrm>
          <a:prstGeom prst="roundRect">
            <a:avLst>
              <a:gd name="adj" fmla="val 13793"/>
            </a:avLst>
          </a:prstGeom>
          <a:solidFill>
            <a:srgbClr val="F6DFDD"/>
          </a:solidFill>
          <a:ln w="0">
            <a:noFill/>
            <a:prstDash val="solid"/>
          </a:ln>
        </p:spPr>
      </p:sp>
      <p:sp>
        <p:nvSpPr>
          <p:cNvPr id="15" name="boundary-text"/>
          <p:cNvSpPr>
            <a:spLocks noGrp="1"/>
          </p:cNvSpPr>
          <p:nvPr/>
        </p:nvSpPr>
        <p:spPr>
          <a:xfrm>
            <a:off x="781050" y="5781675"/>
            <a:ext cx="441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B4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425" b="1">
                <a:solidFill>
                  <a:srgbClr val="B4474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红线：</a:t>
            </a:r>
            <a:r>
              <a:rPr sz="1425" b="1">
                <a:solidFill>
                  <a:srgbClr val="B4474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不诊断 · 不治疗 · 不替代真人支持</a:t>
            </a:r>
            <a:endParaRPr sz="1425" b="1">
              <a:solidFill>
                <a:srgbClr val="B4474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8160" y="1689735"/>
            <a:ext cx="6454775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-3"/>
          <p:cNvSpPr>
            <a:spLocks noGrp="1"/>
          </p:cNvSpPr>
          <p:nvPr/>
        </p:nvSpPr>
        <p:spPr>
          <a:xfrm>
            <a:off x="533400" y="27622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8E603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PROJECT</a:t>
            </a:r>
            <a:endParaRPr sz="975" b="1">
              <a:solidFill>
                <a:srgbClr val="8E603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" name="title-3"/>
          <p:cNvSpPr>
            <a:spLocks noGrp="1"/>
          </p:cNvSpPr>
          <p:nvPr/>
        </p:nvSpPr>
        <p:spPr>
          <a:xfrm>
            <a:off x="533400" y="552450"/>
            <a:ext cx="11096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项目从一个真实困境走到公网产品</a:t>
            </a:r>
            <a:endParaRPr sz="34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cxnSp>
        <p:nvCxnSpPr>
          <p:cNvPr id="36" name="header-rule-3"/>
          <p:cNvCxnSpPr/>
          <p:nvPr/>
        </p:nvCxnSpPr>
        <p:spPr>
          <a:xfrm>
            <a:off x="533400" y="1238250"/>
            <a:ext cx="11125200" cy="0"/>
          </a:xfrm>
          <a:prstGeom prst="straightConnector1">
            <a:avLst/>
          </a:prstGeom>
          <a:ln w="9525">
            <a:solidFill>
              <a:srgbClr val="CBC7BE"/>
            </a:solidFill>
            <a:prstDash val="solid"/>
          </a:ln>
        </p:spPr>
      </p:cxnSp>
      <p:sp>
        <p:nvSpPr>
          <p:cNvPr id="4" name="source-3"/>
          <p:cNvSpPr>
            <a:spLocks noGrp="1"/>
          </p:cNvSpPr>
          <p:nvPr/>
        </p:nvSpPr>
        <p:spPr>
          <a:xfrm>
            <a:off x="533400" y="64960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来源：DEFINE Guide、Dev_depoly Guide、项目结项技术文档</a:t>
            </a:r>
            <a:endParaRPr sz="825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3"/>
          <p:cNvSpPr>
            <a:spLocks noGrp="1"/>
          </p:cNvSpPr>
          <p:nvPr/>
        </p:nvSpPr>
        <p:spPr>
          <a:xfrm>
            <a:off x="11106150" y="64198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sz="1050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9" name="timeline"/>
          <p:cNvCxnSpPr/>
          <p:nvPr>
            <p:custDataLst>
              <p:tags r:id="rId1"/>
            </p:custDataLst>
          </p:nvPr>
        </p:nvCxnSpPr>
        <p:spPr>
          <a:xfrm>
            <a:off x="952500" y="3143250"/>
            <a:ext cx="9715500" cy="0"/>
          </a:xfrm>
          <a:prstGeom prst="straightConnector1">
            <a:avLst/>
          </a:prstGeom>
          <a:ln w="28575">
            <a:solidFill>
              <a:srgbClr val="CBC7BE"/>
            </a:solidFill>
            <a:prstDash val="solid"/>
          </a:ln>
        </p:spPr>
      </p:cxnSp>
      <p:sp>
        <p:nvSpPr>
          <p:cNvPr id="7" name="step-dot-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123950" y="2981325"/>
            <a:ext cx="323850" cy="323850"/>
          </a:xfrm>
          <a:prstGeom prst="ellipse">
            <a:avLst/>
          </a:prstGeom>
          <a:solidFill>
            <a:srgbClr val="D7A06D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tep-dot-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628900" y="2981325"/>
            <a:ext cx="323850" cy="323850"/>
          </a:xfrm>
          <a:prstGeom prst="ellipse">
            <a:avLst/>
          </a:prstGeom>
          <a:solidFill>
            <a:srgbClr val="D7A06D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tep-dot-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133850" y="2981325"/>
            <a:ext cx="323850" cy="323850"/>
          </a:xfrm>
          <a:prstGeom prst="ellipse">
            <a:avLst/>
          </a:prstGeom>
          <a:solidFill>
            <a:srgbClr val="D7A06D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tep-dot-3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638800" y="2981325"/>
            <a:ext cx="323850" cy="323850"/>
          </a:xfrm>
          <a:prstGeom prst="ellipse">
            <a:avLst/>
          </a:prstGeom>
          <a:solidFill>
            <a:srgbClr val="6E8B80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tep-dot-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7143750" y="2981325"/>
            <a:ext cx="323850" cy="323850"/>
          </a:xfrm>
          <a:prstGeom prst="ellipse">
            <a:avLst/>
          </a:prstGeom>
          <a:solidFill>
            <a:srgbClr val="6E8B80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tep-dot-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648700" y="2981325"/>
            <a:ext cx="323850" cy="323850"/>
          </a:xfrm>
          <a:prstGeom prst="ellipse">
            <a:avLst/>
          </a:prstGeom>
          <a:solidFill>
            <a:srgbClr val="6E8B80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tep-dot-6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0153650" y="2981325"/>
            <a:ext cx="323850" cy="323850"/>
          </a:xfrm>
          <a:prstGeom prst="ellipse">
            <a:avLst/>
          </a:prstGeom>
          <a:solidFill>
            <a:srgbClr val="242320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tep-title-0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85800" y="2266950"/>
            <a:ext cx="120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真实困境</a:t>
            </a:r>
            <a:endParaRPr sz="150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5" name="step-sub-0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85800" y="3543300"/>
            <a:ext cx="1200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77736D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本人经历</a:t>
            </a:r>
            <a:endParaRPr sz="1275" b="0">
              <a:solidFill>
                <a:srgbClr val="77736D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6" name="step-title-1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2190750" y="2266950"/>
            <a:ext cx="120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用户画像</a:t>
            </a:r>
            <a:endParaRPr sz="150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7" name="step-sub-1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2190750" y="3543300"/>
            <a:ext cx="1200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77736D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小远</a:t>
            </a:r>
            <a:endParaRPr sz="1275" b="0">
              <a:solidFill>
                <a:srgbClr val="77736D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8" name="step-title-2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3695700" y="2266950"/>
            <a:ext cx="120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PRD + 边界</a:t>
            </a:r>
            <a:endParaRPr sz="150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step-sub-2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3695700" y="3543300"/>
            <a:ext cx="1200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77736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能做 / 不做</a:t>
            </a:r>
            <a:endParaRPr sz="1275" b="0">
              <a:solidFill>
                <a:srgbClr val="77736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step-title-3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5200650" y="2266950"/>
            <a:ext cx="120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对话 Agent</a:t>
            </a:r>
            <a:endParaRPr sz="150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step-sub-3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5200650" y="3543300"/>
            <a:ext cx="1200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77736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 个 </a:t>
            </a:r>
            <a:r>
              <a:rPr sz="1275" b="0">
                <a:solidFill>
                  <a:srgbClr val="77736D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skills</a:t>
            </a:r>
            <a:endParaRPr sz="1275" b="0">
              <a:solidFill>
                <a:srgbClr val="77736D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2" name="step-title-4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6705600" y="2266950"/>
            <a:ext cx="120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Web 产品</a:t>
            </a:r>
            <a:endParaRPr sz="150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step-sub-4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6705600" y="3543300"/>
            <a:ext cx="1200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77736D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FastAPI</a:t>
            </a:r>
            <a:endParaRPr sz="1275" b="0">
              <a:solidFill>
                <a:srgbClr val="77736D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4" name="step-title-5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8210550" y="2266950"/>
            <a:ext cx="120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公网部署</a:t>
            </a:r>
            <a:endParaRPr sz="150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5" name="step-sub-5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8210550" y="3543300"/>
            <a:ext cx="1200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77736D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Pages + Render</a:t>
            </a:r>
            <a:endParaRPr sz="1275" b="0">
              <a:solidFill>
                <a:srgbClr val="77736D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6" name="step-title-6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9715500" y="2266950"/>
            <a:ext cx="120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测试迭代</a:t>
            </a:r>
            <a:endParaRPr sz="150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7" name="step-sub-6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9715500" y="3543300"/>
            <a:ext cx="1200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77736D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证据闭环</a:t>
            </a:r>
            <a:endParaRPr sz="1275" b="0">
              <a:solidFill>
                <a:srgbClr val="77736D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8" name="define-band"/>
          <p:cNvSpPr>
            <a:spLocks noGrp="1"/>
          </p:cNvSpPr>
          <p:nvPr/>
        </p:nvSpPr>
        <p:spPr>
          <a:xfrm>
            <a:off x="685800" y="4552950"/>
            <a:ext cx="4286250" cy="1066800"/>
          </a:xfrm>
          <a:prstGeom prst="roundRect">
            <a:avLst>
              <a:gd name="adj" fmla="val 7143"/>
            </a:avLst>
          </a:prstGeom>
          <a:solidFill>
            <a:srgbClr val="F5F2EC"/>
          </a:solidFill>
          <a:ln w="0">
            <a:noFill/>
            <a:prstDash val="solid"/>
          </a:ln>
        </p:spPr>
      </p:sp>
      <p:sp>
        <p:nvSpPr>
          <p:cNvPr id="29" name="define-label"/>
          <p:cNvSpPr>
            <a:spLocks noGrp="1"/>
          </p:cNvSpPr>
          <p:nvPr/>
        </p:nvSpPr>
        <p:spPr>
          <a:xfrm>
            <a:off x="914400" y="477202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8E6035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DEFINE + EVAL</a:t>
            </a:r>
            <a:endParaRPr sz="1350" b="1">
              <a:solidFill>
                <a:srgbClr val="8E6035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0" name="define-copy"/>
          <p:cNvSpPr>
            <a:spLocks noGrp="1"/>
          </p:cNvSpPr>
          <p:nvPr/>
        </p:nvSpPr>
        <p:spPr>
          <a:xfrm>
            <a:off x="914400" y="5095875"/>
            <a:ext cx="3829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先想清楚“为谁、为何、边界”，再证明“是否有用、是否安全”。</a:t>
            </a:r>
            <a:endParaRPr sz="135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build-band"/>
          <p:cNvSpPr>
            <a:spLocks noGrp="1"/>
          </p:cNvSpPr>
          <p:nvPr/>
        </p:nvSpPr>
        <p:spPr>
          <a:xfrm>
            <a:off x="5257800" y="4552950"/>
            <a:ext cx="5676900" cy="1066800"/>
          </a:xfrm>
          <a:prstGeom prst="roundRect">
            <a:avLst>
              <a:gd name="adj" fmla="val 7143"/>
            </a:avLst>
          </a:prstGeom>
          <a:solidFill>
            <a:srgbClr val="F5F2EC"/>
          </a:solidFill>
          <a:ln w="0">
            <a:noFill/>
            <a:prstDash val="solid"/>
          </a:ln>
        </p:spPr>
      </p:sp>
      <p:sp>
        <p:nvSpPr>
          <p:cNvPr id="32" name="build-label"/>
          <p:cNvSpPr>
            <a:spLocks noGrp="1"/>
          </p:cNvSpPr>
          <p:nvPr/>
        </p:nvSpPr>
        <p:spPr>
          <a:xfrm>
            <a:off x="5486400" y="477202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6E8B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6E8B8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BUILD + SHIP</a:t>
            </a:r>
            <a:endParaRPr sz="1350" b="1">
              <a:solidFill>
                <a:srgbClr val="6E8B8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3" name="build-copy"/>
          <p:cNvSpPr>
            <a:spLocks noGrp="1"/>
          </p:cNvSpPr>
          <p:nvPr/>
        </p:nvSpPr>
        <p:spPr>
          <a:xfrm>
            <a:off x="5486400" y="5095875"/>
            <a:ext cx="5219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把设计变成可访问、可对话、密钥安全、失败可降级的公网应用。</a:t>
            </a:r>
            <a:endParaRPr sz="135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page-2"/>
          <p:cNvSpPr>
            <a:spLocks noGrp="1"/>
          </p:cNvSpPr>
          <p:nvPr/>
        </p:nvSpPr>
        <p:spPr>
          <a:xfrm>
            <a:off x="11106150" y="64198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lang="en-US" sz="1050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7"/>
          <p:cNvSpPr/>
          <p:nvPr>
            <p:custDataLst>
              <p:tags r:id="rId1"/>
            </p:custDataLst>
          </p:nvPr>
        </p:nvSpPr>
        <p:spPr>
          <a:xfrm>
            <a:off x="611505" y="1909445"/>
            <a:ext cx="10968990" cy="3213100"/>
          </a:xfrm>
          <a:custGeom>
            <a:avLst/>
            <a:gdLst>
              <a:gd name="connsiteX0" fmla="*/ 0 w 10969200"/>
              <a:gd name="connsiteY0" fmla="*/ 0 h 3529797"/>
              <a:gd name="connsiteX1" fmla="*/ 9748804 w 10969200"/>
              <a:gd name="connsiteY1" fmla="*/ 963548 h 3529797"/>
              <a:gd name="connsiteX2" fmla="*/ 10135800 w 10969200"/>
              <a:gd name="connsiteY2" fmla="*/ 955331 h 3529797"/>
              <a:gd name="connsiteX3" fmla="*/ 10135800 w 10969200"/>
              <a:gd name="connsiteY3" fmla="*/ 447619 h 3529797"/>
              <a:gd name="connsiteX4" fmla="*/ 10969200 w 10969200"/>
              <a:gd name="connsiteY4" fmla="*/ 1583634 h 3529797"/>
              <a:gd name="connsiteX5" fmla="*/ 10135800 w 10969200"/>
              <a:gd name="connsiteY5" fmla="*/ 2719649 h 3529797"/>
              <a:gd name="connsiteX6" fmla="*/ 10135800 w 10969200"/>
              <a:gd name="connsiteY6" fmla="*/ 2231548 h 3529797"/>
              <a:gd name="connsiteX7" fmla="*/ 8978224 w 10969200"/>
              <a:gd name="connsiteY7" fmla="*/ 2247545 h 3529797"/>
              <a:gd name="connsiteX8" fmla="*/ 0 w 10969200"/>
              <a:gd name="connsiteY8" fmla="*/ 3529797 h 3529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969200" h="3529797">
                <a:moveTo>
                  <a:pt x="0" y="0"/>
                </a:moveTo>
                <a:cubicBezTo>
                  <a:pt x="3063277" y="778525"/>
                  <a:pt x="6747271" y="1008367"/>
                  <a:pt x="9748804" y="963548"/>
                </a:cubicBezTo>
                <a:lnTo>
                  <a:pt x="10135800" y="955331"/>
                </a:lnTo>
                <a:lnTo>
                  <a:pt x="10135800" y="447619"/>
                </a:lnTo>
                <a:lnTo>
                  <a:pt x="10969200" y="1583634"/>
                </a:lnTo>
                <a:lnTo>
                  <a:pt x="10135800" y="2719649"/>
                </a:lnTo>
                <a:lnTo>
                  <a:pt x="10135800" y="2231548"/>
                </a:lnTo>
                <a:lnTo>
                  <a:pt x="8978224" y="2247545"/>
                </a:lnTo>
                <a:cubicBezTo>
                  <a:pt x="5793188" y="2320957"/>
                  <a:pt x="2580542" y="2619391"/>
                  <a:pt x="0" y="3529797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40000"/>
                </a:schemeClr>
              </a:gs>
              <a:gs pos="47000">
                <a:schemeClr val="accent1">
                  <a:alpha val="20000"/>
                </a:schemeClr>
              </a:gs>
              <a:gs pos="0">
                <a:schemeClr val="accent1">
                  <a:alpha val="0"/>
                </a:schemeClr>
              </a:gs>
            </a:gsLst>
            <a:lin ang="0" scaled="1"/>
            <a:tileRect/>
          </a:gradFill>
          <a:ln w="15875">
            <a:gradFill flip="none" rotWithShape="1">
              <a:gsLst>
                <a:gs pos="68000">
                  <a:schemeClr val="accent1">
                    <a:alpha val="100000"/>
                  </a:schemeClr>
                </a:gs>
                <a:gs pos="33000">
                  <a:schemeClr val="accent1">
                    <a:alpha val="40000"/>
                  </a:schemeClr>
                </a:gs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 panose="020B0500000000000000" charset="-122"/>
              <a:cs typeface="+mn-cs"/>
            </a:endParaRPr>
          </a:p>
        </p:txBody>
      </p:sp>
      <p:sp>
        <p:nvSpPr>
          <p:cNvPr id="16" name="序号"/>
          <p:cNvSpPr txBox="1">
            <a:spLocks noChangeAspect="1"/>
          </p:cNvSpPr>
          <p:nvPr>
            <p:custDataLst>
              <p:tags r:id="rId2"/>
            </p:custDataLst>
          </p:nvPr>
        </p:nvSpPr>
        <p:spPr>
          <a:xfrm>
            <a:off x="4428000" y="2678400"/>
            <a:ext cx="1432800" cy="1432800"/>
          </a:xfrm>
          <a:prstGeom prst="ellipse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63000">
                <a:schemeClr val="accent2">
                  <a:lumMod val="40000"/>
                  <a:lumOff val="60000"/>
                  <a:alpha val="100000"/>
                </a:schemeClr>
              </a:gs>
              <a:gs pos="100000">
                <a:schemeClr val="accent2">
                  <a:lumMod val="20000"/>
                  <a:lumOff val="80000"/>
                  <a:alpha val="100000"/>
                </a:schemeClr>
              </a:gs>
            </a:gsLst>
            <a:lin ang="13500000" scaled="1"/>
          </a:gradFill>
          <a:effectLst>
            <a:outerShdw blurRad="101600" dist="38100" dir="2700000" algn="tl" rotWithShape="0">
              <a:schemeClr val="accent2">
                <a:alpha val="50000"/>
              </a:schemeClr>
            </a:outerShdw>
          </a:effectLst>
        </p:spPr>
        <p:txBody>
          <a:bodyPr wrap="none" lIns="0" tIns="0" rIns="0" bIns="0" rtlCol="0" anchor="ctr">
            <a:no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en-US" dirty="0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chemeClr val="accent2">
                      <a:lumMod val="75000"/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02</a:t>
            </a:r>
            <a:endParaRPr lang="en-US" dirty="0">
              <a:solidFill>
                <a:srgbClr val="FFFFFF">
                  <a:alpha val="80000"/>
                </a:srgbClr>
              </a:solidFill>
              <a:effectLst>
                <a:outerShdw blurRad="50800" dist="63500" dir="2700000" algn="tl" rotWithShape="0">
                  <a:schemeClr val="accent2">
                    <a:lumMod val="75000"/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4" name="直接连接符 23"/>
          <p:cNvCxnSpPr/>
          <p:nvPr>
            <p:custDataLst>
              <p:tags r:id="rId3"/>
            </p:custDataLst>
          </p:nvPr>
        </p:nvCxnSpPr>
        <p:spPr>
          <a:xfrm>
            <a:off x="6086475" y="2366645"/>
            <a:ext cx="0" cy="3383281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50000">
                  <a:schemeClr val="accent1">
                    <a:alpha val="4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序号"/>
          <p:cNvSpPr txBox="1">
            <a:spLocks noChangeAspect="1"/>
          </p:cNvSpPr>
          <p:nvPr>
            <p:custDataLst>
              <p:tags r:id="rId4"/>
            </p:custDataLst>
          </p:nvPr>
        </p:nvSpPr>
        <p:spPr>
          <a:xfrm>
            <a:off x="6563360" y="2941955"/>
            <a:ext cx="908475" cy="908475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63000">
                <a:schemeClr val="accent1">
                  <a:lumMod val="40000"/>
                  <a:lumOff val="60000"/>
                  <a:alpha val="100000"/>
                </a:schemeClr>
              </a:gs>
              <a:gs pos="100000">
                <a:schemeClr val="accent1">
                  <a:lumMod val="20000"/>
                  <a:lumOff val="80000"/>
                  <a:alpha val="100000"/>
                </a:schemeClr>
              </a:gs>
            </a:gsLst>
            <a:lin ang="13500000" scaled="1"/>
          </a:gradFill>
          <a:effectLst>
            <a:outerShdw blurRad="101600" dist="38100" dir="2700000" algn="tl" rotWithShape="0">
              <a:schemeClr val="accent1">
                <a:alpha val="50000"/>
              </a:schemeClr>
            </a:outerShdw>
          </a:effectLst>
        </p:spPr>
        <p:txBody>
          <a:bodyPr wrap="none" lIns="0" tIns="0" rIns="0" bIns="0" rtlCol="0" anchor="ctr">
            <a:no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en-US" dirty="0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03</a:t>
            </a:r>
            <a:endParaRPr lang="en-US" dirty="0">
              <a:solidFill>
                <a:srgbClr val="FFFFFF">
                  <a:alpha val="80000"/>
                </a:srgbClr>
              </a:solidFill>
              <a:effectLst>
                <a:outerShdw blurRad="50800" dist="63500" dir="2700000" algn="tl" rotWithShape="0">
                  <a:schemeClr val="accent1">
                    <a:lumMod val="75000"/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标题"/>
          <p:cNvSpPr txBox="1"/>
          <p:nvPr>
            <p:custDataLst>
              <p:tags r:id="rId5"/>
            </p:custDataLst>
          </p:nvPr>
        </p:nvSpPr>
        <p:spPr>
          <a:xfrm>
            <a:off x="4471670" y="5008880"/>
            <a:ext cx="1422538" cy="38551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FFFFFF"/>
              </a:gs>
              <a:gs pos="100000">
                <a:schemeClr val="accent2">
                  <a:lumMod val="20000"/>
                  <a:lumOff val="80000"/>
                  <a:alpha val="10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 algn="ctr">
              <a:defRPr sz="1600" b="1" spc="3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dirty="0">
                <a:solidFill>
                  <a:schemeClr val="accent2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rPr>
              <a:t>Problem</a:t>
            </a:r>
            <a:endParaRPr lang="en-US" altLang="zh-CN" dirty="0">
              <a:solidFill>
                <a:schemeClr val="accent2"/>
              </a:solidFill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sp>
        <p:nvSpPr>
          <p:cNvPr id="21" name="标题"/>
          <p:cNvSpPr txBox="1"/>
          <p:nvPr>
            <p:custDataLst>
              <p:tags r:id="rId6"/>
            </p:custDataLst>
          </p:nvPr>
        </p:nvSpPr>
        <p:spPr>
          <a:xfrm>
            <a:off x="6306185" y="5008880"/>
            <a:ext cx="1422538" cy="38551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FFFFFF"/>
              </a:gs>
              <a:gs pos="100000">
                <a:schemeClr val="accent1">
                  <a:lumMod val="20000"/>
                  <a:lumOff val="80000"/>
                  <a:alpha val="10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 algn="ctr">
              <a:defRPr sz="1600" b="1" spc="3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dirty="0">
                <a:solidFill>
                  <a:schemeClr val="accent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rPr>
              <a:t>Solution</a:t>
            </a:r>
            <a:endParaRPr lang="en-US" altLang="zh-CN" dirty="0">
              <a:solidFill>
                <a:schemeClr val="accent1"/>
              </a:solidFill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cxnSp>
        <p:nvCxnSpPr>
          <p:cNvPr id="25" name="直接连接符 24"/>
          <p:cNvCxnSpPr/>
          <p:nvPr>
            <p:custDataLst>
              <p:tags r:id="rId7"/>
            </p:custDataLst>
          </p:nvPr>
        </p:nvCxnSpPr>
        <p:spPr>
          <a:xfrm>
            <a:off x="4244975" y="2366645"/>
            <a:ext cx="0" cy="3383281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>
                    <a:alpha val="4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8"/>
            </p:custDataLst>
          </p:nvPr>
        </p:nvCxnSpPr>
        <p:spPr>
          <a:xfrm>
            <a:off x="7927975" y="2366645"/>
            <a:ext cx="0" cy="3383281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>
                    <a:alpha val="4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序号"/>
          <p:cNvSpPr txBox="1"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818130" y="2941955"/>
            <a:ext cx="907200" cy="9072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63000">
                <a:schemeClr val="accent1">
                  <a:lumMod val="40000"/>
                  <a:lumOff val="60000"/>
                  <a:alpha val="100000"/>
                </a:schemeClr>
              </a:gs>
              <a:gs pos="100000">
                <a:schemeClr val="accent1">
                  <a:lumMod val="20000"/>
                  <a:lumOff val="80000"/>
                  <a:alpha val="100000"/>
                </a:schemeClr>
              </a:gs>
            </a:gsLst>
            <a:lin ang="13500000" scaled="1"/>
          </a:gradFill>
          <a:effectLst>
            <a:outerShdw blurRad="101600" dist="38100" dir="2700000" algn="tl" rotWithShape="0">
              <a:schemeClr val="accent1">
                <a:alpha val="50000"/>
              </a:schemeClr>
            </a:outerShdw>
          </a:effectLst>
        </p:spPr>
        <p:txBody>
          <a:bodyPr wrap="none" lIns="0" tIns="0" rIns="0" bIns="0" rtlCol="0" anchor="ctr">
            <a:no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en-US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01</a:t>
            </a:r>
            <a:endParaRPr lang="en-US" dirty="0">
              <a:solidFill>
                <a:srgbClr val="FFFFFF">
                  <a:alpha val="80000"/>
                </a:srgbClr>
              </a:solidFill>
              <a:effectLst>
                <a:outerShdw blurRad="50800" dist="63500" dir="2700000" algn="tl" rotWithShape="0">
                  <a:schemeClr val="accent1">
                    <a:lumMod val="75000"/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序号"/>
          <p:cNvSpPr txBox="1"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8402955" y="2941955"/>
            <a:ext cx="908475" cy="908475"/>
          </a:xfrm>
          <a:prstGeom prst="ellipse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63000">
                <a:schemeClr val="accent2">
                  <a:lumMod val="40000"/>
                  <a:lumOff val="60000"/>
                  <a:alpha val="100000"/>
                </a:schemeClr>
              </a:gs>
              <a:gs pos="100000">
                <a:schemeClr val="accent2">
                  <a:lumMod val="20000"/>
                  <a:lumOff val="80000"/>
                  <a:alpha val="100000"/>
                </a:schemeClr>
              </a:gs>
            </a:gsLst>
            <a:lin ang="13500000" scaled="1"/>
          </a:gradFill>
          <a:effectLst>
            <a:outerShdw blurRad="101600" dist="38100" dir="2700000" algn="tl" rotWithShape="0">
              <a:schemeClr val="accent2">
                <a:alpha val="50000"/>
              </a:schemeClr>
            </a:outerShdw>
          </a:effectLst>
        </p:spPr>
        <p:txBody>
          <a:bodyPr wrap="none" lIns="0" tIns="0" rIns="0" bIns="0" rtlCol="0" anchor="ctr">
            <a:no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en-US" dirty="0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chemeClr val="accent2">
                      <a:lumMod val="75000"/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04</a:t>
            </a:r>
            <a:endParaRPr lang="en-US" dirty="0">
              <a:solidFill>
                <a:srgbClr val="FFFFFF">
                  <a:alpha val="80000"/>
                </a:srgbClr>
              </a:solidFill>
              <a:effectLst>
                <a:outerShdw blurRad="50800" dist="63500" dir="2700000" algn="tl" rotWithShape="0">
                  <a:schemeClr val="accent2">
                    <a:lumMod val="75000"/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文本框 28"/>
          <p:cNvSpPr txBox="1"/>
          <p:nvPr>
            <p:custDataLst>
              <p:tags r:id="rId11"/>
            </p:custDataLst>
          </p:nvPr>
        </p:nvSpPr>
        <p:spPr>
          <a:xfrm>
            <a:off x="2623820" y="5508625"/>
            <a:ext cx="1434465" cy="9296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单击此处添加文本，简明扼要地阐述观点。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30" name="标题"/>
          <p:cNvSpPr txBox="1"/>
          <p:nvPr>
            <p:custDataLst>
              <p:tags r:id="rId12"/>
            </p:custDataLst>
          </p:nvPr>
        </p:nvSpPr>
        <p:spPr>
          <a:xfrm>
            <a:off x="2629535" y="5008880"/>
            <a:ext cx="1422538" cy="38551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FFFFFF"/>
              </a:gs>
              <a:gs pos="100000">
                <a:schemeClr val="accent1">
                  <a:lumMod val="20000"/>
                  <a:lumOff val="80000"/>
                  <a:alpha val="10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 algn="ctr">
              <a:defRPr sz="1600" b="1" spc="3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dirty="0">
                <a:solidFill>
                  <a:schemeClr val="accent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rPr>
              <a:t>Project</a:t>
            </a:r>
            <a:endParaRPr lang="en-US" altLang="zh-CN" dirty="0">
              <a:solidFill>
                <a:schemeClr val="accent1"/>
              </a:solidFill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sp>
        <p:nvSpPr>
          <p:cNvPr id="31" name="文本框 30"/>
          <p:cNvSpPr txBox="1"/>
          <p:nvPr>
            <p:custDataLst>
              <p:tags r:id="rId13"/>
            </p:custDataLst>
          </p:nvPr>
        </p:nvSpPr>
        <p:spPr>
          <a:xfrm>
            <a:off x="8140065" y="5508625"/>
            <a:ext cx="1434465" cy="9296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单击此处添加文本，简明扼要地阐述观点。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33" name="标题"/>
          <p:cNvSpPr txBox="1"/>
          <p:nvPr>
            <p:custDataLst>
              <p:tags r:id="rId14"/>
            </p:custDataLst>
          </p:nvPr>
        </p:nvSpPr>
        <p:spPr>
          <a:xfrm>
            <a:off x="8145780" y="5008880"/>
            <a:ext cx="1473835" cy="38544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FFFFFF"/>
              </a:gs>
              <a:gs pos="100000">
                <a:schemeClr val="accent2">
                  <a:lumMod val="20000"/>
                  <a:lumOff val="80000"/>
                  <a:alpha val="10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 algn="ctr">
              <a:defRPr sz="1600" b="1" spc="3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dirty="0">
                <a:solidFill>
                  <a:schemeClr val="accent2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rPr>
              <a:t>Evaluation</a:t>
            </a:r>
            <a:endParaRPr lang="en-US" altLang="zh-CN" dirty="0">
              <a:solidFill>
                <a:schemeClr val="accent2"/>
              </a:solidFill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102610" y="939800"/>
            <a:ext cx="6240780" cy="96901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zh-CN" sz="4800" b="1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Project Workflow</a:t>
            </a:r>
            <a:endParaRPr lang="en-US" altLang="zh-CN" sz="4800" b="1">
              <a:ln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245610" y="5760720"/>
            <a:ext cx="3416935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PHRASE2</a:t>
            </a:r>
            <a:r>
              <a:rPr lang="zh-CN" altLang="en-US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</a:t>
            </a:r>
            <a:r>
              <a:rPr lang="en-US" altLang="zh-CN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PROBLEM</a:t>
            </a:r>
            <a:endParaRPr lang="en-US" altLang="zh-CN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-4"/>
          <p:cNvSpPr>
            <a:spLocks noGrp="1"/>
          </p:cNvSpPr>
          <p:nvPr/>
        </p:nvSpPr>
        <p:spPr>
          <a:xfrm>
            <a:off x="533400" y="27622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8E603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PROBLEM</a:t>
            </a:r>
            <a:endParaRPr sz="975" b="1">
              <a:solidFill>
                <a:srgbClr val="8E603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" name="title-4"/>
          <p:cNvSpPr>
            <a:spLocks noGrp="1"/>
          </p:cNvSpPr>
          <p:nvPr/>
        </p:nvSpPr>
        <p:spPr>
          <a:xfrm>
            <a:off x="533400" y="552450"/>
            <a:ext cx="11096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一次没打招呼，为什么会变成自我否定？</a:t>
            </a:r>
            <a:endParaRPr sz="34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cxnSp>
        <p:nvCxnSpPr>
          <p:cNvPr id="26" name="header-rule-4"/>
          <p:cNvCxnSpPr/>
          <p:nvPr/>
        </p:nvCxnSpPr>
        <p:spPr>
          <a:xfrm>
            <a:off x="533400" y="1238250"/>
            <a:ext cx="11125200" cy="0"/>
          </a:xfrm>
          <a:prstGeom prst="straightConnector1">
            <a:avLst/>
          </a:prstGeom>
          <a:ln w="9525">
            <a:solidFill>
              <a:srgbClr val="CBC7BE"/>
            </a:solidFill>
            <a:prstDash val="solid"/>
          </a:ln>
        </p:spPr>
      </p:cxnSp>
      <p:sp>
        <p:nvSpPr>
          <p:cNvPr id="4" name="source-4"/>
          <p:cNvSpPr>
            <a:spLocks noGrp="1"/>
          </p:cNvSpPr>
          <p:nvPr/>
        </p:nvSpPr>
        <p:spPr>
          <a:xfrm>
            <a:off x="533400" y="64960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来源：项目 T2 用户画像、T3 需求与旅程</a:t>
            </a:r>
            <a:endParaRPr sz="825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4"/>
          <p:cNvSpPr>
            <a:spLocks noGrp="1"/>
          </p:cNvSpPr>
          <p:nvPr/>
        </p:nvSpPr>
        <p:spPr>
          <a:xfrm>
            <a:off x="11106150" y="64198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lang="en-US" sz="1050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ersona-name"/>
          <p:cNvSpPr>
            <a:spLocks noGrp="1"/>
          </p:cNvSpPr>
          <p:nvPr/>
        </p:nvSpPr>
        <p:spPr>
          <a:xfrm>
            <a:off x="609600" y="16383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325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8E6035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小远，</a:t>
            </a:r>
            <a:r>
              <a:rPr sz="2325" b="1">
                <a:solidFill>
                  <a:srgbClr val="8E603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20 </a:t>
            </a:r>
            <a:r>
              <a:rPr sz="2325" b="1">
                <a:solidFill>
                  <a:srgbClr val="8E6035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岁</a:t>
            </a:r>
            <a:endParaRPr sz="2325" b="1">
              <a:solidFill>
                <a:srgbClr val="8E6035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7" name="persona-meta"/>
          <p:cNvSpPr>
            <a:spLocks noGrp="1"/>
          </p:cNvSpPr>
          <p:nvPr/>
        </p:nvSpPr>
        <p:spPr>
          <a:xfrm>
            <a:off x="609600" y="21526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77736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大二 · 人工智能专业 · 留学生</a:t>
            </a:r>
            <a:endParaRPr sz="1350" b="0">
              <a:solidFill>
                <a:srgbClr val="77736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persona-quote"/>
          <p:cNvSpPr>
            <a:spLocks noGrp="1"/>
          </p:cNvSpPr>
          <p:nvPr/>
        </p:nvSpPr>
        <p:spPr>
          <a:xfrm>
            <a:off x="609600" y="2857500"/>
            <a:ext cx="45720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70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“他们是不是在孤立我？</a:t>
            </a:r>
            <a:endParaRPr sz="270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270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是不是我哪里不够好？”</a:t>
            </a:r>
            <a:endParaRPr sz="270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story-highlight"/>
          <p:cNvSpPr>
            <a:spLocks noGrp="1"/>
          </p:cNvSpPr>
          <p:nvPr/>
        </p:nvSpPr>
        <p:spPr>
          <a:xfrm>
            <a:off x="609600" y="4457700"/>
            <a:ext cx="4572000" cy="1371600"/>
          </a:xfrm>
          <a:prstGeom prst="roundRect">
            <a:avLst>
              <a:gd name="adj" fmla="val 5556"/>
            </a:avLst>
          </a:prstGeom>
          <a:solidFill>
            <a:srgbClr val="F5F2EC"/>
          </a:solidFill>
          <a:ln w="0">
            <a:noFill/>
            <a:prstDash val="solid"/>
          </a:ln>
        </p:spPr>
      </p:sp>
      <p:sp>
        <p:nvSpPr>
          <p:cNvPr id="10" name="story-copy"/>
          <p:cNvSpPr>
            <a:spLocks noGrp="1"/>
          </p:cNvSpPr>
          <p:nvPr/>
        </p:nvSpPr>
        <p:spPr>
          <a:xfrm>
            <a:off x="838200" y="4695825"/>
            <a:ext cx="41148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表面事件：室友没有打招呼</a:t>
            </a:r>
            <a:endParaRPr sz="15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algn="l">
              <a:defRPr sz="150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5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algn="l">
              <a:defRPr sz="150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真正体验：回到宿舍后，画面不断回放，</a:t>
            </a:r>
            <a:endParaRPr sz="15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algn="l">
              <a:defRPr sz="150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一次尴尬被放大成对自我价值的判断。</a:t>
            </a:r>
            <a:endParaRPr sz="15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cxnSp>
        <p:nvCxnSpPr>
          <p:cNvPr id="34" name="story-line"/>
          <p:cNvCxnSpPr/>
          <p:nvPr>
            <p:custDataLst>
              <p:tags r:id="rId1"/>
            </p:custDataLst>
          </p:nvPr>
        </p:nvCxnSpPr>
        <p:spPr>
          <a:xfrm>
            <a:off x="6191250" y="2381250"/>
            <a:ext cx="0" cy="2990850"/>
          </a:xfrm>
          <a:prstGeom prst="straightConnector1">
            <a:avLst/>
          </a:prstGeom>
          <a:ln w="28575">
            <a:solidFill>
              <a:srgbClr val="CBC7BE"/>
            </a:solidFill>
            <a:prstDash val="solid"/>
          </a:ln>
        </p:spPr>
      </p:cxnSp>
      <p:sp>
        <p:nvSpPr>
          <p:cNvPr id="12" name="moment-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00750" y="1952625"/>
            <a:ext cx="381000" cy="381000"/>
          </a:xfrm>
          <a:prstGeom prst="ellipse">
            <a:avLst/>
          </a:prstGeom>
          <a:solidFill>
            <a:srgbClr val="D7A06D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moment-place-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762750" y="1945005"/>
            <a:ext cx="1047750" cy="2933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8E6035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食堂</a:t>
            </a:r>
            <a:endParaRPr sz="1800" b="1">
              <a:solidFill>
                <a:srgbClr val="8E6035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4" name="moment-text-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810500" y="1933575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看到室友与别人聊天</a:t>
            </a:r>
            <a:endParaRPr sz="18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5" name="moment-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00750" y="3019425"/>
            <a:ext cx="381000" cy="381000"/>
          </a:xfrm>
          <a:prstGeom prst="ellipse">
            <a:avLst/>
          </a:prstGeom>
          <a:solidFill>
            <a:srgbClr val="D7A06D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moment-place-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762750" y="3000375"/>
            <a:ext cx="104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8E6035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当下</a:t>
            </a:r>
            <a:endParaRPr sz="1800" b="1">
              <a:solidFill>
                <a:srgbClr val="8E6035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7" name="moment-text-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7810500" y="3000375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假装低头刷视频</a:t>
            </a:r>
            <a:endParaRPr sz="18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8" name="moment-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000750" y="4086225"/>
            <a:ext cx="381000" cy="381000"/>
          </a:xfrm>
          <a:prstGeom prst="ellipse">
            <a:avLst/>
          </a:prstGeom>
          <a:solidFill>
            <a:srgbClr val="D7A06D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moment-place-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762750" y="4067175"/>
            <a:ext cx="104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8E6035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宿舍</a:t>
            </a:r>
            <a:endParaRPr sz="1800" b="1">
              <a:solidFill>
                <a:srgbClr val="8E6035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0" name="moment-text-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7810500" y="4067175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反复回放那一幕</a:t>
            </a:r>
            <a:endParaRPr sz="18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1" name="moment-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000750" y="5153025"/>
            <a:ext cx="381000" cy="381000"/>
          </a:xfrm>
          <a:prstGeom prst="ellipse">
            <a:avLst/>
          </a:prstGeom>
          <a:solidFill>
            <a:srgbClr val="B44747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moment-place-3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762750" y="5133975"/>
            <a:ext cx="104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8E6035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深夜</a:t>
            </a:r>
            <a:endParaRPr sz="1800" b="1">
              <a:solidFill>
                <a:srgbClr val="8E6035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3" name="moment-text-3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7810500" y="5133975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从尴尬滑向“我不够好”</a:t>
            </a:r>
            <a:endParaRPr sz="180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-5"/>
          <p:cNvSpPr>
            <a:spLocks noGrp="1"/>
          </p:cNvSpPr>
          <p:nvPr/>
        </p:nvSpPr>
        <p:spPr>
          <a:xfrm>
            <a:off x="533400" y="27622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8E603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PROBLEM</a:t>
            </a:r>
            <a:endParaRPr sz="975" b="1">
              <a:solidFill>
                <a:srgbClr val="8E603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" name="title-5"/>
          <p:cNvSpPr>
            <a:spLocks noGrp="1"/>
          </p:cNvSpPr>
          <p:nvPr/>
        </p:nvSpPr>
        <p:spPr>
          <a:xfrm>
            <a:off x="533400" y="552450"/>
            <a:ext cx="11096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真正的问题，是事后反刍无人接住</a:t>
            </a:r>
            <a:endParaRPr sz="34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cxnSp>
        <p:nvCxnSpPr>
          <p:cNvPr id="22" name="header-rule-5"/>
          <p:cNvCxnSpPr/>
          <p:nvPr/>
        </p:nvCxnSpPr>
        <p:spPr>
          <a:xfrm>
            <a:off x="533400" y="1238250"/>
            <a:ext cx="11125200" cy="0"/>
          </a:xfrm>
          <a:prstGeom prst="straightConnector1">
            <a:avLst/>
          </a:prstGeom>
          <a:ln w="9525">
            <a:solidFill>
              <a:srgbClr val="CBC7BE"/>
            </a:solidFill>
            <a:prstDash val="solid"/>
          </a:ln>
        </p:spPr>
      </p:cxnSp>
      <p:sp>
        <p:nvSpPr>
          <p:cNvPr id="4" name="source-5"/>
          <p:cNvSpPr>
            <a:spLocks noGrp="1"/>
          </p:cNvSpPr>
          <p:nvPr/>
        </p:nvSpPr>
        <p:spPr>
          <a:xfrm>
            <a:off x="533400" y="64960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来源：项目 T3 需求与旅程、T1 域分析</a:t>
            </a:r>
            <a:endParaRPr sz="825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5"/>
          <p:cNvSpPr>
            <a:spLocks noGrp="1"/>
          </p:cNvSpPr>
          <p:nvPr/>
        </p:nvSpPr>
        <p:spPr>
          <a:xfrm>
            <a:off x="11106150" y="64198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lang="en-US" sz="1050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need-0"/>
          <p:cNvSpPr>
            <a:spLocks noGrp="1"/>
          </p:cNvSpPr>
          <p:nvPr/>
        </p:nvSpPr>
        <p:spPr>
          <a:xfrm>
            <a:off x="609600" y="1657350"/>
            <a:ext cx="5410200" cy="933450"/>
          </a:xfrm>
          <a:prstGeom prst="roundRect">
            <a:avLst>
              <a:gd name="adj" fmla="val 8163"/>
            </a:avLst>
          </a:prstGeom>
          <a:solidFill>
            <a:srgbClr val="EEECE6"/>
          </a:solidFill>
          <a:ln w="0">
            <a:noFill/>
            <a:prstDash val="solid"/>
          </a:ln>
        </p:spPr>
      </p:sp>
      <p:sp>
        <p:nvSpPr>
          <p:cNvPr id="7" name="need-label-0"/>
          <p:cNvSpPr>
            <a:spLocks noGrp="1"/>
          </p:cNvSpPr>
          <p:nvPr/>
        </p:nvSpPr>
        <p:spPr>
          <a:xfrm>
            <a:off x="838200" y="1891030"/>
            <a:ext cx="1428750" cy="3752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刚性需求</a:t>
            </a:r>
            <a:r>
              <a:rPr lang="zh-CN" sz="24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：</a:t>
            </a:r>
            <a:endParaRPr lang="zh-CN" sz="240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8" name="need-text-0"/>
          <p:cNvSpPr>
            <a:spLocks noGrp="1"/>
          </p:cNvSpPr>
          <p:nvPr/>
        </p:nvSpPr>
        <p:spPr>
          <a:xfrm>
            <a:off x="2635250" y="1948180"/>
            <a:ext cx="3293745" cy="2997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停止反刍，分清事实与想法</a:t>
            </a:r>
            <a:endParaRPr sz="16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9" name="need-1"/>
          <p:cNvSpPr>
            <a:spLocks noGrp="1"/>
          </p:cNvSpPr>
          <p:nvPr/>
        </p:nvSpPr>
        <p:spPr>
          <a:xfrm>
            <a:off x="609600" y="2857500"/>
            <a:ext cx="5410200" cy="933450"/>
          </a:xfrm>
          <a:prstGeom prst="roundRect">
            <a:avLst>
              <a:gd name="adj" fmla="val 8163"/>
            </a:avLst>
          </a:prstGeom>
          <a:solidFill>
            <a:srgbClr val="F2E8DB"/>
          </a:solidFill>
          <a:ln w="0">
            <a:noFill/>
            <a:prstDash val="solid"/>
          </a:ln>
        </p:spPr>
      </p:sp>
      <p:sp>
        <p:nvSpPr>
          <p:cNvPr id="10" name="need-label-1"/>
          <p:cNvSpPr>
            <a:spLocks noGrp="1"/>
          </p:cNvSpPr>
          <p:nvPr/>
        </p:nvSpPr>
        <p:spPr>
          <a:xfrm>
            <a:off x="838200" y="3090545"/>
            <a:ext cx="1428750" cy="4387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8E6035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情感需求</a:t>
            </a:r>
            <a:r>
              <a:rPr lang="zh-CN" sz="2400" b="1">
                <a:solidFill>
                  <a:srgbClr val="8E6035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：</a:t>
            </a:r>
            <a:endParaRPr lang="zh-CN" sz="2400" b="1">
              <a:solidFill>
                <a:srgbClr val="8E6035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1" name="need-text-1"/>
          <p:cNvSpPr>
            <a:spLocks noGrp="1"/>
          </p:cNvSpPr>
          <p:nvPr/>
        </p:nvSpPr>
        <p:spPr>
          <a:xfrm>
            <a:off x="2635250" y="3136900"/>
            <a:ext cx="3079750" cy="31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被理解，而不是被说“矫情”</a:t>
            </a:r>
            <a:endParaRPr sz="16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need-2"/>
          <p:cNvSpPr>
            <a:spLocks noGrp="1"/>
          </p:cNvSpPr>
          <p:nvPr/>
        </p:nvSpPr>
        <p:spPr>
          <a:xfrm>
            <a:off x="609600" y="4057650"/>
            <a:ext cx="5410200" cy="933450"/>
          </a:xfrm>
          <a:prstGeom prst="roundRect">
            <a:avLst>
              <a:gd name="adj" fmla="val 8163"/>
            </a:avLst>
          </a:prstGeom>
          <a:solidFill>
            <a:srgbClr val="E5EDE9"/>
          </a:solidFill>
          <a:ln w="0">
            <a:noFill/>
            <a:prstDash val="solid"/>
          </a:ln>
        </p:spPr>
      </p:sp>
      <p:sp>
        <p:nvSpPr>
          <p:cNvPr id="13" name="need-label-2"/>
          <p:cNvSpPr>
            <a:spLocks noGrp="1"/>
          </p:cNvSpPr>
          <p:nvPr/>
        </p:nvSpPr>
        <p:spPr>
          <a:xfrm>
            <a:off x="838200" y="4286885"/>
            <a:ext cx="1428750" cy="4248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6E8B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6E8B8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成长需求</a:t>
            </a:r>
            <a:r>
              <a:rPr lang="zh-CN" sz="2400" b="1">
                <a:solidFill>
                  <a:srgbClr val="6E8B8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：</a:t>
            </a:r>
            <a:endParaRPr lang="zh-CN" sz="2400" b="1">
              <a:solidFill>
                <a:srgbClr val="6E8B8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4" name="need-text-2"/>
          <p:cNvSpPr>
            <a:spLocks noGrp="1"/>
          </p:cNvSpPr>
          <p:nvPr/>
        </p:nvSpPr>
        <p:spPr>
          <a:xfrm>
            <a:off x="2635885" y="4337050"/>
            <a:ext cx="3079115" cy="31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形成低压力行动，回到真实关系</a:t>
            </a:r>
            <a:endParaRPr sz="16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5" name="gap-title"/>
          <p:cNvSpPr>
            <a:spLocks noGrp="1"/>
          </p:cNvSpPr>
          <p:nvPr/>
        </p:nvSpPr>
        <p:spPr>
          <a:xfrm>
            <a:off x="6724650" y="167640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现实支持为何经常缺席？</a:t>
            </a:r>
            <a:endParaRPr sz="2025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6" name="gap-list"/>
          <p:cNvSpPr>
            <a:spLocks noGrp="1"/>
          </p:cNvSpPr>
          <p:nvPr/>
        </p:nvSpPr>
        <p:spPr>
          <a:xfrm>
            <a:off x="6743700" y="2247900"/>
            <a:ext cx="436245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朋友不一定随时在线</a:t>
            </a:r>
            <a:endParaRPr sz="1575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1575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575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1575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家人有时差，也怕他们担心</a:t>
            </a:r>
            <a:endParaRPr sz="1575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1575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575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1575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社交媒体容易加剧比较</a:t>
            </a:r>
            <a:endParaRPr sz="1575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1575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575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1575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专业服务存在预约与文化门槛</a:t>
            </a:r>
            <a:endParaRPr sz="1575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cycle"/>
          <p:cNvSpPr>
            <a:spLocks noGrp="1"/>
          </p:cNvSpPr>
          <p:nvPr/>
        </p:nvSpPr>
        <p:spPr>
          <a:xfrm>
            <a:off x="6724650" y="5095875"/>
            <a:ext cx="43243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CBC7BE"/>
            </a:solidFill>
            <a:prstDash val="solid"/>
          </a:ln>
        </p:spPr>
      </p:sp>
      <p:sp>
        <p:nvSpPr>
          <p:cNvPr id="18" name="cycle-text"/>
          <p:cNvSpPr>
            <a:spLocks noGrp="1"/>
          </p:cNvSpPr>
          <p:nvPr/>
        </p:nvSpPr>
        <p:spPr>
          <a:xfrm>
            <a:off x="6880860" y="5300345"/>
            <a:ext cx="4100830" cy="4781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触发事件  →  反刍  →  自我攻击  →  退缩</a:t>
            </a:r>
            <a:endParaRPr sz="150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cycle-note"/>
          <p:cNvSpPr>
            <a:spLocks noGrp="1"/>
          </p:cNvSpPr>
          <p:nvPr/>
        </p:nvSpPr>
        <p:spPr>
          <a:xfrm>
            <a:off x="6962775" y="5822950"/>
            <a:ext cx="3848100" cy="3225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8E60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缺口位于“事件发生之后、行动发生之前”</a:t>
            </a:r>
            <a:endParaRPr sz="1275" b="1">
              <a:solidFill>
                <a:srgbClr val="8E603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-6"/>
          <p:cNvSpPr>
            <a:spLocks noGrp="1"/>
          </p:cNvSpPr>
          <p:nvPr/>
        </p:nvSpPr>
        <p:spPr>
          <a:xfrm>
            <a:off x="533400" y="27622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8E603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PROBLEM</a:t>
            </a:r>
            <a:endParaRPr sz="975" b="1">
              <a:solidFill>
                <a:srgbClr val="8E603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" name="title-6"/>
          <p:cNvSpPr>
            <a:spLocks noGrp="1"/>
          </p:cNvSpPr>
          <p:nvPr/>
        </p:nvSpPr>
        <p:spPr>
          <a:xfrm>
            <a:off x="533400" y="552450"/>
            <a:ext cx="11096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既要接住情绪，也必须守住边界</a:t>
            </a:r>
            <a:endParaRPr sz="34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cxnSp>
        <p:nvCxnSpPr>
          <p:cNvPr id="23" name="header-rule-6"/>
          <p:cNvCxnSpPr/>
          <p:nvPr/>
        </p:nvCxnSpPr>
        <p:spPr>
          <a:xfrm>
            <a:off x="533400" y="1238250"/>
            <a:ext cx="11125200" cy="0"/>
          </a:xfrm>
          <a:prstGeom prst="straightConnector1">
            <a:avLst/>
          </a:prstGeom>
          <a:ln w="9525">
            <a:solidFill>
              <a:srgbClr val="CBC7BE"/>
            </a:solidFill>
            <a:prstDash val="solid"/>
          </a:ln>
        </p:spPr>
      </p:cxnSp>
      <p:sp>
        <p:nvSpPr>
          <p:cNvPr id="4" name="source-6"/>
          <p:cNvSpPr>
            <a:spLocks noGrp="1"/>
          </p:cNvSpPr>
          <p:nvPr/>
        </p:nvSpPr>
        <p:spPr>
          <a:xfrm>
            <a:off x="533400" y="64960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来源：项目 T4 PRD 与边界、T5 DEFINE 设计卡</a:t>
            </a:r>
            <a:endParaRPr sz="825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6"/>
          <p:cNvSpPr>
            <a:spLocks noGrp="1"/>
          </p:cNvSpPr>
          <p:nvPr/>
        </p:nvSpPr>
        <p:spPr>
          <a:xfrm>
            <a:off x="11106150" y="64198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lang="en-US" sz="1050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hmw"/>
          <p:cNvSpPr>
            <a:spLocks noGrp="1"/>
          </p:cNvSpPr>
          <p:nvPr/>
        </p:nvSpPr>
        <p:spPr>
          <a:xfrm>
            <a:off x="704850" y="1619250"/>
            <a:ext cx="10782300" cy="2047875"/>
          </a:xfrm>
          <a:prstGeom prst="roundRect">
            <a:avLst>
              <a:gd name="adj" fmla="val 5581"/>
            </a:avLst>
          </a:prstGeom>
          <a:solidFill>
            <a:srgbClr val="242320"/>
          </a:solidFill>
          <a:ln w="0">
            <a:noFill/>
            <a:prstDash val="solid"/>
          </a:ln>
        </p:spPr>
      </p:sp>
      <p:sp>
        <p:nvSpPr>
          <p:cNvPr id="7" name="hmw-label"/>
          <p:cNvSpPr>
            <a:spLocks noGrp="1"/>
          </p:cNvSpPr>
          <p:nvPr/>
        </p:nvSpPr>
        <p:spPr>
          <a:xfrm>
            <a:off x="1047750" y="1885950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D7A0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D7A06D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HOW MIGHT WE</a:t>
            </a:r>
            <a:endParaRPr sz="1125" b="1">
              <a:solidFill>
                <a:srgbClr val="D7A06D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8" name="hmw-text"/>
          <p:cNvSpPr>
            <a:spLocks noGrp="1"/>
          </p:cNvSpPr>
          <p:nvPr/>
        </p:nvSpPr>
        <p:spPr>
          <a:xfrm>
            <a:off x="1047750" y="2286000"/>
            <a:ext cx="9715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8889"/>
          </a:bodyPr>
          <a:lstStyle/>
          <a:p>
            <a:pPr algn="ctr">
              <a:defRPr sz="26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如何让留学生在独处反刍时，</a:t>
            </a:r>
            <a:endParaRPr sz="2625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algn="ctr">
              <a:defRPr sz="26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停止自我攻击、看到其他可能解释，</a:t>
            </a:r>
            <a:endParaRPr sz="2625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algn="ctr">
              <a:defRPr sz="26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并带走一个足够小的行动？</a:t>
            </a:r>
            <a:endParaRPr sz="2625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9" name="constraint-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04850" y="4095750"/>
            <a:ext cx="3371850" cy="1447800"/>
          </a:xfrm>
          <a:prstGeom prst="roundRect">
            <a:avLst>
              <a:gd name="adj" fmla="val 7895"/>
            </a:avLst>
          </a:prstGeom>
          <a:solidFill>
            <a:srgbClr val="F5F2EC"/>
          </a:solidFill>
          <a:ln w="0">
            <a:noFill/>
            <a:prstDash val="solid"/>
          </a:ln>
        </p:spPr>
      </p:sp>
      <p:sp>
        <p:nvSpPr>
          <p:cNvPr id="10" name="constraint-dot-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52500" y="4362450"/>
            <a:ext cx="400050" cy="400050"/>
          </a:xfrm>
          <a:prstGeom prst="ellipse">
            <a:avLst/>
          </a:prstGeom>
          <a:solidFill>
            <a:srgbClr val="D7A06D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constraint-title-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524000" y="4410710"/>
            <a:ext cx="2190750" cy="4076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陪伴</a:t>
            </a:r>
            <a:endParaRPr sz="180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2" name="constraint-copy-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71550" y="4905375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先听，再分析</a:t>
            </a:r>
            <a:endParaRPr sz="20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3" name="constraint-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343400" y="4095750"/>
            <a:ext cx="3371850" cy="1447800"/>
          </a:xfrm>
          <a:prstGeom prst="roundRect">
            <a:avLst>
              <a:gd name="adj" fmla="val 7895"/>
            </a:avLst>
          </a:prstGeom>
          <a:solidFill>
            <a:srgbClr val="E5EDE9"/>
          </a:solidFill>
          <a:ln w="0">
            <a:noFill/>
            <a:prstDash val="solid"/>
          </a:ln>
        </p:spPr>
      </p:sp>
      <p:sp>
        <p:nvSpPr>
          <p:cNvPr id="14" name="constraint-dot-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591050" y="4362450"/>
            <a:ext cx="400050" cy="400050"/>
          </a:xfrm>
          <a:prstGeom prst="ellipse">
            <a:avLst/>
          </a:prstGeom>
          <a:solidFill>
            <a:srgbClr val="6E8B80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constraint-title-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162550" y="4370705"/>
            <a:ext cx="2190750" cy="3568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边界</a:t>
            </a:r>
            <a:endParaRPr sz="180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6" name="constraint-copy-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610100" y="4905375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不诊断、不制造虚假亲密</a:t>
            </a:r>
            <a:endParaRPr sz="20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7" name="constraint-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981950" y="4095750"/>
            <a:ext cx="3371850" cy="1447800"/>
          </a:xfrm>
          <a:prstGeom prst="roundRect">
            <a:avLst>
              <a:gd name="adj" fmla="val 7895"/>
            </a:avLst>
          </a:prstGeom>
          <a:solidFill>
            <a:srgbClr val="F6DFDD"/>
          </a:solidFill>
          <a:ln w="0">
            <a:noFill/>
            <a:prstDash val="solid"/>
          </a:ln>
        </p:spPr>
      </p:sp>
      <p:sp>
        <p:nvSpPr>
          <p:cNvPr id="18" name="constraint-dot-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229600" y="4362450"/>
            <a:ext cx="400050" cy="400050"/>
          </a:xfrm>
          <a:prstGeom prst="ellipse">
            <a:avLst/>
          </a:prstGeom>
          <a:solidFill>
            <a:srgbClr val="B44747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constraint-title-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8801100" y="4401185"/>
            <a:ext cx="2190750" cy="3263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安全</a:t>
            </a:r>
            <a:endParaRPr sz="180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0" name="constraint-copy-2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8248650" y="4905375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危机必须连接真人支持</a:t>
            </a:r>
            <a:endParaRPr sz="20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page-2"/>
          <p:cNvSpPr>
            <a:spLocks noGrp="1"/>
          </p:cNvSpPr>
          <p:nvPr/>
        </p:nvSpPr>
        <p:spPr>
          <a:xfrm>
            <a:off x="11106150" y="64198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lang="en-US" sz="1050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7"/>
          <p:cNvSpPr/>
          <p:nvPr>
            <p:custDataLst>
              <p:tags r:id="rId1"/>
            </p:custDataLst>
          </p:nvPr>
        </p:nvSpPr>
        <p:spPr>
          <a:xfrm>
            <a:off x="611505" y="1909445"/>
            <a:ext cx="10968990" cy="3213100"/>
          </a:xfrm>
          <a:custGeom>
            <a:avLst/>
            <a:gdLst>
              <a:gd name="connsiteX0" fmla="*/ 0 w 10969200"/>
              <a:gd name="connsiteY0" fmla="*/ 0 h 3529797"/>
              <a:gd name="connsiteX1" fmla="*/ 9748804 w 10969200"/>
              <a:gd name="connsiteY1" fmla="*/ 963548 h 3529797"/>
              <a:gd name="connsiteX2" fmla="*/ 10135800 w 10969200"/>
              <a:gd name="connsiteY2" fmla="*/ 955331 h 3529797"/>
              <a:gd name="connsiteX3" fmla="*/ 10135800 w 10969200"/>
              <a:gd name="connsiteY3" fmla="*/ 447619 h 3529797"/>
              <a:gd name="connsiteX4" fmla="*/ 10969200 w 10969200"/>
              <a:gd name="connsiteY4" fmla="*/ 1583634 h 3529797"/>
              <a:gd name="connsiteX5" fmla="*/ 10135800 w 10969200"/>
              <a:gd name="connsiteY5" fmla="*/ 2719649 h 3529797"/>
              <a:gd name="connsiteX6" fmla="*/ 10135800 w 10969200"/>
              <a:gd name="connsiteY6" fmla="*/ 2231548 h 3529797"/>
              <a:gd name="connsiteX7" fmla="*/ 8978224 w 10969200"/>
              <a:gd name="connsiteY7" fmla="*/ 2247545 h 3529797"/>
              <a:gd name="connsiteX8" fmla="*/ 0 w 10969200"/>
              <a:gd name="connsiteY8" fmla="*/ 3529797 h 3529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969200" h="3529797">
                <a:moveTo>
                  <a:pt x="0" y="0"/>
                </a:moveTo>
                <a:cubicBezTo>
                  <a:pt x="3063277" y="778525"/>
                  <a:pt x="6747271" y="1008367"/>
                  <a:pt x="9748804" y="963548"/>
                </a:cubicBezTo>
                <a:lnTo>
                  <a:pt x="10135800" y="955331"/>
                </a:lnTo>
                <a:lnTo>
                  <a:pt x="10135800" y="447619"/>
                </a:lnTo>
                <a:lnTo>
                  <a:pt x="10969200" y="1583634"/>
                </a:lnTo>
                <a:lnTo>
                  <a:pt x="10135800" y="2719649"/>
                </a:lnTo>
                <a:lnTo>
                  <a:pt x="10135800" y="2231548"/>
                </a:lnTo>
                <a:lnTo>
                  <a:pt x="8978224" y="2247545"/>
                </a:lnTo>
                <a:cubicBezTo>
                  <a:pt x="5793188" y="2320957"/>
                  <a:pt x="2580542" y="2619391"/>
                  <a:pt x="0" y="3529797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40000"/>
                </a:schemeClr>
              </a:gs>
              <a:gs pos="47000">
                <a:schemeClr val="accent1">
                  <a:alpha val="20000"/>
                </a:schemeClr>
              </a:gs>
              <a:gs pos="0">
                <a:schemeClr val="accent1">
                  <a:alpha val="0"/>
                </a:schemeClr>
              </a:gs>
            </a:gsLst>
            <a:lin ang="0" scaled="1"/>
            <a:tileRect/>
          </a:gradFill>
          <a:ln w="15875">
            <a:gradFill flip="none" rotWithShape="1">
              <a:gsLst>
                <a:gs pos="68000">
                  <a:schemeClr val="accent1">
                    <a:alpha val="100000"/>
                  </a:schemeClr>
                </a:gs>
                <a:gs pos="33000">
                  <a:schemeClr val="accent1">
                    <a:alpha val="40000"/>
                  </a:schemeClr>
                </a:gs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 panose="020B0500000000000000" charset="-122"/>
              <a:cs typeface="+mn-cs"/>
            </a:endParaRPr>
          </a:p>
        </p:txBody>
      </p:sp>
      <p:sp>
        <p:nvSpPr>
          <p:cNvPr id="16" name="序号"/>
          <p:cNvSpPr txBox="1">
            <a:spLocks noChangeAspect="1"/>
          </p:cNvSpPr>
          <p:nvPr>
            <p:custDataLst>
              <p:tags r:id="rId2"/>
            </p:custDataLst>
          </p:nvPr>
        </p:nvSpPr>
        <p:spPr>
          <a:xfrm>
            <a:off x="4690890" y="2941925"/>
            <a:ext cx="907200" cy="907200"/>
          </a:xfrm>
          <a:prstGeom prst="ellipse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63000">
                <a:schemeClr val="accent2">
                  <a:lumMod val="40000"/>
                  <a:lumOff val="60000"/>
                  <a:alpha val="100000"/>
                </a:schemeClr>
              </a:gs>
              <a:gs pos="100000">
                <a:schemeClr val="accent2">
                  <a:lumMod val="20000"/>
                  <a:lumOff val="80000"/>
                  <a:alpha val="100000"/>
                </a:schemeClr>
              </a:gs>
            </a:gsLst>
            <a:lin ang="13500000" scaled="1"/>
          </a:gradFill>
          <a:effectLst>
            <a:outerShdw blurRad="101600" dist="38100" dir="2700000" algn="tl" rotWithShape="0">
              <a:schemeClr val="accent2">
                <a:alpha val="50000"/>
              </a:schemeClr>
            </a:outerShdw>
          </a:effectLst>
        </p:spPr>
        <p:txBody>
          <a:bodyPr wrap="none" lIns="0" tIns="0" rIns="0" bIns="0" rtlCol="0" anchor="ctr">
            <a:no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en-US" dirty="0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chemeClr val="accent2">
                      <a:lumMod val="75000"/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02</a:t>
            </a:r>
            <a:endParaRPr lang="en-US" dirty="0">
              <a:solidFill>
                <a:srgbClr val="FFFFFF">
                  <a:alpha val="80000"/>
                </a:srgbClr>
              </a:solidFill>
              <a:effectLst>
                <a:outerShdw blurRad="50800" dist="63500" dir="2700000" algn="tl" rotWithShape="0">
                  <a:schemeClr val="accent2">
                    <a:lumMod val="75000"/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4" name="直接连接符 23"/>
          <p:cNvCxnSpPr/>
          <p:nvPr>
            <p:custDataLst>
              <p:tags r:id="rId3"/>
            </p:custDataLst>
          </p:nvPr>
        </p:nvCxnSpPr>
        <p:spPr>
          <a:xfrm>
            <a:off x="6086475" y="2366645"/>
            <a:ext cx="0" cy="3383281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50000">
                  <a:schemeClr val="accent1">
                    <a:alpha val="4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序号"/>
          <p:cNvSpPr txBox="1">
            <a:spLocks noChangeAspect="1"/>
          </p:cNvSpPr>
          <p:nvPr>
            <p:custDataLst>
              <p:tags r:id="rId4"/>
            </p:custDataLst>
          </p:nvPr>
        </p:nvSpPr>
        <p:spPr>
          <a:xfrm>
            <a:off x="6309995" y="2708910"/>
            <a:ext cx="1432800" cy="14328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63000">
                <a:schemeClr val="accent1">
                  <a:lumMod val="40000"/>
                  <a:lumOff val="60000"/>
                  <a:alpha val="100000"/>
                </a:schemeClr>
              </a:gs>
              <a:gs pos="100000">
                <a:schemeClr val="accent1">
                  <a:lumMod val="20000"/>
                  <a:lumOff val="80000"/>
                  <a:alpha val="100000"/>
                </a:schemeClr>
              </a:gs>
            </a:gsLst>
            <a:lin ang="13500000" scaled="1"/>
          </a:gradFill>
          <a:effectLst>
            <a:outerShdw blurRad="101600" dist="38100" dir="2700000" algn="tl" rotWithShape="0">
              <a:schemeClr val="accent1">
                <a:alpha val="50000"/>
              </a:schemeClr>
            </a:outerShdw>
          </a:effectLst>
        </p:spPr>
        <p:txBody>
          <a:bodyPr wrap="none" lIns="0" tIns="0" rIns="0" bIns="0" rtlCol="0" anchor="ctr">
            <a:no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en-US" dirty="0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03</a:t>
            </a:r>
            <a:endParaRPr lang="en-US" dirty="0">
              <a:solidFill>
                <a:srgbClr val="FFFFFF">
                  <a:alpha val="80000"/>
                </a:srgbClr>
              </a:solidFill>
              <a:effectLst>
                <a:outerShdw blurRad="50800" dist="63500" dir="2700000" algn="tl" rotWithShape="0">
                  <a:schemeClr val="accent1">
                    <a:lumMod val="75000"/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标题"/>
          <p:cNvSpPr txBox="1"/>
          <p:nvPr>
            <p:custDataLst>
              <p:tags r:id="rId5"/>
            </p:custDataLst>
          </p:nvPr>
        </p:nvSpPr>
        <p:spPr>
          <a:xfrm>
            <a:off x="4471670" y="5008880"/>
            <a:ext cx="1422538" cy="38551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FFFFFF"/>
              </a:gs>
              <a:gs pos="100000">
                <a:schemeClr val="accent2">
                  <a:lumMod val="20000"/>
                  <a:lumOff val="80000"/>
                  <a:alpha val="10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 algn="ctr">
              <a:defRPr sz="1600" b="1" spc="3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dirty="0">
                <a:solidFill>
                  <a:schemeClr val="accent2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rPr>
              <a:t>Problem</a:t>
            </a:r>
            <a:endParaRPr lang="en-US" altLang="zh-CN" dirty="0">
              <a:solidFill>
                <a:schemeClr val="accent2"/>
              </a:solidFill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sp>
        <p:nvSpPr>
          <p:cNvPr id="21" name="标题"/>
          <p:cNvSpPr txBox="1"/>
          <p:nvPr>
            <p:custDataLst>
              <p:tags r:id="rId6"/>
            </p:custDataLst>
          </p:nvPr>
        </p:nvSpPr>
        <p:spPr>
          <a:xfrm>
            <a:off x="6306185" y="5008880"/>
            <a:ext cx="1422538" cy="38551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FFFFFF"/>
              </a:gs>
              <a:gs pos="100000">
                <a:schemeClr val="accent1">
                  <a:lumMod val="20000"/>
                  <a:lumOff val="80000"/>
                  <a:alpha val="10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 algn="ctr">
              <a:defRPr sz="1600" b="1" spc="3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dirty="0">
                <a:solidFill>
                  <a:schemeClr val="accent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rPr>
              <a:t>Solution</a:t>
            </a:r>
            <a:endParaRPr lang="en-US" altLang="zh-CN" dirty="0">
              <a:solidFill>
                <a:schemeClr val="accent1"/>
              </a:solidFill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cxnSp>
        <p:nvCxnSpPr>
          <p:cNvPr id="25" name="直接连接符 24"/>
          <p:cNvCxnSpPr/>
          <p:nvPr>
            <p:custDataLst>
              <p:tags r:id="rId7"/>
            </p:custDataLst>
          </p:nvPr>
        </p:nvCxnSpPr>
        <p:spPr>
          <a:xfrm>
            <a:off x="4244975" y="2366645"/>
            <a:ext cx="0" cy="3383281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>
                    <a:alpha val="4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8"/>
            </p:custDataLst>
          </p:nvPr>
        </p:nvCxnSpPr>
        <p:spPr>
          <a:xfrm>
            <a:off x="7927975" y="2366645"/>
            <a:ext cx="0" cy="3383281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>
                    <a:alpha val="4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序号"/>
          <p:cNvSpPr txBox="1"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818130" y="2941955"/>
            <a:ext cx="907200" cy="9072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63000">
                <a:schemeClr val="accent1">
                  <a:lumMod val="40000"/>
                  <a:lumOff val="60000"/>
                  <a:alpha val="100000"/>
                </a:schemeClr>
              </a:gs>
              <a:gs pos="100000">
                <a:schemeClr val="accent1">
                  <a:lumMod val="20000"/>
                  <a:lumOff val="80000"/>
                  <a:alpha val="100000"/>
                </a:schemeClr>
              </a:gs>
            </a:gsLst>
            <a:lin ang="13500000" scaled="1"/>
          </a:gradFill>
          <a:effectLst>
            <a:outerShdw blurRad="101600" dist="38100" dir="2700000" algn="tl" rotWithShape="0">
              <a:schemeClr val="accent1">
                <a:alpha val="50000"/>
              </a:schemeClr>
            </a:outerShdw>
          </a:effectLst>
        </p:spPr>
        <p:txBody>
          <a:bodyPr wrap="none" lIns="0" tIns="0" rIns="0" bIns="0" rtlCol="0" anchor="ctr">
            <a:no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en-US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01</a:t>
            </a:r>
            <a:endParaRPr lang="en-US" dirty="0">
              <a:solidFill>
                <a:srgbClr val="FFFFFF">
                  <a:alpha val="80000"/>
                </a:srgbClr>
              </a:solidFill>
              <a:effectLst>
                <a:outerShdw blurRad="50800" dist="63500" dir="2700000" algn="tl" rotWithShape="0">
                  <a:schemeClr val="accent1">
                    <a:lumMod val="75000"/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序号"/>
          <p:cNvSpPr txBox="1"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8402955" y="2941955"/>
            <a:ext cx="908475" cy="908475"/>
          </a:xfrm>
          <a:prstGeom prst="ellipse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63000">
                <a:schemeClr val="accent2">
                  <a:lumMod val="40000"/>
                  <a:lumOff val="60000"/>
                  <a:alpha val="100000"/>
                </a:schemeClr>
              </a:gs>
              <a:gs pos="100000">
                <a:schemeClr val="accent2">
                  <a:lumMod val="20000"/>
                  <a:lumOff val="80000"/>
                  <a:alpha val="100000"/>
                </a:schemeClr>
              </a:gs>
            </a:gsLst>
            <a:lin ang="13500000" scaled="1"/>
          </a:gradFill>
          <a:effectLst>
            <a:outerShdw blurRad="101600" dist="38100" dir="2700000" algn="tl" rotWithShape="0">
              <a:schemeClr val="accent2">
                <a:alpha val="50000"/>
              </a:schemeClr>
            </a:outerShdw>
          </a:effectLst>
        </p:spPr>
        <p:txBody>
          <a:bodyPr wrap="none" lIns="0" tIns="0" rIns="0" bIns="0" rtlCol="0" anchor="ctr">
            <a:no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en-US" dirty="0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chemeClr val="accent2">
                      <a:lumMod val="75000"/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04</a:t>
            </a:r>
            <a:endParaRPr lang="en-US" dirty="0">
              <a:solidFill>
                <a:srgbClr val="FFFFFF">
                  <a:alpha val="80000"/>
                </a:srgbClr>
              </a:solidFill>
              <a:effectLst>
                <a:outerShdw blurRad="50800" dist="63500" dir="2700000" algn="tl" rotWithShape="0">
                  <a:schemeClr val="accent2">
                    <a:lumMod val="75000"/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文本框 28"/>
          <p:cNvSpPr txBox="1"/>
          <p:nvPr>
            <p:custDataLst>
              <p:tags r:id="rId11"/>
            </p:custDataLst>
          </p:nvPr>
        </p:nvSpPr>
        <p:spPr>
          <a:xfrm>
            <a:off x="2623820" y="5508625"/>
            <a:ext cx="1434465" cy="9296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单击此处添加文本，简明扼要地阐述观点。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30" name="标题"/>
          <p:cNvSpPr txBox="1"/>
          <p:nvPr>
            <p:custDataLst>
              <p:tags r:id="rId12"/>
            </p:custDataLst>
          </p:nvPr>
        </p:nvSpPr>
        <p:spPr>
          <a:xfrm>
            <a:off x="2629535" y="5008880"/>
            <a:ext cx="1422538" cy="38551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FFFFFF"/>
              </a:gs>
              <a:gs pos="100000">
                <a:schemeClr val="accent1">
                  <a:lumMod val="20000"/>
                  <a:lumOff val="80000"/>
                  <a:alpha val="10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 algn="ctr">
              <a:defRPr sz="1600" b="1" spc="3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dirty="0">
                <a:solidFill>
                  <a:schemeClr val="accent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rPr>
              <a:t>Project</a:t>
            </a:r>
            <a:endParaRPr lang="en-US" altLang="zh-CN" dirty="0">
              <a:solidFill>
                <a:schemeClr val="accent1"/>
              </a:solidFill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sp>
        <p:nvSpPr>
          <p:cNvPr id="31" name="文本框 30"/>
          <p:cNvSpPr txBox="1"/>
          <p:nvPr>
            <p:custDataLst>
              <p:tags r:id="rId13"/>
            </p:custDataLst>
          </p:nvPr>
        </p:nvSpPr>
        <p:spPr>
          <a:xfrm>
            <a:off x="8140065" y="5508625"/>
            <a:ext cx="1434465" cy="9296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单击此处添加文本，简明扼要地阐述观点。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33" name="标题"/>
          <p:cNvSpPr txBox="1"/>
          <p:nvPr>
            <p:custDataLst>
              <p:tags r:id="rId14"/>
            </p:custDataLst>
          </p:nvPr>
        </p:nvSpPr>
        <p:spPr>
          <a:xfrm>
            <a:off x="8145780" y="5008880"/>
            <a:ext cx="1586865" cy="38544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FFFFFF"/>
              </a:gs>
              <a:gs pos="100000">
                <a:schemeClr val="accent2">
                  <a:lumMod val="20000"/>
                  <a:lumOff val="80000"/>
                  <a:alpha val="10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 algn="ctr">
              <a:defRPr sz="1600" b="1" spc="3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dirty="0">
                <a:solidFill>
                  <a:schemeClr val="accent2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rPr>
              <a:t>Evaluation</a:t>
            </a:r>
            <a:endParaRPr lang="en-US" altLang="zh-CN" dirty="0">
              <a:solidFill>
                <a:schemeClr val="accent2"/>
              </a:solidFill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102610" y="939800"/>
            <a:ext cx="6240780" cy="96901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zh-CN" sz="4800" b="1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Project Workflow</a:t>
            </a:r>
            <a:endParaRPr lang="en-US" altLang="zh-CN" sz="4800" b="1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086475" y="5760720"/>
            <a:ext cx="374650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PHRASE3</a:t>
            </a:r>
            <a:r>
              <a:rPr lang="zh-CN" altLang="en-US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</a:t>
            </a:r>
            <a:r>
              <a:rPr lang="en-US" altLang="zh-CN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SOLUTION</a:t>
            </a:r>
            <a:endParaRPr lang="zh-CN" altLang="en-US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-7"/>
          <p:cNvSpPr>
            <a:spLocks noGrp="1"/>
          </p:cNvSpPr>
          <p:nvPr/>
        </p:nvSpPr>
        <p:spPr>
          <a:xfrm>
            <a:off x="533400" y="27622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8E603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SOLUTION</a:t>
            </a:r>
            <a:endParaRPr sz="975" b="1">
              <a:solidFill>
                <a:srgbClr val="8E603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" name="title-7"/>
          <p:cNvSpPr>
            <a:spLocks noGrp="1"/>
          </p:cNvSpPr>
          <p:nvPr/>
        </p:nvSpPr>
        <p:spPr>
          <a:xfrm>
            <a:off x="533400" y="552450"/>
            <a:ext cx="11096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我们不替用户判断，只陪用户梳理</a:t>
            </a:r>
            <a:endParaRPr sz="34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cxnSp>
        <p:nvCxnSpPr>
          <p:cNvPr id="27" name="header-rule-7"/>
          <p:cNvCxnSpPr/>
          <p:nvPr/>
        </p:nvCxnSpPr>
        <p:spPr>
          <a:xfrm>
            <a:off x="533400" y="1238250"/>
            <a:ext cx="11125200" cy="0"/>
          </a:xfrm>
          <a:prstGeom prst="straightConnector1">
            <a:avLst/>
          </a:prstGeom>
          <a:ln w="9525">
            <a:solidFill>
              <a:srgbClr val="CBC7BE"/>
            </a:solidFill>
            <a:prstDash val="solid"/>
          </a:ln>
        </p:spPr>
      </p:cxnSp>
      <p:sp>
        <p:nvSpPr>
          <p:cNvPr id="4" name="source-7"/>
          <p:cNvSpPr>
            <a:spLocks noGrp="1"/>
          </p:cNvSpPr>
          <p:nvPr/>
        </p:nvSpPr>
        <p:spPr>
          <a:xfrm>
            <a:off x="533400" y="64960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来源：项目 T5 DEFINE 设计卡、agent.md</a:t>
            </a:r>
            <a:endParaRPr sz="825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7"/>
          <p:cNvSpPr>
            <a:spLocks noGrp="1"/>
          </p:cNvSpPr>
          <p:nvPr/>
        </p:nvSpPr>
        <p:spPr>
          <a:xfrm>
            <a:off x="11106150" y="64198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lang="en-US" sz="1050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olution-card-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90550" y="1857375"/>
            <a:ext cx="3429000" cy="3238500"/>
          </a:xfrm>
          <a:prstGeom prst="roundRect">
            <a:avLst>
              <a:gd name="adj" fmla="val 3529"/>
            </a:avLst>
          </a:prstGeom>
          <a:solidFill>
            <a:srgbClr val="F5F2EC"/>
          </a:solidFill>
          <a:ln w="9525">
            <a:solidFill>
              <a:srgbClr val="CBC7BE"/>
            </a:solidFill>
            <a:prstDash val="solid"/>
          </a:ln>
        </p:spPr>
      </p:sp>
      <p:sp>
        <p:nvSpPr>
          <p:cNvPr id="7" name="solution-card-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391025" y="1857375"/>
            <a:ext cx="3429000" cy="3238500"/>
          </a:xfrm>
          <a:prstGeom prst="roundRect">
            <a:avLst>
              <a:gd name="adj" fmla="val 3529"/>
            </a:avLst>
          </a:prstGeom>
          <a:solidFill>
            <a:srgbClr val="EEF2EF"/>
          </a:solidFill>
          <a:ln w="9525">
            <a:solidFill>
              <a:srgbClr val="CBC7BE"/>
            </a:solidFill>
            <a:prstDash val="solid"/>
          </a:ln>
        </p:spPr>
      </p:sp>
      <p:sp>
        <p:nvSpPr>
          <p:cNvPr id="8" name="solution-card-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191500" y="1857375"/>
            <a:ext cx="3429000" cy="3238500"/>
          </a:xfrm>
          <a:prstGeom prst="roundRect">
            <a:avLst>
              <a:gd name="adj" fmla="val 3529"/>
            </a:avLst>
          </a:prstGeom>
          <a:solidFill>
            <a:srgbClr val="F5F2EC"/>
          </a:solidFill>
          <a:ln w="9525">
            <a:solidFill>
              <a:srgbClr val="CBC7BE"/>
            </a:solidFill>
            <a:prstDash val="solid"/>
          </a:ln>
        </p:spPr>
      </p:sp>
      <p:cxnSp>
        <p:nvCxnSpPr>
          <p:cNvPr id="33" name="直接箭头连接符 32"/>
          <p:cNvCxnSpPr>
            <a:stCxn id="6" idx="3"/>
            <a:endCxn id="7" idx="1"/>
          </p:cNvCxnSpPr>
          <p:nvPr>
            <p:custDataLst>
              <p:tags r:id="rId4"/>
            </p:custDataLst>
          </p:nvPr>
        </p:nvCxnSpPr>
        <p:spPr>
          <a:xfrm>
            <a:off x="4019550" y="3476625"/>
            <a:ext cx="371475" cy="0"/>
          </a:xfrm>
          <a:prstGeom prst="straightConnector1">
            <a:avLst/>
          </a:prstGeom>
          <a:ln w="19050">
            <a:solidFill>
              <a:srgbClr val="CBC7BE"/>
            </a:solidFill>
            <a:prstDash val="solid"/>
            <a:tailEnd type="arrow" w="med" len="med"/>
          </a:ln>
        </p:spPr>
      </p:cxnSp>
      <p:cxnSp>
        <p:nvCxnSpPr>
          <p:cNvPr id="34" name="直接箭头连接符 33"/>
          <p:cNvCxnSpPr>
            <a:stCxn id="7" idx="3"/>
            <a:endCxn id="8" idx="1"/>
          </p:cNvCxnSpPr>
          <p:nvPr>
            <p:custDataLst>
              <p:tags r:id="rId5"/>
            </p:custDataLst>
          </p:nvPr>
        </p:nvCxnSpPr>
        <p:spPr>
          <a:xfrm>
            <a:off x="7820025" y="3476625"/>
            <a:ext cx="371475" cy="0"/>
          </a:xfrm>
          <a:prstGeom prst="straightConnector1">
            <a:avLst/>
          </a:prstGeom>
          <a:ln w="19050">
            <a:solidFill>
              <a:srgbClr val="CBC7BE"/>
            </a:solidFill>
            <a:prstDash val="solid"/>
            <a:tailEnd type="arrow" w="med" len="med"/>
          </a:ln>
        </p:spPr>
      </p:cxnSp>
      <p:sp>
        <p:nvSpPr>
          <p:cNvPr id="11" name="solution-num-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57250" y="2114550"/>
            <a:ext cx="85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550" b="1">
                <a:solidFill>
                  <a:srgbClr val="D7A0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D7A06D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01</a:t>
            </a:r>
            <a:endParaRPr sz="2550" b="1">
              <a:solidFill>
                <a:srgbClr val="D7A06D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2" name="solution-title-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57250" y="27813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接住情绪</a:t>
            </a:r>
            <a:endParaRPr sz="210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cxnSp>
        <p:nvCxnSpPr>
          <p:cNvPr id="37" name="solution-rule-0"/>
          <p:cNvCxnSpPr/>
          <p:nvPr>
            <p:custDataLst>
              <p:tags r:id="rId8"/>
            </p:custDataLst>
          </p:nvPr>
        </p:nvCxnSpPr>
        <p:spPr>
          <a:xfrm>
            <a:off x="857250" y="3390900"/>
            <a:ext cx="857250" cy="0"/>
          </a:xfrm>
          <a:prstGeom prst="straightConnector1">
            <a:avLst/>
          </a:prstGeom>
          <a:ln w="38100">
            <a:solidFill>
              <a:srgbClr val="D7A06D"/>
            </a:solidFill>
            <a:prstDash val="solid"/>
          </a:ln>
        </p:spPr>
      </p:cxnSp>
      <p:sp>
        <p:nvSpPr>
          <p:cNvPr id="14" name="solution-quote-0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57250" y="3733800"/>
            <a:ext cx="28956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“那种被留在外面的感觉，</a:t>
            </a:r>
            <a:endParaRPr sz="15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150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确实很不好受。”</a:t>
            </a:r>
            <a:endParaRPr sz="15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solution-num-1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657725" y="2114550"/>
            <a:ext cx="85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550" b="1">
                <a:solidFill>
                  <a:srgbClr val="6E8B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6E8B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02</a:t>
            </a:r>
            <a:endParaRPr sz="2550" b="1">
              <a:solidFill>
                <a:srgbClr val="6E8B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6" name="solution-title-1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657725" y="27813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澄清事件</a:t>
            </a:r>
            <a:endParaRPr sz="210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cxnSp>
        <p:nvCxnSpPr>
          <p:cNvPr id="41" name="solution-rule-1"/>
          <p:cNvCxnSpPr/>
          <p:nvPr>
            <p:custDataLst>
              <p:tags r:id="rId12"/>
            </p:custDataLst>
          </p:nvPr>
        </p:nvCxnSpPr>
        <p:spPr>
          <a:xfrm>
            <a:off x="4657725" y="3390900"/>
            <a:ext cx="857250" cy="0"/>
          </a:xfrm>
          <a:prstGeom prst="straightConnector1">
            <a:avLst/>
          </a:prstGeom>
          <a:ln w="38100">
            <a:solidFill>
              <a:srgbClr val="6E8B80"/>
            </a:solidFill>
            <a:prstDash val="solid"/>
          </a:ln>
        </p:spPr>
      </p:cxnSp>
      <p:sp>
        <p:nvSpPr>
          <p:cNvPr id="18" name="solution-quote-1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4657725" y="3733800"/>
            <a:ext cx="28956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“哪些是你看到的事实？</a:t>
            </a:r>
            <a:endParaRPr sz="15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150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哪些是后来出现的猜测？”</a:t>
            </a:r>
            <a:endParaRPr sz="15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solution-num-2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8458200" y="2114550"/>
            <a:ext cx="85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5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24232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03</a:t>
            </a:r>
            <a:endParaRPr sz="2550" b="1">
              <a:solidFill>
                <a:srgbClr val="24232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0" name="solution-title-2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8458200" y="27813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形成小行动</a:t>
            </a:r>
            <a:endParaRPr sz="210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cxnSp>
        <p:nvCxnSpPr>
          <p:cNvPr id="45" name="solution-rule-2"/>
          <p:cNvCxnSpPr/>
          <p:nvPr>
            <p:custDataLst>
              <p:tags r:id="rId16"/>
            </p:custDataLst>
          </p:nvPr>
        </p:nvCxnSpPr>
        <p:spPr>
          <a:xfrm>
            <a:off x="8458200" y="3390900"/>
            <a:ext cx="857250" cy="0"/>
          </a:xfrm>
          <a:prstGeom prst="straightConnector1">
            <a:avLst/>
          </a:prstGeom>
          <a:ln w="38100">
            <a:solidFill>
              <a:srgbClr val="242320"/>
            </a:solidFill>
            <a:prstDash val="solid"/>
          </a:ln>
        </p:spPr>
      </p:cxnSp>
      <p:sp>
        <p:nvSpPr>
          <p:cNvPr id="22" name="solution-quote-2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8458200" y="3733800"/>
            <a:ext cx="28956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“如果你愿意，下次只试着</a:t>
            </a:r>
            <a:endParaRPr sz="15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150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点头或微笑，也可以。”</a:t>
            </a:r>
            <a:endParaRPr sz="15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solution-principle"/>
          <p:cNvSpPr>
            <a:spLocks noGrp="1"/>
          </p:cNvSpPr>
          <p:nvPr/>
        </p:nvSpPr>
        <p:spPr>
          <a:xfrm>
            <a:off x="2714625" y="5524500"/>
            <a:ext cx="67627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BC7BE"/>
            </a:solidFill>
            <a:prstDash val="solid"/>
          </a:ln>
        </p:spPr>
      </p:sp>
      <p:sp>
        <p:nvSpPr>
          <p:cNvPr id="24" name="solution-principle-text"/>
          <p:cNvSpPr>
            <a:spLocks noGrp="1"/>
          </p:cNvSpPr>
          <p:nvPr/>
        </p:nvSpPr>
        <p:spPr>
          <a:xfrm>
            <a:off x="2952750" y="5667375"/>
            <a:ext cx="628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75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8E60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把判断权还给用户：AI 提供视角，不给用户下定义。</a:t>
            </a:r>
            <a:endParaRPr sz="1575" b="1">
              <a:solidFill>
                <a:srgbClr val="8E603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-8"/>
          <p:cNvSpPr>
            <a:spLocks noGrp="1"/>
          </p:cNvSpPr>
          <p:nvPr/>
        </p:nvSpPr>
        <p:spPr>
          <a:xfrm>
            <a:off x="533400" y="27622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8E603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SOLUTION</a:t>
            </a:r>
            <a:endParaRPr sz="975" b="1">
              <a:solidFill>
                <a:srgbClr val="8E603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" name="title-8"/>
          <p:cNvSpPr>
            <a:spLocks noGrp="1"/>
          </p:cNvSpPr>
          <p:nvPr/>
        </p:nvSpPr>
        <p:spPr>
          <a:xfrm>
            <a:off x="533400" y="552450"/>
            <a:ext cx="11096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低落时，用户仍能轻松找到入口</a:t>
            </a:r>
            <a:endParaRPr sz="34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cxnSp>
        <p:nvCxnSpPr>
          <p:cNvPr id="17" name="header-rule-8"/>
          <p:cNvCxnSpPr/>
          <p:nvPr/>
        </p:nvCxnSpPr>
        <p:spPr>
          <a:xfrm>
            <a:off x="533400" y="1238250"/>
            <a:ext cx="11125200" cy="0"/>
          </a:xfrm>
          <a:prstGeom prst="straightConnector1">
            <a:avLst/>
          </a:prstGeom>
          <a:ln w="9525">
            <a:solidFill>
              <a:srgbClr val="CBC7BE"/>
            </a:solidFill>
            <a:prstDash val="solid"/>
          </a:ln>
        </p:spPr>
      </p:cxnSp>
      <p:sp>
        <p:nvSpPr>
          <p:cNvPr id="4" name="source-8"/>
          <p:cNvSpPr>
            <a:spLocks noGrp="1"/>
          </p:cNvSpPr>
          <p:nvPr/>
        </p:nvSpPr>
        <p:spPr>
          <a:xfrm>
            <a:off x="533400" y="64960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来源：当前 frontend/index.html；界面为测试场景截图</a:t>
            </a:r>
            <a:endParaRPr sz="825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8"/>
          <p:cNvSpPr>
            <a:spLocks noGrp="1"/>
          </p:cNvSpPr>
          <p:nvPr/>
        </p:nvSpPr>
        <p:spPr>
          <a:xfrm>
            <a:off x="11106150" y="64198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lang="en-US" sz="1050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ui-frame"/>
          <p:cNvSpPr>
            <a:spLocks noGrp="1"/>
          </p:cNvSpPr>
          <p:nvPr/>
        </p:nvSpPr>
        <p:spPr>
          <a:xfrm>
            <a:off x="2275840" y="1457325"/>
            <a:ext cx="7275195" cy="440055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CBC7BE"/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920" y="1590675"/>
            <a:ext cx="6614160" cy="4133850"/>
          </a:xfrm>
          <a:prstGeom prst="roundRect">
            <a:avLst>
              <a:gd name="adj" fmla="val 1843"/>
            </a:avLst>
          </a:prstGeom>
        </p:spPr>
      </p:pic>
      <p:sp>
        <p:nvSpPr>
          <p:cNvPr id="8" name="ui-mark-0"/>
          <p:cNvSpPr>
            <a:spLocks noGrp="1"/>
          </p:cNvSpPr>
          <p:nvPr/>
        </p:nvSpPr>
        <p:spPr>
          <a:xfrm>
            <a:off x="2351405" y="2276475"/>
            <a:ext cx="285750" cy="285750"/>
          </a:xfrm>
          <a:prstGeom prst="ellipse">
            <a:avLst/>
          </a:prstGeom>
          <a:solidFill>
            <a:srgbClr val="8E6035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ui-mark-1"/>
          <p:cNvSpPr>
            <a:spLocks noGrp="1"/>
          </p:cNvSpPr>
          <p:nvPr/>
        </p:nvSpPr>
        <p:spPr>
          <a:xfrm>
            <a:off x="2351405" y="2924810"/>
            <a:ext cx="285750" cy="285750"/>
          </a:xfrm>
          <a:prstGeom prst="ellipse">
            <a:avLst/>
          </a:prstGeom>
          <a:solidFill>
            <a:srgbClr val="8E6035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ui-mark-2"/>
          <p:cNvSpPr>
            <a:spLocks noGrp="1"/>
          </p:cNvSpPr>
          <p:nvPr/>
        </p:nvSpPr>
        <p:spPr>
          <a:xfrm>
            <a:off x="2351405" y="4076700"/>
            <a:ext cx="285750" cy="285750"/>
          </a:xfrm>
          <a:prstGeom prst="ellipse">
            <a:avLst/>
          </a:prstGeom>
          <a:solidFill>
            <a:srgbClr val="8E6035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ui-mark-3"/>
          <p:cNvSpPr>
            <a:spLocks noGrp="1"/>
          </p:cNvSpPr>
          <p:nvPr/>
        </p:nvSpPr>
        <p:spPr>
          <a:xfrm>
            <a:off x="8903970" y="5156835"/>
            <a:ext cx="285750" cy="285750"/>
          </a:xfrm>
          <a:prstGeom prst="ellipse">
            <a:avLst/>
          </a:prstGeom>
          <a:solidFill>
            <a:srgbClr val="8E6035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ui-mark-4"/>
          <p:cNvSpPr>
            <a:spLocks noGrp="1"/>
          </p:cNvSpPr>
          <p:nvPr/>
        </p:nvSpPr>
        <p:spPr>
          <a:xfrm>
            <a:off x="4511675" y="5156835"/>
            <a:ext cx="285750" cy="285750"/>
          </a:xfrm>
          <a:prstGeom prst="ellipse">
            <a:avLst/>
          </a:prstGeom>
          <a:solidFill>
            <a:srgbClr val="8E6035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ui-mark-5"/>
          <p:cNvSpPr>
            <a:spLocks noGrp="1"/>
          </p:cNvSpPr>
          <p:nvPr/>
        </p:nvSpPr>
        <p:spPr>
          <a:xfrm>
            <a:off x="2351405" y="5305425"/>
            <a:ext cx="285750" cy="285750"/>
          </a:xfrm>
          <a:prstGeom prst="ellipse">
            <a:avLst/>
          </a:prstGeom>
          <a:solidFill>
            <a:srgbClr val="8E6035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ui-legend"/>
          <p:cNvSpPr>
            <a:spLocks noGrp="1"/>
          </p:cNvSpPr>
          <p:nvPr/>
        </p:nvSpPr>
        <p:spPr>
          <a:xfrm>
            <a:off x="1143000" y="600075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77736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  紧急帮助    2  快捷场景    3  历史会话    4  发送    5  文字输入    6  设置与本地记忆</a:t>
            </a:r>
            <a:endParaRPr sz="1125" b="0">
              <a:solidFill>
                <a:srgbClr val="77736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-9"/>
          <p:cNvSpPr>
            <a:spLocks noGrp="1"/>
          </p:cNvSpPr>
          <p:nvPr/>
        </p:nvSpPr>
        <p:spPr>
          <a:xfrm>
            <a:off x="533400" y="27622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8E603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SOLUTION</a:t>
            </a:r>
            <a:endParaRPr sz="975" b="1">
              <a:solidFill>
                <a:srgbClr val="8E603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" name="title-9"/>
          <p:cNvSpPr>
            <a:spLocks noGrp="1"/>
          </p:cNvSpPr>
          <p:nvPr/>
        </p:nvSpPr>
        <p:spPr>
          <a:xfrm>
            <a:off x="533400" y="552450"/>
            <a:ext cx="11096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普通对话先共情，最后才谈行动</a:t>
            </a:r>
            <a:endParaRPr sz="34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cxnSp>
        <p:nvCxnSpPr>
          <p:cNvPr id="24" name="header-rule-9"/>
          <p:cNvCxnSpPr/>
          <p:nvPr/>
        </p:nvCxnSpPr>
        <p:spPr>
          <a:xfrm>
            <a:off x="533400" y="1238250"/>
            <a:ext cx="11125200" cy="0"/>
          </a:xfrm>
          <a:prstGeom prst="straightConnector1">
            <a:avLst/>
          </a:prstGeom>
          <a:ln w="9525">
            <a:solidFill>
              <a:srgbClr val="CBC7BE"/>
            </a:solidFill>
            <a:prstDash val="solid"/>
          </a:ln>
        </p:spPr>
      </p:cxnSp>
      <p:sp>
        <p:nvSpPr>
          <p:cNvPr id="4" name="source-9"/>
          <p:cNvSpPr>
            <a:spLocks noGrp="1"/>
          </p:cNvSpPr>
          <p:nvPr/>
        </p:nvSpPr>
        <p:spPr>
          <a:xfrm>
            <a:off x="533400" y="64960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来源：项目工作流；截图为人工设计的测试场景</a:t>
            </a:r>
            <a:endParaRPr sz="825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9"/>
          <p:cNvSpPr>
            <a:spLocks noGrp="1"/>
          </p:cNvSpPr>
          <p:nvPr/>
        </p:nvSpPr>
        <p:spPr>
          <a:xfrm>
            <a:off x="11106150" y="64198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lang="en-US" sz="1050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mobile-frame"/>
          <p:cNvSpPr>
            <a:spLocks noGrp="1"/>
          </p:cNvSpPr>
          <p:nvPr/>
        </p:nvSpPr>
        <p:spPr>
          <a:xfrm>
            <a:off x="666750" y="1316990"/>
            <a:ext cx="3716655" cy="4575175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CBC7BE"/>
            </a:solidFill>
            <a:prstDash val="solid"/>
          </a:ln>
        </p:spPr>
      </p:sp>
      <p:cxnSp>
        <p:nvCxnSpPr>
          <p:cNvPr id="29" name="stage-rule-0"/>
          <p:cNvCxnSpPr/>
          <p:nvPr>
            <p:custDataLst>
              <p:tags r:id="rId1"/>
            </p:custDataLst>
          </p:nvPr>
        </p:nvCxnSpPr>
        <p:spPr>
          <a:xfrm>
            <a:off x="4936490" y="1844675"/>
            <a:ext cx="666750" cy="0"/>
          </a:xfrm>
          <a:prstGeom prst="straightConnector1">
            <a:avLst/>
          </a:prstGeom>
          <a:ln w="38100">
            <a:solidFill>
              <a:srgbClr val="D7A06D"/>
            </a:solidFill>
            <a:prstDash val="solid"/>
          </a:ln>
        </p:spPr>
      </p:cxnSp>
      <p:sp>
        <p:nvSpPr>
          <p:cNvPr id="9" name="stage-num-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538345" y="1483995"/>
            <a:ext cx="438785" cy="3644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D7A0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D7A06D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01</a:t>
            </a:r>
            <a:endParaRPr sz="1950" b="1">
              <a:solidFill>
                <a:srgbClr val="D7A06D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0" name="stage-title-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936490" y="1484630"/>
            <a:ext cx="929640" cy="3638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共情</a:t>
            </a:r>
            <a:endParaRPr sz="2025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1" name="stage-copy-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977130" y="1847850"/>
            <a:ext cx="392239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先确认被忽视与孤单的感受，不急着讲道理。</a:t>
            </a:r>
            <a:endParaRPr sz="15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cxnSp>
        <p:nvCxnSpPr>
          <p:cNvPr id="33" name="stage-rule-1"/>
          <p:cNvCxnSpPr/>
          <p:nvPr>
            <p:custDataLst>
              <p:tags r:id="rId5"/>
            </p:custDataLst>
          </p:nvPr>
        </p:nvCxnSpPr>
        <p:spPr>
          <a:xfrm>
            <a:off x="4943475" y="3140710"/>
            <a:ext cx="666750" cy="0"/>
          </a:xfrm>
          <a:prstGeom prst="straightConnector1">
            <a:avLst/>
          </a:prstGeom>
          <a:ln w="38100">
            <a:solidFill>
              <a:srgbClr val="6E8B80"/>
            </a:solidFill>
            <a:prstDash val="solid"/>
          </a:ln>
        </p:spPr>
      </p:cxnSp>
      <p:sp>
        <p:nvSpPr>
          <p:cNvPr id="13" name="stage-num-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538980" y="2782570"/>
            <a:ext cx="397510" cy="3721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6E8B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6E8B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02</a:t>
            </a:r>
            <a:endParaRPr sz="1950" b="1">
              <a:solidFill>
                <a:srgbClr val="6E8B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4" name="stage-title-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977130" y="2782570"/>
            <a:ext cx="1315720" cy="3721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澄清</a:t>
            </a:r>
            <a:endParaRPr sz="2025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5" name="stage-copy-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935855" y="3151505"/>
            <a:ext cx="4168775" cy="3511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回到具体瞬间，区分事实、猜测和自我判断。</a:t>
            </a:r>
            <a:endParaRPr sz="15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cxnSp>
        <p:nvCxnSpPr>
          <p:cNvPr id="37" name="stage-rule-2"/>
          <p:cNvCxnSpPr/>
          <p:nvPr>
            <p:custDataLst>
              <p:tags r:id="rId9"/>
            </p:custDataLst>
          </p:nvPr>
        </p:nvCxnSpPr>
        <p:spPr>
          <a:xfrm>
            <a:off x="4943475" y="4772660"/>
            <a:ext cx="666750" cy="0"/>
          </a:xfrm>
          <a:prstGeom prst="straightConnector1">
            <a:avLst/>
          </a:prstGeom>
          <a:ln w="38100">
            <a:solidFill>
              <a:srgbClr val="242320"/>
            </a:solidFill>
            <a:prstDash val="solid"/>
          </a:ln>
        </p:spPr>
      </p:cxnSp>
      <p:sp>
        <p:nvSpPr>
          <p:cNvPr id="17" name="stage-num-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538980" y="443357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4232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03</a:t>
            </a:r>
            <a:endParaRPr sz="1950" b="1">
              <a:solidFill>
                <a:srgbClr val="24232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8" name="stage-title-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943475" y="4434840"/>
            <a:ext cx="660400" cy="33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行动</a:t>
            </a:r>
            <a:endParaRPr sz="2025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9" name="stage-copy-2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935855" y="4772025"/>
            <a:ext cx="7125335" cy="3708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只有用户愿意时，才共同形成一个低压力动作。</a:t>
            </a:r>
            <a:endParaRPr sz="15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0" name="conversation-note"/>
          <p:cNvSpPr>
            <a:spLocks noGrp="1"/>
          </p:cNvSpPr>
          <p:nvPr/>
        </p:nvSpPr>
        <p:spPr>
          <a:xfrm>
            <a:off x="4583430" y="5572125"/>
            <a:ext cx="6858000" cy="494030"/>
          </a:xfrm>
          <a:prstGeom prst="roundRect">
            <a:avLst>
              <a:gd name="adj" fmla="val 14815"/>
            </a:avLst>
          </a:prstGeom>
          <a:solidFill>
            <a:srgbClr val="F5F2EC"/>
          </a:solidFill>
          <a:ln w="0">
            <a:noFill/>
            <a:prstDash val="solid"/>
          </a:ln>
        </p:spPr>
      </p:sp>
      <p:sp>
        <p:nvSpPr>
          <p:cNvPr id="21" name="conversation-note-text"/>
          <p:cNvSpPr>
            <a:spLocks noGrp="1"/>
          </p:cNvSpPr>
          <p:nvPr/>
        </p:nvSpPr>
        <p:spPr>
          <a:xfrm>
            <a:off x="4765040" y="5674360"/>
            <a:ext cx="6507480" cy="308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8E60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过程比答案更重要：情绪重时，流程主动停在“陪伴”。</a:t>
            </a:r>
            <a:endParaRPr sz="1500" b="1">
              <a:solidFill>
                <a:srgbClr val="8E603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8" name="图片 7" descr="QQ截图2026071417175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7080" y="1398905"/>
            <a:ext cx="3529330" cy="44113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-10"/>
          <p:cNvSpPr>
            <a:spLocks noGrp="1"/>
          </p:cNvSpPr>
          <p:nvPr/>
        </p:nvSpPr>
        <p:spPr>
          <a:xfrm>
            <a:off x="533400" y="27622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8E603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SOLUTION</a:t>
            </a:r>
            <a:endParaRPr sz="975" b="1">
              <a:solidFill>
                <a:srgbClr val="8E603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" name="title-10"/>
          <p:cNvSpPr>
            <a:spLocks noGrp="1"/>
          </p:cNvSpPr>
          <p:nvPr/>
        </p:nvSpPr>
        <p:spPr>
          <a:xfrm>
            <a:off x="533400" y="552450"/>
            <a:ext cx="11096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负面情绪需要四种不同回应</a:t>
            </a:r>
            <a:endParaRPr sz="34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cxnSp>
        <p:nvCxnSpPr>
          <p:cNvPr id="36" name="header-rule-10"/>
          <p:cNvCxnSpPr/>
          <p:nvPr/>
        </p:nvCxnSpPr>
        <p:spPr>
          <a:xfrm>
            <a:off x="533400" y="1238250"/>
            <a:ext cx="11125200" cy="0"/>
          </a:xfrm>
          <a:prstGeom prst="straightConnector1">
            <a:avLst/>
          </a:prstGeom>
          <a:ln w="9525">
            <a:solidFill>
              <a:srgbClr val="CBC7BE"/>
            </a:solidFill>
            <a:prstDash val="solid"/>
          </a:ln>
        </p:spPr>
      </p:cxnSp>
      <p:sp>
        <p:nvSpPr>
          <p:cNvPr id="4" name="source-10"/>
          <p:cNvSpPr>
            <a:spLocks noGrp="1"/>
          </p:cNvSpPr>
          <p:nvPr/>
        </p:nvSpPr>
        <p:spPr>
          <a:xfrm>
            <a:off x="533400" y="64960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来源：当前后端四级安全判定；截图为人工设计的测试场景</a:t>
            </a:r>
            <a:endParaRPr sz="825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10"/>
          <p:cNvSpPr>
            <a:spLocks noGrp="1"/>
          </p:cNvSpPr>
          <p:nvPr/>
        </p:nvSpPr>
        <p:spPr>
          <a:xfrm>
            <a:off x="11106150" y="64198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sz="1050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light-card-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33400" y="1524000"/>
            <a:ext cx="2686050" cy="4533900"/>
          </a:xfrm>
          <a:prstGeom prst="roundRect">
            <a:avLst>
              <a:gd name="adj" fmla="val 4255"/>
            </a:avLst>
          </a:prstGeom>
          <a:solidFill>
            <a:srgbClr val="E7F0E9"/>
          </a:solidFill>
          <a:ln w="0">
            <a:noFill/>
            <a:prstDash val="solid"/>
          </a:ln>
        </p:spPr>
      </p:sp>
      <p:sp>
        <p:nvSpPr>
          <p:cNvPr id="7" name="light-dot-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23900" y="1743075"/>
            <a:ext cx="342900" cy="342900"/>
          </a:xfrm>
          <a:prstGeom prst="ellipse">
            <a:avLst/>
          </a:prstGeom>
          <a:solidFill>
            <a:srgbClr val="6D8F78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/>
        </p:txBody>
      </p:sp>
      <p:sp>
        <p:nvSpPr>
          <p:cNvPr id="8" name="light-title-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200150" y="1714500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6D8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6D8F78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绿灯</a:t>
            </a:r>
            <a:endParaRPr sz="2000" b="1">
              <a:solidFill>
                <a:srgbClr val="6D8F78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9" name="light-case-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23900" y="2190750"/>
            <a:ext cx="2305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普通低落</a:t>
            </a:r>
            <a:endParaRPr sz="160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pic>
        <p:nvPicPr>
          <p:cNvPr id="43" name="图片 4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6110" r="6110"/>
          <a:stretch>
            <a:fillRect/>
          </a:stretch>
        </p:blipFill>
        <p:spPr>
          <a:xfrm>
            <a:off x="685800" y="2819400"/>
            <a:ext cx="2381250" cy="1695450"/>
          </a:xfrm>
          <a:prstGeom prst="roundRect">
            <a:avLst>
              <a:gd name="adj" fmla="val 4494"/>
            </a:avLst>
          </a:prstGeom>
        </p:spPr>
      </p:pic>
      <p:sp>
        <p:nvSpPr>
          <p:cNvPr id="11" name="light-action-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742950" y="4810125"/>
            <a:ext cx="2266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完整陪伴，不输出热线</a:t>
            </a:r>
            <a:endParaRPr sz="1275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2" name="light-test-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276350" y="5676900"/>
            <a:ext cx="1200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7736D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测试场景</a:t>
            </a:r>
            <a:endParaRPr sz="975" b="0">
              <a:solidFill>
                <a:srgbClr val="77736D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3" name="light-card-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3409950" y="1524000"/>
            <a:ext cx="2686050" cy="4533900"/>
          </a:xfrm>
          <a:prstGeom prst="roundRect">
            <a:avLst>
              <a:gd name="adj" fmla="val 4255"/>
            </a:avLst>
          </a:prstGeom>
          <a:solidFill>
            <a:srgbClr val="FFF1C7"/>
          </a:solidFill>
          <a:ln w="0">
            <a:noFill/>
            <a:prstDash val="solid"/>
          </a:ln>
        </p:spPr>
      </p:sp>
      <p:sp>
        <p:nvSpPr>
          <p:cNvPr id="14" name="light-dot-1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3600450" y="1743075"/>
            <a:ext cx="342900" cy="342900"/>
          </a:xfrm>
          <a:prstGeom prst="ellipse">
            <a:avLst/>
          </a:prstGeom>
          <a:solidFill>
            <a:srgbClr val="BE9A3F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/>
        </p:txBody>
      </p:sp>
      <p:sp>
        <p:nvSpPr>
          <p:cNvPr id="15" name="light-title-1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076700" y="1714500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BE9A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BE9A3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黄灯</a:t>
            </a:r>
            <a:endParaRPr sz="2000" b="1">
              <a:solidFill>
                <a:srgbClr val="BE9A3F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6" name="light-case-1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3600450" y="2190750"/>
            <a:ext cx="2305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被动死亡愿望</a:t>
            </a:r>
            <a:endParaRPr sz="160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pic>
        <p:nvPicPr>
          <p:cNvPr id="50" name="图片 49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 l="6110" r="6110"/>
          <a:stretch>
            <a:fillRect/>
          </a:stretch>
        </p:blipFill>
        <p:spPr>
          <a:xfrm>
            <a:off x="3562350" y="2819400"/>
            <a:ext cx="2381250" cy="1695450"/>
          </a:xfrm>
          <a:prstGeom prst="roundRect">
            <a:avLst>
              <a:gd name="adj" fmla="val 4494"/>
            </a:avLst>
          </a:prstGeom>
        </p:spPr>
      </p:pic>
      <p:sp>
        <p:nvSpPr>
          <p:cNvPr id="18" name="light-action-1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3619500" y="4810125"/>
            <a:ext cx="2266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一次最小化安全确认</a:t>
            </a:r>
            <a:endParaRPr sz="1275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9" name="light-test-1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4152900" y="5676900"/>
            <a:ext cx="1200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7736D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测试场景</a:t>
            </a:r>
            <a:endParaRPr sz="975" b="0">
              <a:solidFill>
                <a:srgbClr val="77736D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0" name="light-card-2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6286500" y="1524000"/>
            <a:ext cx="2686050" cy="4533900"/>
          </a:xfrm>
          <a:prstGeom prst="roundRect">
            <a:avLst>
              <a:gd name="adj" fmla="val 4255"/>
            </a:avLst>
          </a:prstGeom>
          <a:solidFill>
            <a:srgbClr val="FAE5D7"/>
          </a:solidFill>
          <a:ln w="0">
            <a:noFill/>
            <a:prstDash val="solid"/>
          </a:ln>
        </p:spPr>
      </p:sp>
      <p:sp>
        <p:nvSpPr>
          <p:cNvPr id="21" name="light-dot-2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6477000" y="1743075"/>
            <a:ext cx="342900" cy="342900"/>
          </a:xfrm>
          <a:prstGeom prst="ellipse">
            <a:avLst/>
          </a:prstGeom>
          <a:solidFill>
            <a:srgbClr val="D77942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/>
        </p:txBody>
      </p:sp>
      <p:sp>
        <p:nvSpPr>
          <p:cNvPr id="22" name="light-title-2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6953250" y="1714500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D779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D77942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橙灯</a:t>
            </a:r>
            <a:endParaRPr sz="2000" b="1">
              <a:solidFill>
                <a:srgbClr val="D77942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3" name="light-case-2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6477000" y="2190750"/>
            <a:ext cx="2305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歧视 / 霸凌 / PUA</a:t>
            </a:r>
            <a:endParaRPr sz="160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rcRect l="6110" r="6110"/>
          <a:stretch>
            <a:fillRect/>
          </a:stretch>
        </p:blipFill>
        <p:spPr>
          <a:xfrm>
            <a:off x="6438900" y="2819400"/>
            <a:ext cx="2381250" cy="1695450"/>
          </a:xfrm>
          <a:prstGeom prst="roundRect">
            <a:avLst>
              <a:gd name="adj" fmla="val 4494"/>
            </a:avLst>
          </a:prstGeom>
        </p:spPr>
      </p:pic>
      <p:sp>
        <p:nvSpPr>
          <p:cNvPr id="25" name="light-action-2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6496050" y="4810125"/>
            <a:ext cx="2266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不正常化，提供资源</a:t>
            </a:r>
            <a:endParaRPr sz="1275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6" name="light-test-2"/>
          <p:cNvSpPr>
            <a:spLocks noGrp="1"/>
          </p:cNvSpPr>
          <p:nvPr>
            <p:custDataLst>
              <p:tags r:id="rId24"/>
            </p:custDataLst>
          </p:nvPr>
        </p:nvSpPr>
        <p:spPr>
          <a:xfrm>
            <a:off x="7029450" y="5676900"/>
            <a:ext cx="1200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7736D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测试场景</a:t>
            </a:r>
            <a:endParaRPr sz="975" b="0">
              <a:solidFill>
                <a:srgbClr val="77736D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7" name="light-card-3"/>
          <p:cNvSpPr>
            <a:spLocks noGrp="1"/>
          </p:cNvSpPr>
          <p:nvPr>
            <p:custDataLst>
              <p:tags r:id="rId25"/>
            </p:custDataLst>
          </p:nvPr>
        </p:nvSpPr>
        <p:spPr>
          <a:xfrm>
            <a:off x="9163050" y="1524000"/>
            <a:ext cx="2686050" cy="4533900"/>
          </a:xfrm>
          <a:prstGeom prst="roundRect">
            <a:avLst>
              <a:gd name="adj" fmla="val 4255"/>
            </a:avLst>
          </a:prstGeom>
          <a:solidFill>
            <a:srgbClr val="F6DFDD"/>
          </a:solidFill>
          <a:ln w="0">
            <a:noFill/>
            <a:prstDash val="solid"/>
          </a:ln>
        </p:spPr>
      </p:sp>
      <p:sp>
        <p:nvSpPr>
          <p:cNvPr id="28" name="light-dot-3"/>
          <p:cNvSpPr>
            <a:spLocks noGrp="1"/>
          </p:cNvSpPr>
          <p:nvPr>
            <p:custDataLst>
              <p:tags r:id="rId26"/>
            </p:custDataLst>
          </p:nvPr>
        </p:nvSpPr>
        <p:spPr>
          <a:xfrm>
            <a:off x="9353550" y="1743075"/>
            <a:ext cx="342900" cy="342900"/>
          </a:xfrm>
          <a:prstGeom prst="ellipse">
            <a:avLst/>
          </a:prstGeom>
          <a:solidFill>
            <a:srgbClr val="B44747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/>
        </p:txBody>
      </p:sp>
      <p:sp>
        <p:nvSpPr>
          <p:cNvPr id="29" name="light-title-3"/>
          <p:cNvSpPr>
            <a:spLocks noGrp="1"/>
          </p:cNvSpPr>
          <p:nvPr>
            <p:custDataLst>
              <p:tags r:id="rId27"/>
            </p:custDataLst>
          </p:nvPr>
        </p:nvSpPr>
        <p:spPr>
          <a:xfrm>
            <a:off x="9829800" y="1714500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B4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B44747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红灯</a:t>
            </a:r>
            <a:endParaRPr sz="2000" b="1">
              <a:solidFill>
                <a:srgbClr val="B44747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30" name="light-case-3"/>
          <p:cNvSpPr>
            <a:spLocks noGrp="1"/>
          </p:cNvSpPr>
          <p:nvPr>
            <p:custDataLst>
              <p:tags r:id="rId28"/>
            </p:custDataLst>
          </p:nvPr>
        </p:nvSpPr>
        <p:spPr>
          <a:xfrm>
            <a:off x="9353550" y="2190750"/>
            <a:ext cx="2305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明确意图 / 迫近危险</a:t>
            </a:r>
            <a:endParaRPr sz="160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4" name="图片 63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/>
          <a:srcRect l="6110" r="6110"/>
          <a:stretch>
            <a:fillRect/>
          </a:stretch>
        </p:blipFill>
        <p:spPr>
          <a:xfrm>
            <a:off x="9315450" y="2819400"/>
            <a:ext cx="2381250" cy="1695450"/>
          </a:xfrm>
          <a:prstGeom prst="roundRect">
            <a:avLst>
              <a:gd name="adj" fmla="val 4494"/>
            </a:avLst>
          </a:prstGeom>
        </p:spPr>
      </p:pic>
      <p:sp>
        <p:nvSpPr>
          <p:cNvPr id="32" name="light-action-3"/>
          <p:cNvSpPr>
            <a:spLocks noGrp="1"/>
          </p:cNvSpPr>
          <p:nvPr>
            <p:custDataLst>
              <p:tags r:id="rId31"/>
            </p:custDataLst>
          </p:nvPr>
        </p:nvSpPr>
        <p:spPr>
          <a:xfrm>
            <a:off x="9372600" y="4810125"/>
            <a:ext cx="2266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停止普通分析，连接真人</a:t>
            </a:r>
            <a:endParaRPr sz="1275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33" name="light-test-3"/>
          <p:cNvSpPr>
            <a:spLocks noGrp="1"/>
          </p:cNvSpPr>
          <p:nvPr>
            <p:custDataLst>
              <p:tags r:id="rId32"/>
            </p:custDataLst>
          </p:nvPr>
        </p:nvSpPr>
        <p:spPr>
          <a:xfrm>
            <a:off x="9906000" y="5676900"/>
            <a:ext cx="1200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7736D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测试场景</a:t>
            </a:r>
            <a:endParaRPr sz="975" b="0">
              <a:solidFill>
                <a:srgbClr val="77736D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-11"/>
          <p:cNvSpPr>
            <a:spLocks noGrp="1"/>
          </p:cNvSpPr>
          <p:nvPr/>
        </p:nvSpPr>
        <p:spPr>
          <a:xfrm>
            <a:off x="533400" y="27622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8E603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SOLUTION</a:t>
            </a:r>
            <a:endParaRPr sz="975" b="1">
              <a:solidFill>
                <a:srgbClr val="8E603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" name="title-11"/>
          <p:cNvSpPr>
            <a:spLocks noGrp="1"/>
          </p:cNvSpPr>
          <p:nvPr/>
        </p:nvSpPr>
        <p:spPr>
          <a:xfrm>
            <a:off x="533400" y="552450"/>
            <a:ext cx="11096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安全不能只靠模型“自觉”</a:t>
            </a:r>
            <a:endParaRPr sz="34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28" name="header-rule-11"/>
          <p:cNvCxnSpPr/>
          <p:nvPr/>
        </p:nvCxnSpPr>
        <p:spPr>
          <a:xfrm>
            <a:off x="533400" y="1238250"/>
            <a:ext cx="11125200" cy="0"/>
          </a:xfrm>
          <a:prstGeom prst="straightConnector1">
            <a:avLst/>
          </a:prstGeom>
          <a:ln w="9525">
            <a:solidFill>
              <a:srgbClr val="CBC7BE"/>
            </a:solidFill>
            <a:prstDash val="solid"/>
          </a:ln>
        </p:spPr>
      </p:cxnSp>
      <p:sp>
        <p:nvSpPr>
          <p:cNvPr id="4" name="source-11"/>
          <p:cNvSpPr>
            <a:spLocks noGrp="1"/>
          </p:cNvSpPr>
          <p:nvPr/>
        </p:nvSpPr>
        <p:spPr>
          <a:xfrm>
            <a:off x="533400" y="64960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来源：backend/main.py、结项技术文档</a:t>
            </a:r>
            <a:endParaRPr sz="825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11"/>
          <p:cNvSpPr>
            <a:spLocks noGrp="1"/>
          </p:cNvSpPr>
          <p:nvPr/>
        </p:nvSpPr>
        <p:spPr>
          <a:xfrm>
            <a:off x="11106150" y="64198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sz="1050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pipe-node-0"/>
          <p:cNvSpPr>
            <a:spLocks noGrp="1"/>
          </p:cNvSpPr>
          <p:nvPr/>
        </p:nvSpPr>
        <p:spPr>
          <a:xfrm>
            <a:off x="523875" y="2428875"/>
            <a:ext cx="180975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CBC7BE"/>
            </a:solidFill>
            <a:prstDash val="solid"/>
          </a:ln>
        </p:spPr>
      </p:sp>
      <p:sp>
        <p:nvSpPr>
          <p:cNvPr id="7" name="pipe-node-1"/>
          <p:cNvSpPr>
            <a:spLocks noGrp="1"/>
          </p:cNvSpPr>
          <p:nvPr/>
        </p:nvSpPr>
        <p:spPr>
          <a:xfrm>
            <a:off x="2809875" y="2428875"/>
            <a:ext cx="1809750" cy="1047750"/>
          </a:xfrm>
          <a:prstGeom prst="roundRect">
            <a:avLst>
              <a:gd name="adj" fmla="val 10909"/>
            </a:avLst>
          </a:prstGeom>
          <a:solidFill>
            <a:srgbClr val="FFF1C7"/>
          </a:solidFill>
          <a:ln w="9525">
            <a:solidFill>
              <a:srgbClr val="CBC7BE"/>
            </a:solidFill>
            <a:prstDash val="solid"/>
          </a:ln>
        </p:spPr>
      </p:sp>
      <p:sp>
        <p:nvSpPr>
          <p:cNvPr id="8" name="pipe-node-2"/>
          <p:cNvSpPr>
            <a:spLocks noGrp="1"/>
          </p:cNvSpPr>
          <p:nvPr/>
        </p:nvSpPr>
        <p:spPr>
          <a:xfrm>
            <a:off x="5095875" y="2428875"/>
            <a:ext cx="1809750" cy="1047750"/>
          </a:xfrm>
          <a:prstGeom prst="roundRect">
            <a:avLst>
              <a:gd name="adj" fmla="val 10909"/>
            </a:avLst>
          </a:prstGeom>
          <a:solidFill>
            <a:srgbClr val="F5F2EC"/>
          </a:solidFill>
          <a:ln w="9525">
            <a:solidFill>
              <a:srgbClr val="CBC7BE"/>
            </a:solidFill>
            <a:prstDash val="solid"/>
          </a:ln>
        </p:spPr>
      </p:sp>
      <p:sp>
        <p:nvSpPr>
          <p:cNvPr id="9" name="pipe-node-3"/>
          <p:cNvSpPr>
            <a:spLocks noGrp="1"/>
          </p:cNvSpPr>
          <p:nvPr/>
        </p:nvSpPr>
        <p:spPr>
          <a:xfrm>
            <a:off x="7381875" y="2428875"/>
            <a:ext cx="1809750" cy="1047750"/>
          </a:xfrm>
          <a:prstGeom prst="roundRect">
            <a:avLst>
              <a:gd name="adj" fmla="val 10909"/>
            </a:avLst>
          </a:prstGeom>
          <a:solidFill>
            <a:srgbClr val="FAE5D7"/>
          </a:solidFill>
          <a:ln w="9525">
            <a:solidFill>
              <a:srgbClr val="CBC7BE"/>
            </a:solidFill>
            <a:prstDash val="solid"/>
          </a:ln>
        </p:spPr>
      </p:sp>
      <p:sp>
        <p:nvSpPr>
          <p:cNvPr id="10" name="pipe-node-4"/>
          <p:cNvSpPr>
            <a:spLocks noGrp="1"/>
          </p:cNvSpPr>
          <p:nvPr/>
        </p:nvSpPr>
        <p:spPr>
          <a:xfrm>
            <a:off x="9667875" y="2428875"/>
            <a:ext cx="180975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CBC7BE"/>
            </a:solidFill>
            <a:prstDash val="solid"/>
          </a:ln>
        </p:spPr>
      </p:sp>
      <p:cxnSp>
        <p:nvCxnSpPr>
          <p:cNvPr id="36" name="直接箭头连接符 35"/>
          <p:cNvCxnSpPr>
            <a:stCxn id="6" idx="3"/>
            <a:endCxn id="7" idx="1"/>
          </p:cNvCxnSpPr>
          <p:nvPr/>
        </p:nvCxnSpPr>
        <p:spPr>
          <a:xfrm>
            <a:off x="2333625" y="2952750"/>
            <a:ext cx="476250" cy="0"/>
          </a:xfrm>
          <a:prstGeom prst="straightConnector1">
            <a:avLst/>
          </a:prstGeom>
          <a:ln w="19050">
            <a:solidFill>
              <a:srgbClr val="BE9A3F"/>
            </a:solidFill>
            <a:prstDash val="solid"/>
            <a:tailEnd type="arrow" w="med" len="med"/>
          </a:ln>
        </p:spPr>
      </p:cxnSp>
      <p:cxnSp>
        <p:nvCxnSpPr>
          <p:cNvPr id="37" name="直接箭头连接符 36"/>
          <p:cNvCxnSpPr>
            <a:stCxn id="7" idx="3"/>
            <a:endCxn id="8" idx="1"/>
          </p:cNvCxnSpPr>
          <p:nvPr/>
        </p:nvCxnSpPr>
        <p:spPr>
          <a:xfrm>
            <a:off x="4619625" y="2952750"/>
            <a:ext cx="476250" cy="0"/>
          </a:xfrm>
          <a:prstGeom prst="straightConnector1">
            <a:avLst/>
          </a:prstGeom>
          <a:ln w="19050">
            <a:solidFill>
              <a:srgbClr val="CBC7BE"/>
            </a:solidFill>
            <a:prstDash val="solid"/>
            <a:tailEnd type="arrow" w="med" len="med"/>
          </a:ln>
        </p:spPr>
      </p:cxnSp>
      <p:cxnSp>
        <p:nvCxnSpPr>
          <p:cNvPr id="38" name="直接箭头连接符 37"/>
          <p:cNvCxnSpPr>
            <a:stCxn id="8" idx="3"/>
            <a:endCxn id="9" idx="1"/>
          </p:cNvCxnSpPr>
          <p:nvPr/>
        </p:nvCxnSpPr>
        <p:spPr>
          <a:xfrm>
            <a:off x="6905625" y="2952750"/>
            <a:ext cx="476250" cy="0"/>
          </a:xfrm>
          <a:prstGeom prst="straightConnector1">
            <a:avLst/>
          </a:prstGeom>
          <a:ln w="19050">
            <a:solidFill>
              <a:srgbClr val="CBC7BE"/>
            </a:solidFill>
            <a:prstDash val="solid"/>
            <a:tailEnd type="arrow" w="med" len="med"/>
          </a:ln>
        </p:spPr>
      </p:cxnSp>
      <p:cxnSp>
        <p:nvCxnSpPr>
          <p:cNvPr id="39" name="直接箭头连接符 38"/>
          <p:cNvCxnSpPr>
            <a:stCxn id="9" idx="3"/>
            <a:endCxn id="10" idx="1"/>
          </p:cNvCxnSpPr>
          <p:nvPr/>
        </p:nvCxnSpPr>
        <p:spPr>
          <a:xfrm>
            <a:off x="9191625" y="2952750"/>
            <a:ext cx="476250" cy="0"/>
          </a:xfrm>
          <a:prstGeom prst="straightConnector1">
            <a:avLst/>
          </a:prstGeom>
          <a:ln w="19050">
            <a:solidFill>
              <a:srgbClr val="CBC7BE"/>
            </a:solidFill>
            <a:prstDash val="solid"/>
            <a:tailEnd type="arrow" w="med" len="med"/>
          </a:ln>
        </p:spPr>
      </p:cxnSp>
      <p:sp>
        <p:nvSpPr>
          <p:cNvPr id="15" name="pipe-text-0"/>
          <p:cNvSpPr>
            <a:spLocks noGrp="1"/>
          </p:cNvSpPr>
          <p:nvPr/>
        </p:nvSpPr>
        <p:spPr>
          <a:xfrm>
            <a:off x="647700" y="2752725"/>
            <a:ext cx="1562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用户输入</a:t>
            </a:r>
            <a:endParaRPr sz="150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6" name="pipe-text-1"/>
          <p:cNvSpPr>
            <a:spLocks noGrp="1"/>
          </p:cNvSpPr>
          <p:nvPr/>
        </p:nvSpPr>
        <p:spPr>
          <a:xfrm>
            <a:off x="2933700" y="2752725"/>
            <a:ext cx="1562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入口安全判断</a:t>
            </a:r>
            <a:endParaRPr sz="150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7" name="pipe-text-2"/>
          <p:cNvSpPr>
            <a:spLocks noGrp="1"/>
          </p:cNvSpPr>
          <p:nvPr/>
        </p:nvSpPr>
        <p:spPr>
          <a:xfrm>
            <a:off x="5219700" y="2752725"/>
            <a:ext cx="1562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4232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Agent + 6 skills</a:t>
            </a:r>
            <a:endParaRPr sz="1500" b="1">
              <a:solidFill>
                <a:srgbClr val="24232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8" name="pipe-text-3"/>
          <p:cNvSpPr>
            <a:spLocks noGrp="1"/>
          </p:cNvSpPr>
          <p:nvPr/>
        </p:nvSpPr>
        <p:spPr>
          <a:xfrm>
            <a:off x="7505700" y="2752725"/>
            <a:ext cx="1562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输出安全复核</a:t>
            </a:r>
            <a:endParaRPr sz="150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9" name="pipe-text-4"/>
          <p:cNvSpPr>
            <a:spLocks noGrp="1"/>
          </p:cNvSpPr>
          <p:nvPr/>
        </p:nvSpPr>
        <p:spPr>
          <a:xfrm>
            <a:off x="9791700" y="2752725"/>
            <a:ext cx="1562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返回用户</a:t>
            </a:r>
            <a:endParaRPr sz="150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0" name="bypass"/>
          <p:cNvSpPr>
            <a:spLocks noGrp="1"/>
          </p:cNvSpPr>
          <p:nvPr/>
        </p:nvSpPr>
        <p:spPr>
          <a:xfrm>
            <a:off x="2857500" y="4476750"/>
            <a:ext cx="6400800" cy="876300"/>
          </a:xfrm>
          <a:prstGeom prst="roundRect">
            <a:avLst>
              <a:gd name="adj" fmla="val 13043"/>
            </a:avLst>
          </a:prstGeom>
          <a:solidFill>
            <a:srgbClr val="F6DFDD"/>
          </a:solidFill>
          <a:ln w="0">
            <a:noFill/>
            <a:prstDash val="solid"/>
          </a:ln>
        </p:spPr>
      </p:sp>
      <p:sp>
        <p:nvSpPr>
          <p:cNvPr id="21" name="bypass-label"/>
          <p:cNvSpPr>
            <a:spLocks noGrp="1"/>
          </p:cNvSpPr>
          <p:nvPr/>
        </p:nvSpPr>
        <p:spPr>
          <a:xfrm>
            <a:off x="3143250" y="46863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B4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B4474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紧急帮助按钮 / 明确红灯</a:t>
            </a:r>
            <a:endParaRPr sz="1500" b="1">
              <a:solidFill>
                <a:srgbClr val="B4474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bypass-action"/>
          <p:cNvSpPr>
            <a:spLocks noGrp="1"/>
          </p:cNvSpPr>
          <p:nvPr/>
        </p:nvSpPr>
        <p:spPr>
          <a:xfrm>
            <a:off x="5810250" y="4667250"/>
            <a:ext cx="3162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不调用模型 → 直接返回真人支持、当地紧急服务与 12356</a:t>
            </a:r>
            <a:r>
              <a:rPr lang="en-US" sz="13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3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指代</a:t>
            </a:r>
            <a:r>
              <a:rPr lang="en-US" sz="13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sz="13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48" name="肘形连接符 47"/>
          <p:cNvCxnSpPr>
            <a:stCxn id="7" idx="2"/>
            <a:endCxn id="20" idx="0"/>
          </p:cNvCxnSpPr>
          <p:nvPr/>
        </p:nvCxnSpPr>
        <p:spPr>
          <a:xfrm>
            <a:off x="3714750" y="3476625"/>
            <a:ext cx="2343150" cy="1000125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B44747"/>
            </a:solidFill>
            <a:prstDash val="solid"/>
            <a:tailEnd type="arrow" w="med" len="med"/>
          </a:ln>
        </p:spPr>
      </p:cxnSp>
      <p:sp>
        <p:nvSpPr>
          <p:cNvPr id="24" name="history-note"/>
          <p:cNvSpPr>
            <a:spLocks noGrp="1"/>
          </p:cNvSpPr>
          <p:nvPr/>
        </p:nvSpPr>
        <p:spPr>
          <a:xfrm>
            <a:off x="523875" y="5657850"/>
            <a:ext cx="10829925" cy="428625"/>
          </a:xfrm>
          <a:prstGeom prst="roundRect">
            <a:avLst>
              <a:gd name="adj" fmla="val 17778"/>
            </a:avLst>
          </a:prstGeom>
          <a:solidFill>
            <a:srgbClr val="F5F2EC"/>
          </a:solidFill>
          <a:ln w="0">
            <a:noFill/>
            <a:prstDash val="solid"/>
          </a:ln>
        </p:spPr>
      </p:sp>
      <p:sp>
        <p:nvSpPr>
          <p:cNvPr id="25" name="history-note-text"/>
          <p:cNvSpPr>
            <a:spLocks noGrp="1"/>
          </p:cNvSpPr>
          <p:nvPr/>
        </p:nvSpPr>
        <p:spPr>
          <a:xfrm>
            <a:off x="762000" y="5772150"/>
            <a:ext cx="10334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历史清洗避免旧危机回复污染新判断；断网时危机路径仍保留确定性兜底。</a:t>
            </a:r>
            <a:endParaRPr sz="135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-12"/>
          <p:cNvSpPr>
            <a:spLocks noGrp="1"/>
          </p:cNvSpPr>
          <p:nvPr/>
        </p:nvSpPr>
        <p:spPr>
          <a:xfrm>
            <a:off x="533400" y="27622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8E603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SOLUTION</a:t>
            </a:r>
            <a:endParaRPr sz="975" b="1">
              <a:solidFill>
                <a:srgbClr val="8E603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" name="title-12"/>
          <p:cNvSpPr>
            <a:spLocks noGrp="1"/>
          </p:cNvSpPr>
          <p:nvPr/>
        </p:nvSpPr>
        <p:spPr>
          <a:xfrm>
            <a:off x="533400" y="552450"/>
            <a:ext cx="11096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一个真正可访问、可对话的公网产品</a:t>
            </a:r>
            <a:endParaRPr sz="34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cxnSp>
        <p:nvCxnSpPr>
          <p:cNvPr id="27" name="header-rule-12"/>
          <p:cNvCxnSpPr/>
          <p:nvPr/>
        </p:nvCxnSpPr>
        <p:spPr>
          <a:xfrm>
            <a:off x="533400" y="1238250"/>
            <a:ext cx="11125200" cy="0"/>
          </a:xfrm>
          <a:prstGeom prst="straightConnector1">
            <a:avLst/>
          </a:prstGeom>
          <a:ln w="9525">
            <a:solidFill>
              <a:srgbClr val="CBC7BE"/>
            </a:solidFill>
            <a:prstDash val="solid"/>
          </a:ln>
        </p:spPr>
      </p:cxnSp>
      <p:sp>
        <p:nvSpPr>
          <p:cNvPr id="4" name="source-12"/>
          <p:cNvSpPr>
            <a:spLocks noGrp="1"/>
          </p:cNvSpPr>
          <p:nvPr/>
        </p:nvSpPr>
        <p:spPr>
          <a:xfrm>
            <a:off x="533400" y="64960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来源：当前结项技术文档；2026-07-14 公网健康检查</a:t>
            </a:r>
            <a:endParaRPr sz="825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12"/>
          <p:cNvSpPr>
            <a:spLocks noGrp="1"/>
          </p:cNvSpPr>
          <p:nvPr/>
        </p:nvSpPr>
        <p:spPr>
          <a:xfrm>
            <a:off x="11106150" y="64198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lang="en-US" sz="1050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arch-browser"/>
          <p:cNvSpPr>
            <a:spLocks noGrp="1"/>
          </p:cNvSpPr>
          <p:nvPr/>
        </p:nvSpPr>
        <p:spPr>
          <a:xfrm>
            <a:off x="666750" y="2266950"/>
            <a:ext cx="2095500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CBC7BE"/>
            </a:solidFill>
            <a:prstDash val="solid"/>
          </a:ln>
        </p:spPr>
      </p:sp>
      <p:sp>
        <p:nvSpPr>
          <p:cNvPr id="7" name="arch-pages"/>
          <p:cNvSpPr>
            <a:spLocks noGrp="1"/>
          </p:cNvSpPr>
          <p:nvPr/>
        </p:nvSpPr>
        <p:spPr>
          <a:xfrm>
            <a:off x="3429000" y="2266950"/>
            <a:ext cx="2095500" cy="1238250"/>
          </a:xfrm>
          <a:prstGeom prst="roundRect">
            <a:avLst>
              <a:gd name="adj" fmla="val 9231"/>
            </a:avLst>
          </a:prstGeom>
          <a:solidFill>
            <a:srgbClr val="E5EDE9"/>
          </a:solidFill>
          <a:ln w="9525">
            <a:solidFill>
              <a:srgbClr val="CBC7BE"/>
            </a:solidFill>
            <a:prstDash val="solid"/>
          </a:ln>
        </p:spPr>
      </p:sp>
      <p:sp>
        <p:nvSpPr>
          <p:cNvPr id="8" name="arch-api"/>
          <p:cNvSpPr>
            <a:spLocks noGrp="1"/>
          </p:cNvSpPr>
          <p:nvPr/>
        </p:nvSpPr>
        <p:spPr>
          <a:xfrm>
            <a:off x="6191250" y="2266950"/>
            <a:ext cx="2095500" cy="1238250"/>
          </a:xfrm>
          <a:prstGeom prst="roundRect">
            <a:avLst>
              <a:gd name="adj" fmla="val 9231"/>
            </a:avLst>
          </a:prstGeom>
          <a:solidFill>
            <a:srgbClr val="F2E8DB"/>
          </a:solidFill>
          <a:ln w="9525">
            <a:solidFill>
              <a:srgbClr val="CBC7BE"/>
            </a:solidFill>
            <a:prstDash val="solid"/>
          </a:ln>
        </p:spPr>
      </p:sp>
      <p:sp>
        <p:nvSpPr>
          <p:cNvPr id="9" name="arch-model"/>
          <p:cNvSpPr>
            <a:spLocks noGrp="1"/>
          </p:cNvSpPr>
          <p:nvPr/>
        </p:nvSpPr>
        <p:spPr>
          <a:xfrm>
            <a:off x="8953500" y="2266950"/>
            <a:ext cx="2095500" cy="1238250"/>
          </a:xfrm>
          <a:prstGeom prst="roundRect">
            <a:avLst>
              <a:gd name="adj" fmla="val 9231"/>
            </a:avLst>
          </a:prstGeom>
          <a:solidFill>
            <a:srgbClr val="F5F2EC"/>
          </a:solidFill>
          <a:ln w="9525">
            <a:solidFill>
              <a:srgbClr val="CBC7BE"/>
            </a:solidFill>
            <a:prstDash val="solid"/>
          </a:ln>
        </p:spPr>
      </p:sp>
      <p:cxnSp>
        <p:nvCxnSpPr>
          <p:cNvPr id="34" name="直接箭头连接符 33"/>
          <p:cNvCxnSpPr>
            <a:stCxn id="6" idx="3"/>
            <a:endCxn id="7" idx="1"/>
          </p:cNvCxnSpPr>
          <p:nvPr/>
        </p:nvCxnSpPr>
        <p:spPr>
          <a:xfrm>
            <a:off x="2762250" y="2886075"/>
            <a:ext cx="666750" cy="0"/>
          </a:xfrm>
          <a:prstGeom prst="straightConnector1">
            <a:avLst/>
          </a:prstGeom>
          <a:ln w="19050">
            <a:solidFill>
              <a:srgbClr val="6E8B80"/>
            </a:solidFill>
            <a:prstDash val="solid"/>
            <a:tailEnd type="arrow" w="med" len="med"/>
          </a:ln>
        </p:spPr>
      </p:cxnSp>
      <p:cxnSp>
        <p:nvCxnSpPr>
          <p:cNvPr id="35" name="直接箭头连接符 34"/>
          <p:cNvCxnSpPr>
            <a:stCxn id="7" idx="3"/>
            <a:endCxn id="8" idx="1"/>
          </p:cNvCxnSpPr>
          <p:nvPr/>
        </p:nvCxnSpPr>
        <p:spPr>
          <a:xfrm>
            <a:off x="5524500" y="2886075"/>
            <a:ext cx="666750" cy="0"/>
          </a:xfrm>
          <a:prstGeom prst="straightConnector1">
            <a:avLst/>
          </a:prstGeom>
          <a:ln w="19050">
            <a:solidFill>
              <a:srgbClr val="8E6035"/>
            </a:solidFill>
            <a:prstDash val="solid"/>
            <a:tailEnd type="arrow" w="med" len="med"/>
          </a:ln>
        </p:spPr>
      </p:cxnSp>
      <p:cxnSp>
        <p:nvCxnSpPr>
          <p:cNvPr id="36" name="直接箭头连接符 35"/>
          <p:cNvCxnSpPr>
            <a:stCxn id="8" idx="3"/>
            <a:endCxn id="9" idx="1"/>
          </p:cNvCxnSpPr>
          <p:nvPr/>
        </p:nvCxnSpPr>
        <p:spPr>
          <a:xfrm>
            <a:off x="8286750" y="2886075"/>
            <a:ext cx="666750" cy="0"/>
          </a:xfrm>
          <a:prstGeom prst="straightConnector1">
            <a:avLst/>
          </a:prstGeom>
          <a:ln w="19050">
            <a:solidFill>
              <a:srgbClr val="242320"/>
            </a:solidFill>
            <a:prstDash val="solid"/>
            <a:tailEnd type="arrow" w="med" len="med"/>
          </a:ln>
        </p:spPr>
      </p:cxnSp>
      <p:sp>
        <p:nvSpPr>
          <p:cNvPr id="13" name="arch-browser-text"/>
          <p:cNvSpPr>
            <a:spLocks noGrp="1"/>
          </p:cNvSpPr>
          <p:nvPr/>
        </p:nvSpPr>
        <p:spPr>
          <a:xfrm>
            <a:off x="857250" y="2562225"/>
            <a:ext cx="171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手机 / 电脑</a:t>
            </a:r>
            <a:endParaRPr sz="16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defRPr sz="16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浏览器</a:t>
            </a:r>
            <a:endParaRPr sz="16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arch-pages-text"/>
          <p:cNvSpPr>
            <a:spLocks noGrp="1"/>
          </p:cNvSpPr>
          <p:nvPr/>
        </p:nvSpPr>
        <p:spPr>
          <a:xfrm>
            <a:off x="3619500" y="2562225"/>
            <a:ext cx="171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GitHub Pages</a:t>
            </a:r>
            <a:endParaRPr sz="16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defRPr sz="16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静态前端</a:t>
            </a:r>
            <a:endParaRPr sz="16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arch-api-text"/>
          <p:cNvSpPr>
            <a:spLocks noGrp="1"/>
          </p:cNvSpPr>
          <p:nvPr/>
        </p:nvSpPr>
        <p:spPr>
          <a:xfrm>
            <a:off x="6381750" y="2562225"/>
            <a:ext cx="171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Render</a:t>
            </a:r>
            <a:endParaRPr sz="16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algn="ctr">
              <a:defRPr sz="16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FastAPI 3.3.1</a:t>
            </a:r>
            <a:endParaRPr sz="16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6" name="arch-model-text"/>
          <p:cNvSpPr>
            <a:spLocks noGrp="1"/>
          </p:cNvSpPr>
          <p:nvPr/>
        </p:nvSpPr>
        <p:spPr>
          <a:xfrm>
            <a:off x="9144000" y="2562225"/>
            <a:ext cx="171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909"/>
          </a:bodyPr>
          <a:lstStyle/>
          <a:p>
            <a:pPr algn="ctr">
              <a:defRPr sz="16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OpenRouter</a:t>
            </a:r>
            <a:endParaRPr sz="16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  <a:p>
            <a:pPr algn="ctr">
              <a:defRPr sz="16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DeepSeek V4 Flash</a:t>
            </a:r>
            <a:endParaRPr sz="16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7" name="localstorage"/>
          <p:cNvSpPr>
            <a:spLocks noGrp="1"/>
          </p:cNvSpPr>
          <p:nvPr/>
        </p:nvSpPr>
        <p:spPr>
          <a:xfrm>
            <a:off x="1143000" y="4171950"/>
            <a:ext cx="3143250" cy="1000125"/>
          </a:xfrm>
          <a:prstGeom prst="roundRect">
            <a:avLst>
              <a:gd name="adj" fmla="val 7619"/>
            </a:avLst>
          </a:prstGeom>
          <a:solidFill>
            <a:srgbClr val="F5F2EC"/>
          </a:solidFill>
          <a:ln w="0">
            <a:noFill/>
            <a:prstDash val="solid"/>
          </a:ln>
        </p:spPr>
      </p:sp>
      <p:sp>
        <p:nvSpPr>
          <p:cNvPr id="18" name="localstorage-text"/>
          <p:cNvSpPr>
            <a:spLocks noGrp="1"/>
          </p:cNvSpPr>
          <p:nvPr/>
        </p:nvSpPr>
        <p:spPr>
          <a:xfrm>
            <a:off x="1381125" y="4362450"/>
            <a:ext cx="2667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13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24232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localStorage</a:t>
            </a:r>
            <a:endParaRPr sz="13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defRPr sz="13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对话与界面设置保存在当前浏览器</a:t>
            </a:r>
            <a:endParaRPr sz="140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nv"/>
          <p:cNvSpPr>
            <a:spLocks noGrp="1"/>
          </p:cNvSpPr>
          <p:nvPr/>
        </p:nvSpPr>
        <p:spPr>
          <a:xfrm>
            <a:off x="4762500" y="4171950"/>
            <a:ext cx="2667000" cy="1000125"/>
          </a:xfrm>
          <a:prstGeom prst="roundRect">
            <a:avLst>
              <a:gd name="adj" fmla="val 7619"/>
            </a:avLst>
          </a:prstGeom>
          <a:solidFill>
            <a:srgbClr val="F5F2EC"/>
          </a:solidFill>
          <a:ln w="0">
            <a:noFill/>
            <a:prstDash val="solid"/>
          </a:ln>
        </p:spPr>
      </p:sp>
      <p:sp>
        <p:nvSpPr>
          <p:cNvPr id="20" name="env-text"/>
          <p:cNvSpPr>
            <a:spLocks noGrp="1"/>
          </p:cNvSpPr>
          <p:nvPr/>
        </p:nvSpPr>
        <p:spPr>
          <a:xfrm>
            <a:off x="5000625" y="4362450"/>
            <a:ext cx="219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24232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Render Environment</a:t>
            </a:r>
            <a:endParaRPr sz="1350" b="1">
              <a:solidFill>
                <a:srgbClr val="2423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模型密钥只留后端</a:t>
            </a:r>
            <a:endParaRPr sz="140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1" name="health"/>
          <p:cNvSpPr>
            <a:spLocks noGrp="1"/>
          </p:cNvSpPr>
          <p:nvPr/>
        </p:nvSpPr>
        <p:spPr>
          <a:xfrm>
            <a:off x="7905750" y="4000500"/>
            <a:ext cx="3143250" cy="1371600"/>
          </a:xfrm>
          <a:prstGeom prst="roundRect">
            <a:avLst>
              <a:gd name="adj" fmla="val 5556"/>
            </a:avLst>
          </a:prstGeom>
          <a:solidFill>
            <a:srgbClr val="242320"/>
          </a:solidFill>
          <a:ln w="0">
            <a:noFill/>
            <a:prstDash val="solid"/>
          </a:ln>
        </p:spPr>
      </p:sp>
      <p:sp>
        <p:nvSpPr>
          <p:cNvPr id="22" name="health-json"/>
          <p:cNvSpPr>
            <a:spLocks noGrp="1"/>
          </p:cNvSpPr>
          <p:nvPr/>
        </p:nvSpPr>
        <p:spPr>
          <a:xfrm>
            <a:off x="8172450" y="4191000"/>
            <a:ext cx="26289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00" b="0">
                <a:solidFill>
                  <a:srgbClr val="FFFFFF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{</a:t>
            </a:r>
            <a:endParaRPr sz="1200" b="0">
              <a:solidFill>
                <a:srgbClr val="FFFFFF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defRPr sz="1200" b="0">
                <a:solidFill>
                  <a:srgbClr val="FFFFFF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00" b="0">
                <a:solidFill>
                  <a:srgbClr val="FFFFFF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"status": "ok",</a:t>
            </a:r>
            <a:endParaRPr sz="1200" b="0">
              <a:solidFill>
                <a:srgbClr val="FFFFFF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defRPr sz="1200" b="0">
                <a:solidFill>
                  <a:srgbClr val="FFFFFF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00" b="0">
                <a:solidFill>
                  <a:srgbClr val="FFFFFF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"version": "3.3.1",</a:t>
            </a:r>
            <a:endParaRPr sz="1200" b="0">
              <a:solidFill>
                <a:srgbClr val="FFFFFF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defRPr sz="1200" b="0">
                <a:solidFill>
                  <a:srgbClr val="FFFFFF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00" b="0">
                <a:solidFill>
                  <a:srgbClr val="FFFFFF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"has_key": true</a:t>
            </a:r>
            <a:endParaRPr sz="1200" b="0">
              <a:solidFill>
                <a:srgbClr val="FFFFFF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defRPr sz="1200" b="0">
                <a:solidFill>
                  <a:srgbClr val="FFFFFF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00" b="0">
                <a:solidFill>
                  <a:srgbClr val="FFFFFF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}</a:t>
            </a:r>
            <a:endParaRPr sz="1200" b="0">
              <a:solidFill>
                <a:srgbClr val="FFFFFF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23" name="arch-protocol"/>
          <p:cNvSpPr>
            <a:spLocks noGrp="1"/>
          </p:cNvSpPr>
          <p:nvPr/>
        </p:nvSpPr>
        <p:spPr>
          <a:xfrm>
            <a:off x="2914650" y="25717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77736D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HTTPS</a:t>
            </a:r>
            <a:endParaRPr sz="1000" b="1">
              <a:solidFill>
                <a:srgbClr val="77736D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4" name="arch-api-label"/>
          <p:cNvSpPr>
            <a:spLocks noGrp="1"/>
          </p:cNvSpPr>
          <p:nvPr/>
        </p:nvSpPr>
        <p:spPr>
          <a:xfrm>
            <a:off x="5562600" y="2571750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>
                <a:solidFill>
                  <a:srgbClr val="77736D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POST /api/chat</a:t>
            </a:r>
            <a:endParaRPr sz="1000" b="1">
              <a:solidFill>
                <a:srgbClr val="77736D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-13"/>
          <p:cNvSpPr>
            <a:spLocks noGrp="1"/>
          </p:cNvSpPr>
          <p:nvPr/>
        </p:nvSpPr>
        <p:spPr>
          <a:xfrm>
            <a:off x="533400" y="27622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8E603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SOLUTION</a:t>
            </a:r>
            <a:endParaRPr sz="975" b="1">
              <a:solidFill>
                <a:srgbClr val="8E603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" name="title-13"/>
          <p:cNvSpPr>
            <a:spLocks noGrp="1"/>
          </p:cNvSpPr>
          <p:nvPr/>
        </p:nvSpPr>
        <p:spPr>
          <a:xfrm>
            <a:off x="533400" y="552450"/>
            <a:ext cx="11096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每个产品选择都回应一个真实风险</a:t>
            </a:r>
            <a:endParaRPr sz="34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cxnSp>
        <p:nvCxnSpPr>
          <p:cNvPr id="28" name="header-rule-13"/>
          <p:cNvCxnSpPr/>
          <p:nvPr/>
        </p:nvCxnSpPr>
        <p:spPr>
          <a:xfrm>
            <a:off x="533400" y="1238250"/>
            <a:ext cx="11125200" cy="0"/>
          </a:xfrm>
          <a:prstGeom prst="straightConnector1">
            <a:avLst/>
          </a:prstGeom>
          <a:ln w="9525">
            <a:solidFill>
              <a:srgbClr val="CBC7BE"/>
            </a:solidFill>
            <a:prstDash val="solid"/>
          </a:ln>
        </p:spPr>
      </p:cxnSp>
      <p:sp>
        <p:nvSpPr>
          <p:cNvPr id="4" name="source-13"/>
          <p:cNvSpPr>
            <a:spLocks noGrp="1"/>
          </p:cNvSpPr>
          <p:nvPr/>
        </p:nvSpPr>
        <p:spPr>
          <a:xfrm>
            <a:off x="533400" y="64960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来源：T4 PRD、前端安全清单、结项技术文档</a:t>
            </a:r>
            <a:endParaRPr sz="825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13"/>
          <p:cNvSpPr>
            <a:spLocks noGrp="1"/>
          </p:cNvSpPr>
          <p:nvPr/>
        </p:nvSpPr>
        <p:spPr>
          <a:xfrm>
            <a:off x="11106150" y="64198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lang="en-US" sz="1050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map-head-left"/>
          <p:cNvSpPr>
            <a:spLocks noGrp="1"/>
          </p:cNvSpPr>
          <p:nvPr/>
        </p:nvSpPr>
        <p:spPr>
          <a:xfrm>
            <a:off x="666750" y="15811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77736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风险 / 需求</a:t>
            </a:r>
            <a:endParaRPr sz="1275" b="1">
              <a:solidFill>
                <a:srgbClr val="77736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map-head-right"/>
          <p:cNvSpPr>
            <a:spLocks noGrp="1"/>
          </p:cNvSpPr>
          <p:nvPr/>
        </p:nvSpPr>
        <p:spPr>
          <a:xfrm>
            <a:off x="3143250" y="158115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77736D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产品设计</a:t>
            </a:r>
            <a:endParaRPr sz="1275" b="1">
              <a:solidFill>
                <a:srgbClr val="77736D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cxnSp>
        <p:nvCxnSpPr>
          <p:cNvPr id="33" name="map-head-rule"/>
          <p:cNvCxnSpPr/>
          <p:nvPr/>
        </p:nvCxnSpPr>
        <p:spPr>
          <a:xfrm>
            <a:off x="647700" y="1952625"/>
            <a:ext cx="6858000" cy="0"/>
          </a:xfrm>
          <a:prstGeom prst="straightConnector1">
            <a:avLst/>
          </a:prstGeom>
          <a:ln w="9525">
            <a:solidFill>
              <a:srgbClr val="CBC7BE"/>
            </a:solidFill>
            <a:prstDash val="solid"/>
          </a:ln>
        </p:spPr>
      </p:cxnSp>
      <p:sp>
        <p:nvSpPr>
          <p:cNvPr id="9" name="map-bg-0"/>
          <p:cNvSpPr>
            <a:spLocks noGrp="1"/>
          </p:cNvSpPr>
          <p:nvPr/>
        </p:nvSpPr>
        <p:spPr>
          <a:xfrm>
            <a:off x="609600" y="2028825"/>
            <a:ext cx="6915150" cy="552450"/>
          </a:xfrm>
          <a:prstGeom prst="roundRect">
            <a:avLst>
              <a:gd name="adj" fmla="val 13793"/>
            </a:avLst>
          </a:prstGeom>
          <a:solidFill>
            <a:srgbClr val="F5F2EC"/>
          </a:solidFill>
          <a:ln w="0">
            <a:noFill/>
            <a:prstDash val="solid"/>
          </a:ln>
        </p:spPr>
      </p:sp>
      <p:sp>
        <p:nvSpPr>
          <p:cNvPr id="10" name="map-left-0"/>
          <p:cNvSpPr>
            <a:spLocks noGrp="1"/>
          </p:cNvSpPr>
          <p:nvPr/>
        </p:nvSpPr>
        <p:spPr>
          <a:xfrm>
            <a:off x="781050" y="214312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表达困难</a:t>
            </a:r>
            <a:endParaRPr sz="13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1" name="map-right-0"/>
          <p:cNvSpPr>
            <a:spLocks noGrp="1"/>
          </p:cNvSpPr>
          <p:nvPr/>
        </p:nvSpPr>
        <p:spPr>
          <a:xfrm>
            <a:off x="3143250" y="2143125"/>
            <a:ext cx="417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快捷场景入口</a:t>
            </a:r>
            <a:endParaRPr sz="135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2" name="map-left-1"/>
          <p:cNvSpPr>
            <a:spLocks noGrp="1"/>
          </p:cNvSpPr>
          <p:nvPr/>
        </p:nvSpPr>
        <p:spPr>
          <a:xfrm>
            <a:off x="781050" y="279082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过度依赖</a:t>
            </a:r>
            <a:endParaRPr sz="13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3" name="map-right-1"/>
          <p:cNvSpPr>
            <a:spLocks noGrp="1"/>
          </p:cNvSpPr>
          <p:nvPr/>
        </p:nvSpPr>
        <p:spPr>
          <a:xfrm>
            <a:off x="3143250" y="2790825"/>
            <a:ext cx="417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主动退场，不诱导继续聊</a:t>
            </a:r>
            <a:endParaRPr sz="135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4" name="map-bg-2"/>
          <p:cNvSpPr>
            <a:spLocks noGrp="1"/>
          </p:cNvSpPr>
          <p:nvPr/>
        </p:nvSpPr>
        <p:spPr>
          <a:xfrm>
            <a:off x="609600" y="3324225"/>
            <a:ext cx="6915150" cy="552450"/>
          </a:xfrm>
          <a:prstGeom prst="roundRect">
            <a:avLst>
              <a:gd name="adj" fmla="val 13793"/>
            </a:avLst>
          </a:prstGeom>
          <a:solidFill>
            <a:srgbClr val="F5F2EC"/>
          </a:solidFill>
          <a:ln w="0">
            <a:noFill/>
            <a:prstDash val="solid"/>
          </a:ln>
        </p:spPr>
      </p:sp>
      <p:sp>
        <p:nvSpPr>
          <p:cNvPr id="15" name="map-left-2"/>
          <p:cNvSpPr>
            <a:spLocks noGrp="1"/>
          </p:cNvSpPr>
          <p:nvPr/>
        </p:nvSpPr>
        <p:spPr>
          <a:xfrm>
            <a:off x="781050" y="343852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B4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B44747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诊断越界</a:t>
            </a:r>
            <a:endParaRPr sz="1350" b="1">
              <a:solidFill>
                <a:srgbClr val="B44747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6" name="map-right-2"/>
          <p:cNvSpPr>
            <a:spLocks noGrp="1"/>
          </p:cNvSpPr>
          <p:nvPr/>
        </p:nvSpPr>
        <p:spPr>
          <a:xfrm>
            <a:off x="3143250" y="3438525"/>
            <a:ext cx="417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禁止诊断式语言</a:t>
            </a:r>
            <a:endParaRPr sz="135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7" name="map-left-3"/>
          <p:cNvSpPr>
            <a:spLocks noGrp="1"/>
          </p:cNvSpPr>
          <p:nvPr/>
        </p:nvSpPr>
        <p:spPr>
          <a:xfrm>
            <a:off x="781050" y="408622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B4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B44747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密钥泄漏</a:t>
            </a:r>
            <a:endParaRPr sz="1350" b="1">
              <a:solidFill>
                <a:srgbClr val="B44747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8" name="map-right-3"/>
          <p:cNvSpPr>
            <a:spLocks noGrp="1"/>
          </p:cNvSpPr>
          <p:nvPr/>
        </p:nvSpPr>
        <p:spPr>
          <a:xfrm>
            <a:off x="3143250" y="4086225"/>
            <a:ext cx="417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前后端分离，key 只在环境变量</a:t>
            </a:r>
            <a:endParaRPr sz="135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map-bg-4"/>
          <p:cNvSpPr>
            <a:spLocks noGrp="1"/>
          </p:cNvSpPr>
          <p:nvPr/>
        </p:nvSpPr>
        <p:spPr>
          <a:xfrm>
            <a:off x="609600" y="4619625"/>
            <a:ext cx="6915150" cy="552450"/>
          </a:xfrm>
          <a:prstGeom prst="roundRect">
            <a:avLst>
              <a:gd name="adj" fmla="val 13793"/>
            </a:avLst>
          </a:prstGeom>
          <a:solidFill>
            <a:srgbClr val="F5F2EC"/>
          </a:solidFill>
          <a:ln w="0">
            <a:noFill/>
            <a:prstDash val="solid"/>
          </a:ln>
        </p:spPr>
      </p:sp>
      <p:sp>
        <p:nvSpPr>
          <p:cNvPr id="20" name="map-left-4"/>
          <p:cNvSpPr>
            <a:spLocks noGrp="1"/>
          </p:cNvSpPr>
          <p:nvPr/>
        </p:nvSpPr>
        <p:spPr>
          <a:xfrm>
            <a:off x="781050" y="473392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服务中断</a:t>
            </a:r>
            <a:endParaRPr sz="13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1" name="map-right-4"/>
          <p:cNvSpPr>
            <a:spLocks noGrp="1"/>
          </p:cNvSpPr>
          <p:nvPr/>
        </p:nvSpPr>
        <p:spPr>
          <a:xfrm>
            <a:off x="3143250" y="4733925"/>
            <a:ext cx="417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普通 / 危机双降级</a:t>
            </a:r>
            <a:endParaRPr sz="135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map-left-5"/>
          <p:cNvSpPr>
            <a:spLocks noGrp="1"/>
          </p:cNvSpPr>
          <p:nvPr/>
        </p:nvSpPr>
        <p:spPr>
          <a:xfrm>
            <a:off x="781050" y="538162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身份数据负担</a:t>
            </a:r>
            <a:endParaRPr sz="13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3" name="map-right-5"/>
          <p:cNvSpPr>
            <a:spLocks noGrp="1"/>
          </p:cNvSpPr>
          <p:nvPr/>
        </p:nvSpPr>
        <p:spPr>
          <a:xfrm>
            <a:off x="3143250" y="5381625"/>
            <a:ext cx="417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不设账号、不建服务端用户库</a:t>
            </a:r>
            <a:endParaRPr sz="135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4560" y="1375410"/>
            <a:ext cx="2661285" cy="48507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page-2"/>
          <p:cNvSpPr>
            <a:spLocks noGrp="1"/>
          </p:cNvSpPr>
          <p:nvPr/>
        </p:nvSpPr>
        <p:spPr>
          <a:xfrm>
            <a:off x="11106150" y="64198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lang="en-US" sz="1050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7"/>
          <p:cNvSpPr/>
          <p:nvPr>
            <p:custDataLst>
              <p:tags r:id="rId1"/>
            </p:custDataLst>
          </p:nvPr>
        </p:nvSpPr>
        <p:spPr>
          <a:xfrm>
            <a:off x="611505" y="1909445"/>
            <a:ext cx="10968990" cy="3213100"/>
          </a:xfrm>
          <a:custGeom>
            <a:avLst/>
            <a:gdLst>
              <a:gd name="connsiteX0" fmla="*/ 0 w 10969200"/>
              <a:gd name="connsiteY0" fmla="*/ 0 h 3529797"/>
              <a:gd name="connsiteX1" fmla="*/ 9748804 w 10969200"/>
              <a:gd name="connsiteY1" fmla="*/ 963548 h 3529797"/>
              <a:gd name="connsiteX2" fmla="*/ 10135800 w 10969200"/>
              <a:gd name="connsiteY2" fmla="*/ 955331 h 3529797"/>
              <a:gd name="connsiteX3" fmla="*/ 10135800 w 10969200"/>
              <a:gd name="connsiteY3" fmla="*/ 447619 h 3529797"/>
              <a:gd name="connsiteX4" fmla="*/ 10969200 w 10969200"/>
              <a:gd name="connsiteY4" fmla="*/ 1583634 h 3529797"/>
              <a:gd name="connsiteX5" fmla="*/ 10135800 w 10969200"/>
              <a:gd name="connsiteY5" fmla="*/ 2719649 h 3529797"/>
              <a:gd name="connsiteX6" fmla="*/ 10135800 w 10969200"/>
              <a:gd name="connsiteY6" fmla="*/ 2231548 h 3529797"/>
              <a:gd name="connsiteX7" fmla="*/ 8978224 w 10969200"/>
              <a:gd name="connsiteY7" fmla="*/ 2247545 h 3529797"/>
              <a:gd name="connsiteX8" fmla="*/ 0 w 10969200"/>
              <a:gd name="connsiteY8" fmla="*/ 3529797 h 3529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969200" h="3529797">
                <a:moveTo>
                  <a:pt x="0" y="0"/>
                </a:moveTo>
                <a:cubicBezTo>
                  <a:pt x="3063277" y="778525"/>
                  <a:pt x="6747271" y="1008367"/>
                  <a:pt x="9748804" y="963548"/>
                </a:cubicBezTo>
                <a:lnTo>
                  <a:pt x="10135800" y="955331"/>
                </a:lnTo>
                <a:lnTo>
                  <a:pt x="10135800" y="447619"/>
                </a:lnTo>
                <a:lnTo>
                  <a:pt x="10969200" y="1583634"/>
                </a:lnTo>
                <a:lnTo>
                  <a:pt x="10135800" y="2719649"/>
                </a:lnTo>
                <a:lnTo>
                  <a:pt x="10135800" y="2231548"/>
                </a:lnTo>
                <a:lnTo>
                  <a:pt x="8978224" y="2247545"/>
                </a:lnTo>
                <a:cubicBezTo>
                  <a:pt x="5793188" y="2320957"/>
                  <a:pt x="2580542" y="2619391"/>
                  <a:pt x="0" y="3529797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40000"/>
                </a:schemeClr>
              </a:gs>
              <a:gs pos="47000">
                <a:schemeClr val="accent1">
                  <a:alpha val="20000"/>
                </a:schemeClr>
              </a:gs>
              <a:gs pos="0">
                <a:schemeClr val="accent1">
                  <a:alpha val="0"/>
                </a:schemeClr>
              </a:gs>
            </a:gsLst>
            <a:lin ang="0" scaled="1"/>
            <a:tileRect/>
          </a:gradFill>
          <a:ln w="15875">
            <a:gradFill flip="none" rotWithShape="1">
              <a:gsLst>
                <a:gs pos="68000">
                  <a:schemeClr val="accent1">
                    <a:alpha val="100000"/>
                  </a:schemeClr>
                </a:gs>
                <a:gs pos="33000">
                  <a:schemeClr val="accent1">
                    <a:alpha val="40000"/>
                  </a:schemeClr>
                </a:gs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 panose="020B0500000000000000" charset="-122"/>
              <a:cs typeface="+mn-cs"/>
            </a:endParaRPr>
          </a:p>
        </p:txBody>
      </p:sp>
      <p:sp>
        <p:nvSpPr>
          <p:cNvPr id="16" name="序号"/>
          <p:cNvSpPr txBox="1">
            <a:spLocks noChangeAspect="1"/>
          </p:cNvSpPr>
          <p:nvPr>
            <p:custDataLst>
              <p:tags r:id="rId2"/>
            </p:custDataLst>
          </p:nvPr>
        </p:nvSpPr>
        <p:spPr>
          <a:xfrm>
            <a:off x="4690890" y="2941925"/>
            <a:ext cx="907200" cy="907200"/>
          </a:xfrm>
          <a:prstGeom prst="ellipse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63000">
                <a:schemeClr val="accent2">
                  <a:lumMod val="40000"/>
                  <a:lumOff val="60000"/>
                  <a:alpha val="100000"/>
                </a:schemeClr>
              </a:gs>
              <a:gs pos="100000">
                <a:schemeClr val="accent2">
                  <a:lumMod val="20000"/>
                  <a:lumOff val="80000"/>
                  <a:alpha val="100000"/>
                </a:schemeClr>
              </a:gs>
            </a:gsLst>
            <a:lin ang="13500000" scaled="1"/>
          </a:gradFill>
          <a:effectLst>
            <a:outerShdw blurRad="101600" dist="38100" dir="2700000" algn="tl" rotWithShape="0">
              <a:schemeClr val="accent2">
                <a:alpha val="50000"/>
              </a:schemeClr>
            </a:outerShdw>
          </a:effectLst>
        </p:spPr>
        <p:txBody>
          <a:bodyPr wrap="none" lIns="0" tIns="0" rIns="0" bIns="0" rtlCol="0" anchor="ctr">
            <a:no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en-US" dirty="0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chemeClr val="accent2">
                      <a:lumMod val="75000"/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02</a:t>
            </a:r>
            <a:endParaRPr lang="en-US" dirty="0">
              <a:solidFill>
                <a:srgbClr val="FFFFFF">
                  <a:alpha val="80000"/>
                </a:srgbClr>
              </a:solidFill>
              <a:effectLst>
                <a:outerShdw blurRad="50800" dist="63500" dir="2700000" algn="tl" rotWithShape="0">
                  <a:schemeClr val="accent2">
                    <a:lumMod val="75000"/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4" name="直接连接符 23"/>
          <p:cNvCxnSpPr/>
          <p:nvPr>
            <p:custDataLst>
              <p:tags r:id="rId3"/>
            </p:custDataLst>
          </p:nvPr>
        </p:nvCxnSpPr>
        <p:spPr>
          <a:xfrm>
            <a:off x="6086475" y="2366645"/>
            <a:ext cx="0" cy="3383281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50000">
                  <a:schemeClr val="accent1">
                    <a:alpha val="4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序号"/>
          <p:cNvSpPr txBox="1">
            <a:spLocks noChangeAspect="1"/>
          </p:cNvSpPr>
          <p:nvPr>
            <p:custDataLst>
              <p:tags r:id="rId4"/>
            </p:custDataLst>
          </p:nvPr>
        </p:nvSpPr>
        <p:spPr>
          <a:xfrm>
            <a:off x="6509385" y="2941955"/>
            <a:ext cx="907200" cy="9072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63000">
                <a:schemeClr val="accent1">
                  <a:lumMod val="40000"/>
                  <a:lumOff val="60000"/>
                  <a:alpha val="100000"/>
                </a:schemeClr>
              </a:gs>
              <a:gs pos="100000">
                <a:schemeClr val="accent1">
                  <a:lumMod val="20000"/>
                  <a:lumOff val="80000"/>
                  <a:alpha val="100000"/>
                </a:schemeClr>
              </a:gs>
            </a:gsLst>
            <a:lin ang="13500000" scaled="1"/>
          </a:gradFill>
          <a:effectLst>
            <a:outerShdw blurRad="101600" dist="38100" dir="2700000" algn="tl" rotWithShape="0">
              <a:schemeClr val="accent1">
                <a:alpha val="50000"/>
              </a:schemeClr>
            </a:outerShdw>
          </a:effectLst>
        </p:spPr>
        <p:txBody>
          <a:bodyPr wrap="none" lIns="0" tIns="0" rIns="0" bIns="0" rtlCol="0" anchor="ctr">
            <a:no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en-US" dirty="0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03</a:t>
            </a:r>
            <a:endParaRPr lang="en-US" dirty="0">
              <a:solidFill>
                <a:srgbClr val="FFFFFF">
                  <a:alpha val="80000"/>
                </a:srgbClr>
              </a:solidFill>
              <a:effectLst>
                <a:outerShdw blurRad="50800" dist="63500" dir="2700000" algn="tl" rotWithShape="0">
                  <a:schemeClr val="accent1">
                    <a:lumMod val="75000"/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标题"/>
          <p:cNvSpPr txBox="1"/>
          <p:nvPr>
            <p:custDataLst>
              <p:tags r:id="rId5"/>
            </p:custDataLst>
          </p:nvPr>
        </p:nvSpPr>
        <p:spPr>
          <a:xfrm>
            <a:off x="4471670" y="5008880"/>
            <a:ext cx="1422538" cy="38551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FFFFFF"/>
              </a:gs>
              <a:gs pos="100000">
                <a:schemeClr val="accent2">
                  <a:lumMod val="20000"/>
                  <a:lumOff val="80000"/>
                  <a:alpha val="10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 algn="ctr">
              <a:defRPr sz="1600" b="1" spc="3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dirty="0">
                <a:solidFill>
                  <a:schemeClr val="accent2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rPr>
              <a:t>Problem</a:t>
            </a:r>
            <a:endParaRPr lang="en-US" altLang="zh-CN" dirty="0">
              <a:solidFill>
                <a:schemeClr val="accent2"/>
              </a:solidFill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sp>
        <p:nvSpPr>
          <p:cNvPr id="21" name="标题"/>
          <p:cNvSpPr txBox="1"/>
          <p:nvPr>
            <p:custDataLst>
              <p:tags r:id="rId6"/>
            </p:custDataLst>
          </p:nvPr>
        </p:nvSpPr>
        <p:spPr>
          <a:xfrm>
            <a:off x="6306185" y="5008880"/>
            <a:ext cx="1422538" cy="38551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FFFFFF"/>
              </a:gs>
              <a:gs pos="100000">
                <a:schemeClr val="accent1">
                  <a:lumMod val="20000"/>
                  <a:lumOff val="80000"/>
                  <a:alpha val="10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 algn="ctr">
              <a:defRPr sz="1600" b="1" spc="3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dirty="0">
                <a:solidFill>
                  <a:schemeClr val="accent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rPr>
              <a:t>Solution</a:t>
            </a:r>
            <a:endParaRPr lang="en-US" altLang="zh-CN" dirty="0">
              <a:solidFill>
                <a:schemeClr val="accent1"/>
              </a:solidFill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cxnSp>
        <p:nvCxnSpPr>
          <p:cNvPr id="25" name="直接连接符 24"/>
          <p:cNvCxnSpPr/>
          <p:nvPr>
            <p:custDataLst>
              <p:tags r:id="rId7"/>
            </p:custDataLst>
          </p:nvPr>
        </p:nvCxnSpPr>
        <p:spPr>
          <a:xfrm>
            <a:off x="4244975" y="2366645"/>
            <a:ext cx="0" cy="3383281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>
                    <a:alpha val="4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8"/>
            </p:custDataLst>
          </p:nvPr>
        </p:nvCxnSpPr>
        <p:spPr>
          <a:xfrm>
            <a:off x="7927975" y="2366645"/>
            <a:ext cx="0" cy="3383281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2">
                    <a:alpha val="0"/>
                  </a:schemeClr>
                </a:gs>
                <a:gs pos="50000">
                  <a:schemeClr val="accent2">
                    <a:alpha val="4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序号"/>
          <p:cNvSpPr txBox="1"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818130" y="2941955"/>
            <a:ext cx="907200" cy="9072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63000">
                <a:schemeClr val="accent1">
                  <a:lumMod val="40000"/>
                  <a:lumOff val="60000"/>
                  <a:alpha val="100000"/>
                </a:schemeClr>
              </a:gs>
              <a:gs pos="100000">
                <a:schemeClr val="accent1">
                  <a:lumMod val="20000"/>
                  <a:lumOff val="80000"/>
                  <a:alpha val="100000"/>
                </a:schemeClr>
              </a:gs>
            </a:gsLst>
            <a:lin ang="13500000" scaled="1"/>
          </a:gradFill>
          <a:effectLst>
            <a:outerShdw blurRad="101600" dist="38100" dir="2700000" algn="tl" rotWithShape="0">
              <a:schemeClr val="accent1">
                <a:alpha val="50000"/>
              </a:schemeClr>
            </a:outerShdw>
          </a:effectLst>
        </p:spPr>
        <p:txBody>
          <a:bodyPr wrap="none" lIns="0" tIns="0" rIns="0" bIns="0" rtlCol="0" anchor="ctr">
            <a:no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en-US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01</a:t>
            </a:r>
            <a:endParaRPr lang="en-US" dirty="0">
              <a:solidFill>
                <a:srgbClr val="FFFFFF">
                  <a:alpha val="80000"/>
                </a:srgbClr>
              </a:solidFill>
              <a:effectLst>
                <a:outerShdw blurRad="50800" dist="63500" dir="2700000" algn="tl" rotWithShape="0">
                  <a:schemeClr val="accent1">
                    <a:lumMod val="75000"/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序号"/>
          <p:cNvSpPr txBox="1"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8328025" y="2720340"/>
            <a:ext cx="1432800" cy="1432800"/>
          </a:xfrm>
          <a:prstGeom prst="ellipse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63000">
                <a:schemeClr val="accent2">
                  <a:lumMod val="40000"/>
                  <a:lumOff val="60000"/>
                  <a:alpha val="100000"/>
                </a:schemeClr>
              </a:gs>
              <a:gs pos="100000">
                <a:schemeClr val="accent2">
                  <a:lumMod val="20000"/>
                  <a:lumOff val="80000"/>
                  <a:alpha val="100000"/>
                </a:schemeClr>
              </a:gs>
            </a:gsLst>
            <a:lin ang="13500000" scaled="1"/>
          </a:gradFill>
          <a:effectLst>
            <a:outerShdw blurRad="101600" dist="38100" dir="2700000" algn="tl" rotWithShape="0">
              <a:schemeClr val="accent2">
                <a:alpha val="50000"/>
              </a:schemeClr>
            </a:outerShdw>
          </a:effectLst>
        </p:spPr>
        <p:txBody>
          <a:bodyPr wrap="none" lIns="0" tIns="0" rIns="0" bIns="0" rtlCol="0" anchor="ctr">
            <a:no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en-US" dirty="0">
                <a:solidFill>
                  <a:srgbClr val="FFFFFF">
                    <a:alpha val="80000"/>
                  </a:srgbClr>
                </a:solidFill>
                <a:effectLst>
                  <a:outerShdw blurRad="50800" dist="63500" dir="2700000" algn="tl" rotWithShape="0">
                    <a:schemeClr val="accent2">
                      <a:lumMod val="75000"/>
                      <a:alpha val="40000"/>
                    </a:scheme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04</a:t>
            </a:r>
            <a:endParaRPr lang="en-US" dirty="0">
              <a:solidFill>
                <a:srgbClr val="FFFFFF">
                  <a:alpha val="80000"/>
                </a:srgbClr>
              </a:solidFill>
              <a:effectLst>
                <a:outerShdw blurRad="50800" dist="63500" dir="2700000" algn="tl" rotWithShape="0">
                  <a:schemeClr val="accent2">
                    <a:lumMod val="75000"/>
                    <a:alpha val="40000"/>
                  </a:scheme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文本框 28"/>
          <p:cNvSpPr txBox="1"/>
          <p:nvPr>
            <p:custDataLst>
              <p:tags r:id="rId11"/>
            </p:custDataLst>
          </p:nvPr>
        </p:nvSpPr>
        <p:spPr>
          <a:xfrm>
            <a:off x="2623820" y="5508625"/>
            <a:ext cx="1434465" cy="9296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单击此处添加文本，简明扼要地阐述观点。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30" name="标题"/>
          <p:cNvSpPr txBox="1"/>
          <p:nvPr>
            <p:custDataLst>
              <p:tags r:id="rId12"/>
            </p:custDataLst>
          </p:nvPr>
        </p:nvSpPr>
        <p:spPr>
          <a:xfrm>
            <a:off x="2629535" y="5008880"/>
            <a:ext cx="1422538" cy="38551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FFFFFF"/>
              </a:gs>
              <a:gs pos="100000">
                <a:schemeClr val="accent1">
                  <a:lumMod val="20000"/>
                  <a:lumOff val="80000"/>
                  <a:alpha val="10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 algn="ctr">
              <a:defRPr sz="1600" b="1" spc="3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dirty="0">
                <a:solidFill>
                  <a:schemeClr val="accent1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rPr>
              <a:t>Project</a:t>
            </a:r>
            <a:endParaRPr lang="en-US" altLang="zh-CN" dirty="0">
              <a:solidFill>
                <a:schemeClr val="accent1"/>
              </a:solidFill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sp>
        <p:nvSpPr>
          <p:cNvPr id="31" name="文本框 30"/>
          <p:cNvSpPr txBox="1"/>
          <p:nvPr>
            <p:custDataLst>
              <p:tags r:id="rId13"/>
            </p:custDataLst>
          </p:nvPr>
        </p:nvSpPr>
        <p:spPr>
          <a:xfrm>
            <a:off x="8140065" y="5508625"/>
            <a:ext cx="1434465" cy="9296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单击此处添加文本，简明扼要地阐述观点。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33" name="标题"/>
          <p:cNvSpPr txBox="1"/>
          <p:nvPr>
            <p:custDataLst>
              <p:tags r:id="rId14"/>
            </p:custDataLst>
          </p:nvPr>
        </p:nvSpPr>
        <p:spPr>
          <a:xfrm>
            <a:off x="8145780" y="5008880"/>
            <a:ext cx="1473835" cy="38544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3000">
                <a:srgbClr val="FFFFFF"/>
              </a:gs>
              <a:gs pos="100000">
                <a:schemeClr val="accent2">
                  <a:lumMod val="20000"/>
                  <a:lumOff val="80000"/>
                  <a:alpha val="10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 algn="ctr">
              <a:defRPr sz="1600" b="1" spc="3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dirty="0">
                <a:solidFill>
                  <a:schemeClr val="accent2"/>
                </a:solidFill>
                <a:latin typeface="Times New Roman" panose="02020603050405020304" charset="0"/>
                <a:ea typeface="+mn-ea"/>
                <a:cs typeface="Times New Roman" panose="02020603050405020304" charset="0"/>
              </a:rPr>
              <a:t>Evaluation</a:t>
            </a:r>
            <a:endParaRPr lang="en-US" altLang="zh-CN" dirty="0">
              <a:solidFill>
                <a:schemeClr val="accent2"/>
              </a:solidFill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102610" y="939800"/>
            <a:ext cx="6240780" cy="96901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zh-CN" sz="4800" b="1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Project Workflow</a:t>
            </a:r>
            <a:endParaRPr lang="en-US" altLang="zh-CN" sz="4800" b="1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7927975" y="5760720"/>
            <a:ext cx="386080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PHRASE4</a:t>
            </a:r>
            <a:r>
              <a:rPr lang="zh-CN" altLang="en-US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：</a:t>
            </a:r>
            <a:r>
              <a:rPr lang="en-US" altLang="zh-CN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EVALUATION</a:t>
            </a:r>
            <a:endParaRPr lang="en-US" altLang="zh-CN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-14"/>
          <p:cNvSpPr>
            <a:spLocks noGrp="1"/>
          </p:cNvSpPr>
          <p:nvPr/>
        </p:nvSpPr>
        <p:spPr>
          <a:xfrm>
            <a:off x="533400" y="27622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8E603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EVALUATION</a:t>
            </a:r>
            <a:endParaRPr sz="975" b="1">
              <a:solidFill>
                <a:srgbClr val="8E603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" name="title-14"/>
          <p:cNvSpPr>
            <a:spLocks noGrp="1"/>
          </p:cNvSpPr>
          <p:nvPr/>
        </p:nvSpPr>
        <p:spPr>
          <a:xfrm>
            <a:off x="533400" y="552450"/>
            <a:ext cx="11096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能运行，不等于能使用</a:t>
            </a:r>
            <a:endParaRPr sz="34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cxnSp>
        <p:nvCxnSpPr>
          <p:cNvPr id="24" name="header-rule-14"/>
          <p:cNvCxnSpPr/>
          <p:nvPr/>
        </p:nvCxnSpPr>
        <p:spPr>
          <a:xfrm>
            <a:off x="533400" y="1238250"/>
            <a:ext cx="11125200" cy="0"/>
          </a:xfrm>
          <a:prstGeom prst="straightConnector1">
            <a:avLst/>
          </a:prstGeom>
          <a:ln w="9525">
            <a:solidFill>
              <a:srgbClr val="CBC7BE"/>
            </a:solidFill>
            <a:prstDash val="solid"/>
          </a:ln>
        </p:spPr>
      </p:cxnSp>
      <p:sp>
        <p:nvSpPr>
          <p:cNvPr id="4" name="source-14"/>
          <p:cNvSpPr>
            <a:spLocks noGrp="1"/>
          </p:cNvSpPr>
          <p:nvPr/>
        </p:nvSpPr>
        <p:spPr>
          <a:xfrm>
            <a:off x="533400" y="64960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来源：DEFINE Guide 四维评估模型、项目 T6 四维评估报告</a:t>
            </a:r>
            <a:endParaRPr sz="825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14"/>
          <p:cNvSpPr>
            <a:spLocks noGrp="1"/>
          </p:cNvSpPr>
          <p:nvPr/>
        </p:nvSpPr>
        <p:spPr>
          <a:xfrm>
            <a:off x="11106150" y="64198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lang="en-US" sz="1050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7" name="Chart"/>
          <p:cNvGraphicFramePr/>
          <p:nvPr/>
        </p:nvGraphicFramePr>
        <p:xfrm>
          <a:off x="685800" y="1524000"/>
          <a:ext cx="542925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eval-label"/>
          <p:cNvSpPr>
            <a:spLocks noGrp="1"/>
          </p:cNvSpPr>
          <p:nvPr/>
        </p:nvSpPr>
        <p:spPr>
          <a:xfrm>
            <a:off x="6762750" y="1695450"/>
            <a:ext cx="438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四个维度，四类证据</a:t>
            </a:r>
            <a:endParaRPr sz="210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8" name="eval-score-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762750" y="2381250"/>
            <a:ext cx="838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8E603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4.00</a:t>
            </a:r>
            <a:endParaRPr sz="2025" b="1">
              <a:solidFill>
                <a:srgbClr val="8E603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9" name="eval-name-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791450" y="240030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技术</a:t>
            </a:r>
            <a:endParaRPr sz="1425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0" name="eval-desc-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048750" y="2400300"/>
            <a:ext cx="2238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77736D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稳定、鲁棒、守边界</a:t>
            </a:r>
            <a:endParaRPr sz="1400" b="0">
              <a:solidFill>
                <a:srgbClr val="77736D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1" name="eval-score-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762750" y="3124200"/>
            <a:ext cx="838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8E603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4.25</a:t>
            </a:r>
            <a:endParaRPr sz="2025" b="1">
              <a:solidFill>
                <a:srgbClr val="8E603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2" name="eval-name-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7791450" y="31432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UX 人本</a:t>
            </a:r>
            <a:endParaRPr sz="1425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val-desc-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9048750" y="3143250"/>
            <a:ext cx="2238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77736D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易用、共情、可控、会退场</a:t>
            </a:r>
            <a:endParaRPr sz="1400" b="0">
              <a:solidFill>
                <a:srgbClr val="77736D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4" name="eval-score-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762750" y="3867150"/>
            <a:ext cx="838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B4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B44747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3.67</a:t>
            </a:r>
            <a:endParaRPr sz="2025" b="1">
              <a:solidFill>
                <a:srgbClr val="B44747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5" name="eval-name-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791450" y="388620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专业有效</a:t>
            </a:r>
            <a:endParaRPr sz="1425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6" name="eval-desc-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9048750" y="3886200"/>
            <a:ext cx="2238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77736D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心理有效性仍待用户实证</a:t>
            </a:r>
            <a:endParaRPr sz="1400" b="0">
              <a:solidFill>
                <a:srgbClr val="77736D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7" name="eval-score-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762750" y="4610100"/>
            <a:ext cx="838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1">
                <a:solidFill>
                  <a:srgbClr val="B4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B44747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3.67</a:t>
            </a:r>
            <a:endParaRPr sz="2025" b="1">
              <a:solidFill>
                <a:srgbClr val="B44747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8" name="eval-name-3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7791450" y="46291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伦理合规</a:t>
            </a:r>
            <a:endParaRPr sz="1425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9" name="eval-desc-3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9048750" y="4629150"/>
            <a:ext cx="2238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77736D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法律与跨境数据仍待复核</a:t>
            </a:r>
            <a:endParaRPr sz="1400" b="0">
              <a:solidFill>
                <a:srgbClr val="77736D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0" name="eval-warning"/>
          <p:cNvSpPr>
            <a:spLocks noGrp="1"/>
          </p:cNvSpPr>
          <p:nvPr/>
        </p:nvSpPr>
        <p:spPr>
          <a:xfrm>
            <a:off x="6667500" y="5543550"/>
            <a:ext cx="4572000" cy="542925"/>
          </a:xfrm>
          <a:prstGeom prst="roundRect">
            <a:avLst>
              <a:gd name="adj" fmla="val 14035"/>
            </a:avLst>
          </a:prstGeom>
          <a:solidFill>
            <a:srgbClr val="FFF1C7"/>
          </a:solidFill>
          <a:ln w="0">
            <a:noFill/>
            <a:prstDash val="solid"/>
          </a:ln>
        </p:spPr>
      </p:sp>
      <p:sp>
        <p:nvSpPr>
          <p:cNvPr id="21" name="eval-warning-text"/>
          <p:cNvSpPr>
            <a:spLocks noGrp="1"/>
          </p:cNvSpPr>
          <p:nvPr/>
        </p:nvSpPr>
        <p:spPr>
          <a:xfrm>
            <a:off x="6905625" y="568642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这是设计预评估，不是正式用户效果结论。</a:t>
            </a:r>
            <a:endParaRPr sz="140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-15"/>
          <p:cNvSpPr>
            <a:spLocks noGrp="1"/>
          </p:cNvSpPr>
          <p:nvPr/>
        </p:nvSpPr>
        <p:spPr>
          <a:xfrm>
            <a:off x="533400" y="27622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8E603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EVALUATION</a:t>
            </a:r>
            <a:endParaRPr sz="975" b="1">
              <a:solidFill>
                <a:srgbClr val="8E603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" name="title-15"/>
          <p:cNvSpPr>
            <a:spLocks noGrp="1"/>
          </p:cNvSpPr>
          <p:nvPr/>
        </p:nvSpPr>
        <p:spPr>
          <a:xfrm>
            <a:off x="533400" y="552450"/>
            <a:ext cx="11096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工程与安全证据已经形成闭环</a:t>
            </a:r>
            <a:endParaRPr sz="34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cxnSp>
        <p:nvCxnSpPr>
          <p:cNvPr id="26" name="header-rule-15"/>
          <p:cNvCxnSpPr/>
          <p:nvPr/>
        </p:nvCxnSpPr>
        <p:spPr>
          <a:xfrm>
            <a:off x="533400" y="1238250"/>
            <a:ext cx="11125200" cy="0"/>
          </a:xfrm>
          <a:prstGeom prst="straightConnector1">
            <a:avLst/>
          </a:prstGeom>
          <a:ln w="9525">
            <a:solidFill>
              <a:srgbClr val="CBC7BE"/>
            </a:solidFill>
            <a:prstDash val="solid"/>
          </a:ln>
        </p:spPr>
      </p:cxnSp>
      <p:sp>
        <p:nvSpPr>
          <p:cNvPr id="4" name="source-15"/>
          <p:cNvSpPr>
            <a:spLocks noGrp="1"/>
          </p:cNvSpPr>
          <p:nvPr/>
        </p:nvSpPr>
        <p:spPr>
          <a:xfrm>
            <a:off x="533400" y="64960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来源：结项技术文档、上线检查清单；前端合同检查本次复核为 OK</a:t>
            </a:r>
            <a:endParaRPr sz="825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15"/>
          <p:cNvSpPr>
            <a:spLocks noGrp="1"/>
          </p:cNvSpPr>
          <p:nvPr/>
        </p:nvSpPr>
        <p:spPr>
          <a:xfrm>
            <a:off x="11106150" y="64198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lang="en-US" sz="1050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metric-card-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33400" y="1581150"/>
            <a:ext cx="2571750" cy="1809750"/>
          </a:xfrm>
          <a:prstGeom prst="roundRect">
            <a:avLst>
              <a:gd name="adj" fmla="val 6316"/>
            </a:avLst>
          </a:prstGeom>
          <a:solidFill>
            <a:srgbClr val="F5F2EC"/>
          </a:solidFill>
          <a:ln w="0">
            <a:noFill/>
            <a:prstDash val="solid"/>
          </a:ln>
        </p:spPr>
      </p:sp>
      <p:sp>
        <p:nvSpPr>
          <p:cNvPr id="7" name="metric-num-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42950" y="1971675"/>
            <a:ext cx="21526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3150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8E603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32 / 32</a:t>
            </a:r>
            <a:endParaRPr sz="3150" b="1">
              <a:solidFill>
                <a:srgbClr val="8E603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8" name="metric-label-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62000" y="2867025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后端安全回归</a:t>
            </a:r>
            <a:endParaRPr sz="13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9" name="metric-card-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371850" y="1581150"/>
            <a:ext cx="2571750" cy="1809750"/>
          </a:xfrm>
          <a:prstGeom prst="roundRect">
            <a:avLst>
              <a:gd name="adj" fmla="val 6316"/>
            </a:avLst>
          </a:prstGeom>
          <a:solidFill>
            <a:srgbClr val="F5F2EC"/>
          </a:solidFill>
          <a:ln w="0">
            <a:noFill/>
            <a:prstDash val="solid"/>
          </a:ln>
        </p:spPr>
      </p:sp>
      <p:sp>
        <p:nvSpPr>
          <p:cNvPr id="10" name="metric-num-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581400" y="1971675"/>
            <a:ext cx="21526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3150" b="1">
                <a:solidFill>
                  <a:srgbClr val="6E8B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6E8B8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HTTP 200</a:t>
            </a:r>
            <a:endParaRPr sz="3150" b="1">
              <a:solidFill>
                <a:srgbClr val="6E8B8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1" name="metric-label-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600450" y="2867025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公网健康检查</a:t>
            </a:r>
            <a:endParaRPr sz="13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2" name="metric-card-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210300" y="1581150"/>
            <a:ext cx="2571750" cy="1809750"/>
          </a:xfrm>
          <a:prstGeom prst="roundRect">
            <a:avLst>
              <a:gd name="adj" fmla="val 6316"/>
            </a:avLst>
          </a:prstGeom>
          <a:solidFill>
            <a:srgbClr val="F5F2EC"/>
          </a:solidFill>
          <a:ln w="0">
            <a:noFill/>
            <a:prstDash val="solid"/>
          </a:ln>
        </p:spPr>
      </p:sp>
      <p:sp>
        <p:nvSpPr>
          <p:cNvPr id="13" name="metric-num-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419850" y="1971675"/>
            <a:ext cx="21526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31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24232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</a:t>
            </a:r>
            <a:r>
              <a:rPr sz="31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1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台手机</a:t>
            </a:r>
            <a:endParaRPr sz="31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4" name="metric-label-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438900" y="2867025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普通对话真机通过</a:t>
            </a:r>
            <a:endParaRPr sz="13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15" name="metric-card-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9048750" y="1581150"/>
            <a:ext cx="2571750" cy="1809750"/>
          </a:xfrm>
          <a:prstGeom prst="roundRect">
            <a:avLst>
              <a:gd name="adj" fmla="val 6316"/>
            </a:avLst>
          </a:prstGeom>
          <a:solidFill>
            <a:srgbClr val="F5F2EC"/>
          </a:solidFill>
          <a:ln w="0">
            <a:noFill/>
            <a:prstDash val="solid"/>
          </a:ln>
        </p:spPr>
      </p:sp>
      <p:sp>
        <p:nvSpPr>
          <p:cNvPr id="16" name="metric-num-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9258300" y="1971675"/>
            <a:ext cx="21526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3150" b="1">
                <a:solidFill>
                  <a:srgbClr val="B4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B44747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</a:t>
            </a:r>
            <a:endParaRPr sz="3150" b="1">
              <a:solidFill>
                <a:srgbClr val="B44747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7" name="metric-label-3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9277350" y="2867025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真实 key 模式命中</a:t>
            </a:r>
            <a:endParaRPr sz="13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terminal"/>
          <p:cNvSpPr>
            <a:spLocks noGrp="1"/>
          </p:cNvSpPr>
          <p:nvPr/>
        </p:nvSpPr>
        <p:spPr>
          <a:xfrm>
            <a:off x="533400" y="3810000"/>
            <a:ext cx="5286375" cy="1943100"/>
          </a:xfrm>
          <a:prstGeom prst="roundRect">
            <a:avLst>
              <a:gd name="adj" fmla="val 5882"/>
            </a:avLst>
          </a:prstGeom>
          <a:solidFill>
            <a:srgbClr val="242320"/>
          </a:solidFill>
          <a:ln w="0">
            <a:noFill/>
            <a:prstDash val="solid"/>
          </a:ln>
        </p:spPr>
      </p:sp>
      <p:sp>
        <p:nvSpPr>
          <p:cNvPr id="19" name="terminal-text"/>
          <p:cNvSpPr>
            <a:spLocks noGrp="1"/>
          </p:cNvSpPr>
          <p:nvPr/>
        </p:nvSpPr>
        <p:spPr>
          <a:xfrm>
            <a:off x="781050" y="4038600"/>
            <a:ext cx="4810125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039"/>
          </a:bodyPr>
          <a:lstStyle/>
          <a:p>
            <a:pPr algn="l">
              <a:defRPr sz="1275" b="0">
                <a:solidFill>
                  <a:srgbClr val="FFFFFF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FFFFFF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$ python -m unittest -v test_safety.py</a:t>
            </a:r>
            <a:endParaRPr sz="1275" b="0">
              <a:solidFill>
                <a:srgbClr val="FFFFFF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defRPr sz="1275" b="0">
                <a:solidFill>
                  <a:srgbClr val="FFFFFF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FFFFFF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...</a:t>
            </a:r>
            <a:endParaRPr sz="1275" b="0">
              <a:solidFill>
                <a:srgbClr val="FFFFFF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defRPr sz="1275" b="0">
                <a:solidFill>
                  <a:srgbClr val="FFFFFF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FFFFFF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Ran 32 tests</a:t>
            </a:r>
            <a:endParaRPr sz="1275" b="0">
              <a:solidFill>
                <a:srgbClr val="FFFFFF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endParaRPr sz="1275"/>
          </a:p>
          <a:p>
            <a:pPr algn="l">
              <a:defRPr sz="1275" b="0">
                <a:solidFill>
                  <a:srgbClr val="FFFFFF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FFFFFF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OK</a:t>
            </a:r>
            <a:endParaRPr sz="1275" b="0">
              <a:solidFill>
                <a:srgbClr val="FFFFFF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endParaRPr sz="1275"/>
          </a:p>
          <a:p>
            <a:pPr algn="l">
              <a:defRPr sz="1275" b="0">
                <a:solidFill>
                  <a:srgbClr val="FFFFFF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FFFFFF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$ node test_frontend_contract.js</a:t>
            </a:r>
            <a:endParaRPr sz="1275" b="0">
              <a:solidFill>
                <a:srgbClr val="FFFFFF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defRPr sz="1275" b="0">
                <a:solidFill>
                  <a:srgbClr val="FFFFFF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275" b="0">
                <a:solidFill>
                  <a:srgbClr val="FFFFFF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frontend_contract=ok</a:t>
            </a:r>
            <a:endParaRPr sz="1275" b="0">
              <a:solidFill>
                <a:srgbClr val="FFFFFF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20" name="terminal-caption"/>
          <p:cNvSpPr>
            <a:spLocks noGrp="1"/>
          </p:cNvSpPr>
          <p:nvPr/>
        </p:nvSpPr>
        <p:spPr>
          <a:xfrm>
            <a:off x="704850" y="5848350"/>
            <a:ext cx="4933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7736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发布验收记录 + 本次前端合同复核</a:t>
            </a:r>
            <a:endParaRPr sz="975" b="0">
              <a:solidFill>
                <a:srgbClr val="77736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vidence-list"/>
          <p:cNvSpPr>
            <a:spLocks noGrp="1"/>
          </p:cNvSpPr>
          <p:nvPr/>
        </p:nvSpPr>
        <p:spPr>
          <a:xfrm>
            <a:off x="6153150" y="3810000"/>
            <a:ext cx="5505450" cy="19431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BC7BE"/>
            </a:solidFill>
            <a:prstDash val="solid"/>
          </a:ln>
        </p:spPr>
      </p:sp>
      <p:sp>
        <p:nvSpPr>
          <p:cNvPr id="22" name="evidence-title"/>
          <p:cNvSpPr>
            <a:spLocks noGrp="1"/>
          </p:cNvSpPr>
          <p:nvPr/>
        </p:nvSpPr>
        <p:spPr>
          <a:xfrm>
            <a:off x="6419850" y="4048125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证据不只来自单元测试</a:t>
            </a:r>
            <a:endParaRPr sz="16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sp>
        <p:nvSpPr>
          <p:cNvPr id="23" name="evidence-copy"/>
          <p:cNvSpPr>
            <a:spLocks noGrp="1"/>
          </p:cNvSpPr>
          <p:nvPr/>
        </p:nvSpPr>
        <p:spPr>
          <a:xfrm>
            <a:off x="6419850" y="4533900"/>
            <a:ext cx="4953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普通与危机公网请求通过</a:t>
            </a:r>
            <a:endParaRPr sz="135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135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CORS 仅允许生产 Pages origin</a:t>
            </a:r>
            <a:endParaRPr sz="135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135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本地 / 公网 E2E 与断网双降级</a:t>
            </a:r>
            <a:endParaRPr sz="135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135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真机紧急按钮显示真人、紧急服务与 12356</a:t>
            </a:r>
            <a:endParaRPr sz="135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-16"/>
          <p:cNvSpPr>
            <a:spLocks noGrp="1"/>
          </p:cNvSpPr>
          <p:nvPr/>
        </p:nvSpPr>
        <p:spPr>
          <a:xfrm>
            <a:off x="533400" y="27622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8E603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EVALUATION</a:t>
            </a:r>
            <a:endParaRPr sz="975" b="1">
              <a:solidFill>
                <a:srgbClr val="8E603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" name="title-16"/>
          <p:cNvSpPr>
            <a:spLocks noGrp="1"/>
          </p:cNvSpPr>
          <p:nvPr/>
        </p:nvSpPr>
        <p:spPr>
          <a:xfrm>
            <a:off x="533400" y="552450"/>
            <a:ext cx="11096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最有价值的测试，暴露了设计错误</a:t>
            </a:r>
            <a:endParaRPr sz="34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cxnSp>
        <p:nvCxnSpPr>
          <p:cNvPr id="30" name="header-rule-16"/>
          <p:cNvCxnSpPr/>
          <p:nvPr/>
        </p:nvCxnSpPr>
        <p:spPr>
          <a:xfrm>
            <a:off x="533400" y="1238250"/>
            <a:ext cx="11125200" cy="0"/>
          </a:xfrm>
          <a:prstGeom prst="straightConnector1">
            <a:avLst/>
          </a:prstGeom>
          <a:ln w="9525">
            <a:solidFill>
              <a:srgbClr val="CBC7BE"/>
            </a:solidFill>
            <a:prstDash val="solid"/>
          </a:ln>
        </p:spPr>
      </p:cxnSp>
      <p:sp>
        <p:nvSpPr>
          <p:cNvPr id="4" name="source-16"/>
          <p:cNvSpPr>
            <a:spLocks noGrp="1"/>
          </p:cNvSpPr>
          <p:nvPr/>
        </p:nvSpPr>
        <p:spPr>
          <a:xfrm>
            <a:off x="533400" y="64960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来源：项目 T8 迭代日志</a:t>
            </a:r>
            <a:endParaRPr sz="825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16"/>
          <p:cNvSpPr>
            <a:spLocks noGrp="1"/>
          </p:cNvSpPr>
          <p:nvPr/>
        </p:nvSpPr>
        <p:spPr>
          <a:xfrm>
            <a:off x="11106150" y="64198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lang="en-US" sz="1050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iter-card-0"/>
          <p:cNvSpPr>
            <a:spLocks noGrp="1"/>
          </p:cNvSpPr>
          <p:nvPr/>
        </p:nvSpPr>
        <p:spPr>
          <a:xfrm>
            <a:off x="571500" y="1524000"/>
            <a:ext cx="5381625" cy="4572000"/>
          </a:xfrm>
          <a:prstGeom prst="roundRect">
            <a:avLst>
              <a:gd name="adj" fmla="val 2500"/>
            </a:avLst>
          </a:prstGeom>
          <a:solidFill>
            <a:srgbClr val="F5F2EC"/>
          </a:solidFill>
          <a:ln w="0">
            <a:noFill/>
            <a:prstDash val="solid"/>
          </a:ln>
        </p:spPr>
      </p:sp>
      <p:sp>
        <p:nvSpPr>
          <p:cNvPr id="7" name="iter-no-0"/>
          <p:cNvSpPr>
            <a:spLocks noGrp="1"/>
          </p:cNvSpPr>
          <p:nvPr/>
        </p:nvSpPr>
        <p:spPr>
          <a:xfrm>
            <a:off x="838200" y="1752600"/>
            <a:ext cx="76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325" b="1">
                <a:solidFill>
                  <a:srgbClr val="D7A0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D7A06D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01</a:t>
            </a:r>
            <a:endParaRPr sz="2325" b="1">
              <a:solidFill>
                <a:srgbClr val="D7A06D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8" name="iter-title-0"/>
          <p:cNvSpPr>
            <a:spLocks noGrp="1"/>
          </p:cNvSpPr>
          <p:nvPr/>
        </p:nvSpPr>
        <p:spPr>
          <a:xfrm>
            <a:off x="1619250" y="1762125"/>
            <a:ext cx="3981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AI 替用户判断“自卑”</a:t>
            </a:r>
            <a:endParaRPr sz="1875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iter-before-label-0"/>
          <p:cNvSpPr>
            <a:spLocks noGrp="1"/>
          </p:cNvSpPr>
          <p:nvPr/>
        </p:nvSpPr>
        <p:spPr>
          <a:xfrm>
            <a:off x="857250" y="2457450"/>
            <a:ext cx="904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B4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B44747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BEFORE</a:t>
            </a:r>
            <a:endParaRPr sz="1050" b="1">
              <a:solidFill>
                <a:srgbClr val="B44747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0" name="iter-before-0"/>
          <p:cNvSpPr>
            <a:spLocks noGrp="1"/>
          </p:cNvSpPr>
          <p:nvPr/>
        </p:nvSpPr>
        <p:spPr>
          <a:xfrm>
            <a:off x="857250" y="2781300"/>
            <a:ext cx="4810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“你更像正常犹豫，还是自卑逃避？”</a:t>
            </a:r>
            <a:endParaRPr sz="15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38" name="iter-rule1-0"/>
          <p:cNvCxnSpPr/>
          <p:nvPr/>
        </p:nvCxnSpPr>
        <p:spPr>
          <a:xfrm>
            <a:off x="857250" y="3524250"/>
            <a:ext cx="4810125" cy="0"/>
          </a:xfrm>
          <a:prstGeom prst="straightConnector1">
            <a:avLst/>
          </a:prstGeom>
          <a:ln w="9525">
            <a:solidFill>
              <a:srgbClr val="CBC7BE"/>
            </a:solidFill>
            <a:prstDash val="solid"/>
          </a:ln>
        </p:spPr>
      </p:cxnSp>
      <p:sp>
        <p:nvSpPr>
          <p:cNvPr id="12" name="iter-root-label-0"/>
          <p:cNvSpPr>
            <a:spLocks noGrp="1"/>
          </p:cNvSpPr>
          <p:nvPr/>
        </p:nvSpPr>
        <p:spPr>
          <a:xfrm>
            <a:off x="857250" y="37242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77736D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ROOT CAUSE</a:t>
            </a:r>
            <a:endParaRPr sz="1050" b="1">
              <a:solidFill>
                <a:srgbClr val="77736D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3" name="iter-root-0"/>
          <p:cNvSpPr>
            <a:spLocks noGrp="1"/>
          </p:cNvSpPr>
          <p:nvPr/>
        </p:nvSpPr>
        <p:spPr>
          <a:xfrm>
            <a:off x="857250" y="4048125"/>
            <a:ext cx="48101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根因不是判断不准，</a:t>
            </a:r>
            <a:endParaRPr sz="1425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1425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而是 AI 不该做这个判断。</a:t>
            </a:r>
            <a:endParaRPr sz="1425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41" name="iter-rule2-0"/>
          <p:cNvCxnSpPr/>
          <p:nvPr/>
        </p:nvCxnSpPr>
        <p:spPr>
          <a:xfrm>
            <a:off x="857250" y="4810125"/>
            <a:ext cx="4810125" cy="0"/>
          </a:xfrm>
          <a:prstGeom prst="straightConnector1">
            <a:avLst/>
          </a:prstGeom>
          <a:ln w="9525">
            <a:solidFill>
              <a:srgbClr val="CBC7BE"/>
            </a:solidFill>
            <a:prstDash val="solid"/>
          </a:ln>
        </p:spPr>
      </p:cxnSp>
      <p:sp>
        <p:nvSpPr>
          <p:cNvPr id="15" name="iter-after-label-0"/>
          <p:cNvSpPr>
            <a:spLocks noGrp="1"/>
          </p:cNvSpPr>
          <p:nvPr/>
        </p:nvSpPr>
        <p:spPr>
          <a:xfrm>
            <a:off x="857250" y="5000625"/>
            <a:ext cx="904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6D8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D8F7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AFTER</a:t>
            </a:r>
            <a:endParaRPr sz="1050" b="1">
              <a:solidFill>
                <a:srgbClr val="6D8F7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6" name="iter-after-0"/>
          <p:cNvSpPr>
            <a:spLocks noGrp="1"/>
          </p:cNvSpPr>
          <p:nvPr/>
        </p:nvSpPr>
        <p:spPr>
          <a:xfrm>
            <a:off x="857250" y="5314950"/>
            <a:ext cx="4810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改成多元视角：</a:t>
            </a:r>
            <a:endParaRPr sz="135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135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“还有哪些可能解释？你觉得哪种更合理？”</a:t>
            </a:r>
            <a:endParaRPr sz="135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iter-card-1"/>
          <p:cNvSpPr>
            <a:spLocks noGrp="1"/>
          </p:cNvSpPr>
          <p:nvPr/>
        </p:nvSpPr>
        <p:spPr>
          <a:xfrm>
            <a:off x="6248400" y="1524000"/>
            <a:ext cx="5381625" cy="4572000"/>
          </a:xfrm>
          <a:prstGeom prst="roundRect">
            <a:avLst>
              <a:gd name="adj" fmla="val 2500"/>
            </a:avLst>
          </a:prstGeom>
          <a:solidFill>
            <a:srgbClr val="F5F2EC"/>
          </a:solidFill>
          <a:ln w="0">
            <a:noFill/>
            <a:prstDash val="solid"/>
          </a:ln>
        </p:spPr>
      </p:sp>
      <p:sp>
        <p:nvSpPr>
          <p:cNvPr id="18" name="iter-no-1"/>
          <p:cNvSpPr>
            <a:spLocks noGrp="1"/>
          </p:cNvSpPr>
          <p:nvPr/>
        </p:nvSpPr>
        <p:spPr>
          <a:xfrm>
            <a:off x="6515100" y="1752600"/>
            <a:ext cx="76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325" b="1">
                <a:solidFill>
                  <a:srgbClr val="D779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D7794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02</a:t>
            </a:r>
            <a:endParaRPr sz="2325" b="1">
              <a:solidFill>
                <a:srgbClr val="D7794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9" name="iter-title-1"/>
          <p:cNvSpPr>
            <a:spLocks noGrp="1"/>
          </p:cNvSpPr>
          <p:nvPr/>
        </p:nvSpPr>
        <p:spPr>
          <a:xfrm>
            <a:off x="7296150" y="1762125"/>
            <a:ext cx="3981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把有害环境也“正常化”</a:t>
            </a:r>
            <a:endParaRPr sz="1875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iter-before-label-1"/>
          <p:cNvSpPr>
            <a:spLocks noGrp="1"/>
          </p:cNvSpPr>
          <p:nvPr/>
        </p:nvSpPr>
        <p:spPr>
          <a:xfrm>
            <a:off x="6534150" y="2457450"/>
            <a:ext cx="904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B4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B44747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BEFORE</a:t>
            </a:r>
            <a:endParaRPr sz="1050" b="1">
              <a:solidFill>
                <a:srgbClr val="B44747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1" name="iter-before-1"/>
          <p:cNvSpPr>
            <a:spLocks noGrp="1"/>
          </p:cNvSpPr>
          <p:nvPr/>
        </p:nvSpPr>
        <p:spPr>
          <a:xfrm>
            <a:off x="6534150" y="2781300"/>
            <a:ext cx="4810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“</a:t>
            </a:r>
            <a:r>
              <a:rPr sz="15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留学生活出现这种摩擦很正常。”</a:t>
            </a:r>
            <a:endParaRPr sz="15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49" name="iter-rule1-1"/>
          <p:cNvCxnSpPr/>
          <p:nvPr/>
        </p:nvCxnSpPr>
        <p:spPr>
          <a:xfrm>
            <a:off x="6534150" y="3524250"/>
            <a:ext cx="4810125" cy="0"/>
          </a:xfrm>
          <a:prstGeom prst="straightConnector1">
            <a:avLst/>
          </a:prstGeom>
          <a:ln w="9525">
            <a:solidFill>
              <a:srgbClr val="CBC7BE"/>
            </a:solidFill>
            <a:prstDash val="solid"/>
          </a:ln>
        </p:spPr>
      </p:cxnSp>
      <p:sp>
        <p:nvSpPr>
          <p:cNvPr id="23" name="iter-root-label-1"/>
          <p:cNvSpPr>
            <a:spLocks noGrp="1"/>
          </p:cNvSpPr>
          <p:nvPr/>
        </p:nvSpPr>
        <p:spPr>
          <a:xfrm>
            <a:off x="6534150" y="37242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77736D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ROOT CAUSE</a:t>
            </a:r>
            <a:endParaRPr sz="1050" b="1">
              <a:solidFill>
                <a:srgbClr val="77736D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4" name="iter-root-1"/>
          <p:cNvSpPr>
            <a:spLocks noGrp="1"/>
          </p:cNvSpPr>
          <p:nvPr/>
        </p:nvSpPr>
        <p:spPr>
          <a:xfrm>
            <a:off x="6534150" y="4048125"/>
            <a:ext cx="48101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根因是没有区分普通摩擦与</a:t>
            </a:r>
            <a:endParaRPr sz="1425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1425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持续歧视、霸凌、PUA。</a:t>
            </a:r>
            <a:endParaRPr sz="1425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52" name="iter-rule2-1"/>
          <p:cNvCxnSpPr/>
          <p:nvPr/>
        </p:nvCxnSpPr>
        <p:spPr>
          <a:xfrm>
            <a:off x="6534150" y="4810125"/>
            <a:ext cx="4810125" cy="0"/>
          </a:xfrm>
          <a:prstGeom prst="straightConnector1">
            <a:avLst/>
          </a:prstGeom>
          <a:ln w="9525">
            <a:solidFill>
              <a:srgbClr val="CBC7BE"/>
            </a:solidFill>
            <a:prstDash val="solid"/>
          </a:ln>
        </p:spPr>
      </p:cxnSp>
      <p:sp>
        <p:nvSpPr>
          <p:cNvPr id="26" name="iter-after-label-1"/>
          <p:cNvSpPr>
            <a:spLocks noGrp="1"/>
          </p:cNvSpPr>
          <p:nvPr/>
        </p:nvSpPr>
        <p:spPr>
          <a:xfrm>
            <a:off x="6534150" y="5000625"/>
            <a:ext cx="904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6D8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D8F78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AFTER</a:t>
            </a:r>
            <a:endParaRPr sz="1050" b="1">
              <a:solidFill>
                <a:srgbClr val="6D8F78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7" name="iter-after-1"/>
          <p:cNvSpPr>
            <a:spLocks noGrp="1"/>
          </p:cNvSpPr>
          <p:nvPr/>
        </p:nvSpPr>
        <p:spPr>
          <a:xfrm>
            <a:off x="6534150" y="5314950"/>
            <a:ext cx="4810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新增橙灯：不正常化，</a:t>
            </a:r>
            <a:endParaRPr sz="135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135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明确问题并提供学校 / 真人资源。</a:t>
            </a:r>
            <a:endParaRPr sz="135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-17"/>
          <p:cNvSpPr>
            <a:spLocks noGrp="1"/>
          </p:cNvSpPr>
          <p:nvPr/>
        </p:nvSpPr>
        <p:spPr>
          <a:xfrm>
            <a:off x="533400" y="27622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8E603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EVALUATION</a:t>
            </a:r>
            <a:endParaRPr sz="975" b="1">
              <a:solidFill>
                <a:srgbClr val="8E603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" name="title-17"/>
          <p:cNvSpPr>
            <a:spLocks noGrp="1"/>
          </p:cNvSpPr>
          <p:nvPr/>
        </p:nvSpPr>
        <p:spPr>
          <a:xfrm>
            <a:off x="533400" y="552450"/>
            <a:ext cx="11096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我们知道哪些还没有被证明</a:t>
            </a:r>
            <a:endParaRPr sz="34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cxnSp>
        <p:nvCxnSpPr>
          <p:cNvPr id="22" name="header-rule-17"/>
          <p:cNvCxnSpPr/>
          <p:nvPr/>
        </p:nvCxnSpPr>
        <p:spPr>
          <a:xfrm>
            <a:off x="533400" y="1238250"/>
            <a:ext cx="11125200" cy="0"/>
          </a:xfrm>
          <a:prstGeom prst="straightConnector1">
            <a:avLst/>
          </a:prstGeom>
          <a:ln w="9525">
            <a:solidFill>
              <a:srgbClr val="CBC7BE"/>
            </a:solidFill>
            <a:prstDash val="solid"/>
          </a:ln>
        </p:spPr>
      </p:cxnSp>
      <p:sp>
        <p:nvSpPr>
          <p:cNvPr id="4" name="source-17"/>
          <p:cNvSpPr>
            <a:spLocks noGrp="1"/>
          </p:cNvSpPr>
          <p:nvPr/>
        </p:nvSpPr>
        <p:spPr>
          <a:xfrm>
            <a:off x="533400" y="6496050"/>
            <a:ext cx="1000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来源：项目 T6 四维评估、T7 危机测试用例表、T8 迭代日志</a:t>
            </a:r>
            <a:endParaRPr sz="825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page-17"/>
          <p:cNvSpPr>
            <a:spLocks noGrp="1"/>
          </p:cNvSpPr>
          <p:nvPr/>
        </p:nvSpPr>
        <p:spPr>
          <a:xfrm>
            <a:off x="11106150" y="64198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lang="en-US" sz="1050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oundary-col-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52450" y="1619250"/>
            <a:ext cx="3476625" cy="3714750"/>
          </a:xfrm>
          <a:prstGeom prst="roundRect">
            <a:avLst>
              <a:gd name="adj" fmla="val 3288"/>
            </a:avLst>
          </a:prstGeom>
          <a:solidFill>
            <a:srgbClr val="E7F0E9"/>
          </a:solidFill>
          <a:ln w="0">
            <a:noFill/>
            <a:prstDash val="solid"/>
          </a:ln>
        </p:spPr>
      </p:sp>
      <p:sp>
        <p:nvSpPr>
          <p:cNvPr id="7" name="boundary-col-title-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00100" y="19050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6D8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6D8F78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已证明</a:t>
            </a:r>
            <a:endParaRPr sz="2175" b="1">
              <a:solidFill>
                <a:srgbClr val="6D8F78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cxnSp>
        <p:nvCxnSpPr>
          <p:cNvPr id="27" name="boundary-col-rule-0"/>
          <p:cNvCxnSpPr/>
          <p:nvPr>
            <p:custDataLst>
              <p:tags r:id="rId3"/>
            </p:custDataLst>
          </p:nvPr>
        </p:nvCxnSpPr>
        <p:spPr>
          <a:xfrm>
            <a:off x="800100" y="2457450"/>
            <a:ext cx="857250" cy="0"/>
          </a:xfrm>
          <a:prstGeom prst="straightConnector1">
            <a:avLst/>
          </a:prstGeom>
          <a:ln w="38100">
            <a:solidFill>
              <a:srgbClr val="6D8F78"/>
            </a:solidFill>
            <a:prstDash val="solid"/>
          </a:ln>
        </p:spPr>
      </p:cxnSp>
      <p:sp>
        <p:nvSpPr>
          <p:cNvPr id="9" name="boundary-col-copy-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19150" y="2809875"/>
            <a:ext cx="295275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产品真实上线并可访问</a:t>
            </a:r>
            <a:endParaRPr sz="15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150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工程回归与安全门通过</a:t>
            </a:r>
            <a:endParaRPr sz="15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150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移动端、断网降级可用</a:t>
            </a:r>
            <a:endParaRPr sz="15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boundary-col-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371975" y="1619250"/>
            <a:ext cx="3476625" cy="3714750"/>
          </a:xfrm>
          <a:prstGeom prst="roundRect">
            <a:avLst>
              <a:gd name="adj" fmla="val 3288"/>
            </a:avLst>
          </a:prstGeom>
          <a:solidFill>
            <a:srgbClr val="F6DFDD"/>
          </a:solidFill>
          <a:ln w="0">
            <a:noFill/>
            <a:prstDash val="solid"/>
          </a:ln>
        </p:spPr>
      </p:sp>
      <p:sp>
        <p:nvSpPr>
          <p:cNvPr id="11" name="boundary-col-title-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619625" y="19050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B4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B44747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尚未证明</a:t>
            </a:r>
            <a:endParaRPr sz="2175" b="1">
              <a:solidFill>
                <a:srgbClr val="B44747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cxnSp>
        <p:nvCxnSpPr>
          <p:cNvPr id="31" name="boundary-col-rule-1"/>
          <p:cNvCxnSpPr/>
          <p:nvPr>
            <p:custDataLst>
              <p:tags r:id="rId7"/>
            </p:custDataLst>
          </p:nvPr>
        </p:nvCxnSpPr>
        <p:spPr>
          <a:xfrm>
            <a:off x="4619625" y="2457450"/>
            <a:ext cx="857250" cy="0"/>
          </a:xfrm>
          <a:prstGeom prst="straightConnector1">
            <a:avLst/>
          </a:prstGeom>
          <a:ln w="38100">
            <a:solidFill>
              <a:srgbClr val="B44747"/>
            </a:solidFill>
            <a:prstDash val="solid"/>
          </a:ln>
        </p:spPr>
      </p:cxnSp>
      <p:sp>
        <p:nvSpPr>
          <p:cNvPr id="13" name="boundary-col-copy-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638675" y="2809875"/>
            <a:ext cx="295275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是否真实降低反刍</a:t>
            </a:r>
            <a:endParaRPr sz="15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150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是否提升长期社交信心</a:t>
            </a:r>
            <a:endParaRPr sz="15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150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26 条 T7 尚未逐条填入实际输出</a:t>
            </a:r>
            <a:endParaRPr sz="15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boundary-col-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191500" y="1619250"/>
            <a:ext cx="3476625" cy="3714750"/>
          </a:xfrm>
          <a:prstGeom prst="roundRect">
            <a:avLst>
              <a:gd name="adj" fmla="val 3288"/>
            </a:avLst>
          </a:prstGeom>
          <a:solidFill>
            <a:srgbClr val="F2E8DB"/>
          </a:solidFill>
          <a:ln w="0">
            <a:noFill/>
            <a:prstDash val="solid"/>
          </a:ln>
        </p:spPr>
      </p:sp>
      <p:sp>
        <p:nvSpPr>
          <p:cNvPr id="15" name="boundary-col-title-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439150" y="190500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8E6035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下一步</a:t>
            </a:r>
            <a:endParaRPr sz="2175" b="1">
              <a:solidFill>
                <a:srgbClr val="8E6035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  <p:cxnSp>
        <p:nvCxnSpPr>
          <p:cNvPr id="35" name="boundary-col-rule-2"/>
          <p:cNvCxnSpPr/>
          <p:nvPr>
            <p:custDataLst>
              <p:tags r:id="rId11"/>
            </p:custDataLst>
          </p:nvPr>
        </p:nvCxnSpPr>
        <p:spPr>
          <a:xfrm>
            <a:off x="8439150" y="2457450"/>
            <a:ext cx="857250" cy="0"/>
          </a:xfrm>
          <a:prstGeom prst="straightConnector1">
            <a:avLst/>
          </a:prstGeom>
          <a:ln w="38100">
            <a:solidFill>
              <a:srgbClr val="8E6035"/>
            </a:solidFill>
            <a:prstDash val="solid"/>
          </a:ln>
        </p:spPr>
      </p:cxnSp>
      <p:sp>
        <p:nvSpPr>
          <p:cNvPr id="17" name="boundary-col-copy-2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8458200" y="2809875"/>
            <a:ext cx="295275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≥10 轮真实用户对话与前后自评</a:t>
            </a:r>
            <a:endParaRPr sz="15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150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补齐隐晦 / 反讽式危机测试</a:t>
            </a:r>
            <a:endParaRPr sz="15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150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专业、伦理与跨境数据复核</a:t>
            </a:r>
            <a:endParaRPr sz="1500" b="0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boundary-callout"/>
          <p:cNvSpPr>
            <a:spLocks noGrp="1"/>
          </p:cNvSpPr>
          <p:nvPr/>
        </p:nvSpPr>
        <p:spPr>
          <a:xfrm>
            <a:off x="2000250" y="5657850"/>
            <a:ext cx="8191500" cy="514350"/>
          </a:xfrm>
          <a:prstGeom prst="roundRect">
            <a:avLst>
              <a:gd name="adj" fmla="val 14815"/>
            </a:avLst>
          </a:prstGeom>
          <a:solidFill>
            <a:srgbClr val="242320"/>
          </a:solidFill>
          <a:ln w="0">
            <a:noFill/>
            <a:prstDash val="solid"/>
          </a:ln>
        </p:spPr>
      </p:sp>
      <p:sp>
        <p:nvSpPr>
          <p:cNvPr id="19" name="boundary-callout-text"/>
          <p:cNvSpPr>
            <a:spLocks noGrp="1"/>
          </p:cNvSpPr>
          <p:nvPr/>
        </p:nvSpPr>
        <p:spPr>
          <a:xfrm>
            <a:off x="2266950" y="5791200"/>
            <a:ext cx="7658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工程可靠性已经有证据；心理有效性仍必须由真实用户研究回答。</a:t>
            </a:r>
            <a:endParaRPr sz="15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losing-kicker"/>
          <p:cNvSpPr>
            <a:spLocks noGrp="1"/>
          </p:cNvSpPr>
          <p:nvPr/>
        </p:nvSpPr>
        <p:spPr>
          <a:xfrm>
            <a:off x="552450" y="476250"/>
            <a:ext cx="609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8E603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PROJECT → PROBLEM → SOLUTION → EVALUATION</a:t>
            </a:r>
            <a:endParaRPr sz="1050" b="1">
              <a:solidFill>
                <a:srgbClr val="8E603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" name="closing-title"/>
          <p:cNvSpPr>
            <a:spLocks noGrp="1"/>
          </p:cNvSpPr>
          <p:nvPr/>
        </p:nvSpPr>
        <p:spPr>
          <a:xfrm>
            <a:off x="552450" y="1352550"/>
            <a:ext cx="66675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43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AI 是练习场，</a:t>
            </a:r>
            <a:endParaRPr sz="43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43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真实连接才是目的地。</a:t>
            </a:r>
            <a:endParaRPr sz="435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closing-summary"/>
          <p:cNvSpPr>
            <a:spLocks noGrp="1"/>
          </p:cNvSpPr>
          <p:nvPr/>
        </p:nvSpPr>
        <p:spPr>
          <a:xfrm>
            <a:off x="571500" y="3314700"/>
            <a:ext cx="65722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77736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我们做了一个面向留学生社交受挫后反刍的情绪梳理 </a:t>
            </a:r>
            <a:r>
              <a:rPr sz="1650" b="0">
                <a:solidFill>
                  <a:srgbClr val="77736D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Agent</a:t>
            </a:r>
            <a:r>
              <a:rPr sz="1650" b="0">
                <a:solidFill>
                  <a:srgbClr val="77736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650" b="0">
              <a:solidFill>
                <a:srgbClr val="77736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16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77736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它先接住情绪、再澄清事件、最后形成一个小行动；</a:t>
            </a:r>
            <a:endParaRPr sz="1650" b="0">
              <a:solidFill>
                <a:srgbClr val="77736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16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77736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产品已经上线并通过工程安全验收，真实用户有效性仍将继续验证。</a:t>
            </a:r>
            <a:endParaRPr sz="1650" b="0">
              <a:solidFill>
                <a:srgbClr val="77736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closing-team"/>
          <p:cNvSpPr>
            <a:spLocks noGrp="1"/>
          </p:cNvSpPr>
          <p:nvPr/>
        </p:nvSpPr>
        <p:spPr>
          <a:xfrm>
            <a:off x="571500" y="4744720"/>
            <a:ext cx="5905500" cy="14522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6 组</a:t>
            </a:r>
            <a:r>
              <a:rPr lang="zh-CN" sz="20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：林金茂</a:t>
            </a:r>
            <a:r>
              <a:rPr lang="en-US" altLang="zh-CN" sz="20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000" b="1">
                <a:solidFill>
                  <a:srgbClr val="24232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袁一丁</a:t>
            </a:r>
            <a:endParaRPr lang="zh-CN" altLang="en-US" sz="2000" b="1">
              <a:solidFill>
                <a:srgbClr val="24232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qr-product-frame"/>
          <p:cNvSpPr>
            <a:spLocks noGrp="1"/>
          </p:cNvSpPr>
          <p:nvPr/>
        </p:nvSpPr>
        <p:spPr>
          <a:xfrm>
            <a:off x="7829550" y="971550"/>
            <a:ext cx="1600200" cy="20955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BC7BE"/>
            </a:solidFill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9100" y="1181100"/>
            <a:ext cx="1181100" cy="1181100"/>
          </a:xfrm>
          <a:prstGeom prst="rect">
            <a:avLst/>
          </a:prstGeom>
        </p:spPr>
      </p:pic>
      <p:sp>
        <p:nvSpPr>
          <p:cNvPr id="8" name="qr-product-label"/>
          <p:cNvSpPr>
            <a:spLocks noGrp="1"/>
          </p:cNvSpPr>
          <p:nvPr/>
        </p:nvSpPr>
        <p:spPr>
          <a:xfrm>
            <a:off x="7962900" y="25431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体验产品</a:t>
            </a:r>
            <a:endParaRPr sz="1350" b="1">
              <a:solidFill>
                <a:srgbClr val="2423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qr-repo-frame"/>
          <p:cNvSpPr>
            <a:spLocks noGrp="1"/>
          </p:cNvSpPr>
          <p:nvPr/>
        </p:nvSpPr>
        <p:spPr>
          <a:xfrm>
            <a:off x="9639300" y="971550"/>
            <a:ext cx="1600200" cy="20955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BC7BE"/>
            </a:solidFill>
            <a:prstDash val="solid"/>
          </a:ln>
        </p:spPr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8850" y="1181100"/>
            <a:ext cx="1181100" cy="1181100"/>
          </a:xfrm>
          <a:prstGeom prst="rect">
            <a:avLst/>
          </a:prstGeom>
        </p:spPr>
      </p:pic>
      <p:sp>
        <p:nvSpPr>
          <p:cNvPr id="11" name="qr-repo-label"/>
          <p:cNvSpPr>
            <a:spLocks noGrp="1"/>
          </p:cNvSpPr>
          <p:nvPr/>
        </p:nvSpPr>
        <p:spPr>
          <a:xfrm>
            <a:off x="9772650" y="25431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查看仓库</a:t>
            </a:r>
            <a:endParaRPr sz="1350" b="1">
              <a:solidFill>
                <a:srgbClr val="2423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product-url"/>
          <p:cNvSpPr>
            <a:spLocks noGrp="1"/>
          </p:cNvSpPr>
          <p:nvPr/>
        </p:nvSpPr>
        <p:spPr>
          <a:xfrm>
            <a:off x="7772400" y="3657600"/>
            <a:ext cx="3524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>
                <a:solidFill>
                  <a:srgbClr val="8E60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8E603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bnu-ai-agent-class.github.io/6/</a:t>
            </a:r>
            <a:endParaRPr sz="2000" b="1">
              <a:solidFill>
                <a:srgbClr val="8E603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3" name="repo-url"/>
          <p:cNvSpPr>
            <a:spLocks noGrp="1"/>
          </p:cNvSpPr>
          <p:nvPr/>
        </p:nvSpPr>
        <p:spPr>
          <a:xfrm>
            <a:off x="7772400" y="4248150"/>
            <a:ext cx="3524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>
                <a:solidFill>
                  <a:srgbClr val="2423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4232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github.com/BNU-AI-Agent-Class/6</a:t>
            </a:r>
            <a:endParaRPr sz="1800" b="0">
              <a:solidFill>
                <a:srgbClr val="24232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4" name="closing-boundary"/>
          <p:cNvSpPr>
            <a:spLocks noGrp="1"/>
          </p:cNvSpPr>
          <p:nvPr/>
        </p:nvSpPr>
        <p:spPr>
          <a:xfrm>
            <a:off x="7772400" y="4900930"/>
            <a:ext cx="3885565" cy="3879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>
                <a:solidFill>
                  <a:srgbClr val="B4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B447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不替代心理咨询、医疗诊断或紧急服务。</a:t>
            </a:r>
            <a:endParaRPr sz="1600" b="1">
              <a:solidFill>
                <a:srgbClr val="B447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closing-source"/>
          <p:cNvSpPr>
            <a:spLocks noGrp="1"/>
          </p:cNvSpPr>
          <p:nvPr/>
        </p:nvSpPr>
        <p:spPr>
          <a:xfrm>
            <a:off x="55245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产品与证据来源：BNU-AI-Agent-Class/6 主分支</a:t>
            </a:r>
            <a:endParaRPr sz="825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closing-page"/>
          <p:cNvSpPr>
            <a:spLocks noGrp="1"/>
          </p:cNvSpPr>
          <p:nvPr/>
        </p:nvSpPr>
        <p:spPr>
          <a:xfrm>
            <a:off x="11106150" y="64198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050" b="0">
                <a:solidFill>
                  <a:srgbClr val="7773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lang="en-US" sz="1050" b="0">
              <a:solidFill>
                <a:srgbClr val="7773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8_3*m_i*1_1"/>
  <p:tag name="KSO_WM_TEMPLATE_CATEGORY" val="diagram"/>
  <p:tag name="KSO_WM_TEMPLATE_INDEX" val="20236918"/>
  <p:tag name="KSO_WM_UNIT_LAYERLEVEL" val="1_1"/>
  <p:tag name="KSO_WM_TAG_VERSION" val="3.0"/>
  <p:tag name="KSO_WM_BEAUTIFY_FLAG" val="#wm#"/>
  <p:tag name="KSO_WM_DIAGRAM_GROUP_CODE" val="m1-1"/>
  <p:tag name="KSO_WM_UNIT_TYPE" val="m_i"/>
  <p:tag name="KSO_WM_UNIT_INDEX" val="1_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1,&quot;foreColorIndex&quot;:5,&quot;pos&quot;:1,&quot;transparency&quot;:0.6000000238418579},{&quot;brightness&quot;:0,&quot;colorType&quot;:1,&quot;foreColorIndex&quot;:5,&quot;pos&quot;:0.4699999988079071,&quot;transparency&quot;:0.800000011920929},{&quot;brightness&quot;:0,&quot;colorType&quot;:1,&quot;foreColorIndex&quot;:5,&quot;pos&quot;:0,&quot;transparency&quot;:1}],&quot;type&quot;:3},&quot;glow&quot;:{&quot;colorType&quot;:0},&quot;line&quot;:{&quot;gradient&quot;:[{&quot;brightness&quot;:0,&quot;colorType&quot;:1,&quot;foreColorIndex&quot;:5,&quot;pos&quot;:0.6800000071525574,&quot;transparency&quot;:0},{&quot;brightness&quot;:0,&quot;colorType&quot;:1,&quot;foreColorIndex&quot;:5,&quot;pos&quot;:0.33000001311302185,&quot;transparency&quot;:0.6000000238418579},{&quot;brightness&quot;:0,&quot;colorType&quot;:1,&quot;foreColorIndex&quot;:5,&quot;pos&quot;:0,&quot;transparency&quot;:1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2_1"/>
  <p:tag name="KSO_WM_UNIT_ID" val="diagram20236918_3*m_h_i*1_2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8_3*m_h_i*1_3_2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3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5,&quot;transparency&quot;:0.6000000238418579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3_1"/>
  <p:tag name="KSO_WM_UNIT_ID" val="diagram20236918_3*m_h_i*1_3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6918_3*m_h_a*1_2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2,&quot;pos&quot;:0.23000000417232513,&quot;rgb&quot;:&quot;#ffffff&quot;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6918_3*m_h_a*1_3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2,&quot;pos&quot;:0.23000000417232513,&quot;rgb&quot;:&quot;#ffffff&quot;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8_3*m_h_i*1_2_2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2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5,&quot;transparency&quot;:0.6000000238418579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8_3*m_h_i*1_4_2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4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5,&quot;transparency&quot;:0.6000000238418579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6918_3*m_h_i*1_1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4_1"/>
  <p:tag name="KSO_WM_UNIT_ID" val="diagram20236918_3*m_h_i*1_4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6918_3*m_h_a*1_1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2,&quot;pos&quot;:0.23000000417232513,&quot;rgb&quot;:&quot;#ffffff&quot;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1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6918_3*m_h_a*1_4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2,&quot;pos&quot;:0.23000000417232513,&quot;rgb&quot;:&quot;#ffffff&quot;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16.xml><?xml version="1.0" encoding="utf-8"?>
<p:tagLst xmlns:p="http://schemas.openxmlformats.org/presentationml/2006/main">
  <p:tag name="KSO_WM_DIAGRAM_VIRTUALLY_FRAME" val="{&quot;height&quot;:141,&quot;left&quot;:54,&quot;top&quot;:178.5,&quot;width&quot;:805.5}"/>
</p:tagLst>
</file>

<file path=ppt/tags/tag17.xml><?xml version="1.0" encoding="utf-8"?>
<p:tagLst xmlns:p="http://schemas.openxmlformats.org/presentationml/2006/main">
  <p:tag name="KSO_WM_DIAGRAM_VIRTUALLY_FRAME" val="{&quot;height&quot;:141,&quot;left&quot;:54,&quot;top&quot;:178.5,&quot;width&quot;:805.5}"/>
</p:tagLst>
</file>

<file path=ppt/tags/tag18.xml><?xml version="1.0" encoding="utf-8"?>
<p:tagLst xmlns:p="http://schemas.openxmlformats.org/presentationml/2006/main">
  <p:tag name="KSO_WM_DIAGRAM_VIRTUALLY_FRAME" val="{&quot;height&quot;:141,&quot;left&quot;:54,&quot;top&quot;:178.5,&quot;width&quot;:805.5}"/>
</p:tagLst>
</file>

<file path=ppt/tags/tag19.xml><?xml version="1.0" encoding="utf-8"?>
<p:tagLst xmlns:p="http://schemas.openxmlformats.org/presentationml/2006/main">
  <p:tag name="KSO_WM_DIAGRAM_VIRTUALLY_FRAME" val="{&quot;height&quot;:141,&quot;left&quot;:54,&quot;top&quot;:178.5,&quot;width&quot;:805.5}"/>
</p:tagLst>
</file>

<file path=ppt/tags/tag20.xml><?xml version="1.0" encoding="utf-8"?>
<p:tagLst xmlns:p="http://schemas.openxmlformats.org/presentationml/2006/main">
  <p:tag name="KSO_WM_DIAGRAM_VIRTUALLY_FRAME" val="{&quot;height&quot;:141,&quot;left&quot;:54,&quot;top&quot;:178.5,&quot;width&quot;:805.5}"/>
</p:tagLst>
</file>

<file path=ppt/tags/tag21.xml><?xml version="1.0" encoding="utf-8"?>
<p:tagLst xmlns:p="http://schemas.openxmlformats.org/presentationml/2006/main">
  <p:tag name="KSO_WM_DIAGRAM_VIRTUALLY_FRAME" val="{&quot;height&quot;:141,&quot;left&quot;:54,&quot;top&quot;:178.5,&quot;width&quot;:805.5}"/>
</p:tagLst>
</file>

<file path=ppt/tags/tag22.xml><?xml version="1.0" encoding="utf-8"?>
<p:tagLst xmlns:p="http://schemas.openxmlformats.org/presentationml/2006/main">
  <p:tag name="KSO_WM_DIAGRAM_VIRTUALLY_FRAME" val="{&quot;height&quot;:141,&quot;left&quot;:54,&quot;top&quot;:178.5,&quot;width&quot;:805.5}"/>
</p:tagLst>
</file>

<file path=ppt/tags/tag23.xml><?xml version="1.0" encoding="utf-8"?>
<p:tagLst xmlns:p="http://schemas.openxmlformats.org/presentationml/2006/main">
  <p:tag name="KSO_WM_DIAGRAM_VIRTUALLY_FRAME" val="{&quot;height&quot;:141,&quot;left&quot;:54,&quot;top&quot;:178.5,&quot;width&quot;:805.5}"/>
</p:tagLst>
</file>

<file path=ppt/tags/tag24.xml><?xml version="1.0" encoding="utf-8"?>
<p:tagLst xmlns:p="http://schemas.openxmlformats.org/presentationml/2006/main">
  <p:tag name="KSO_WM_DIAGRAM_VIRTUALLY_FRAME" val="{&quot;height&quot;:141,&quot;left&quot;:54,&quot;top&quot;:178.5,&quot;width&quot;:805.5}"/>
</p:tagLst>
</file>

<file path=ppt/tags/tag25.xml><?xml version="1.0" encoding="utf-8"?>
<p:tagLst xmlns:p="http://schemas.openxmlformats.org/presentationml/2006/main">
  <p:tag name="KSO_WM_DIAGRAM_VIRTUALLY_FRAME" val="{&quot;height&quot;:141,&quot;left&quot;:54,&quot;top&quot;:178.5,&quot;width&quot;:805.5}"/>
</p:tagLst>
</file>

<file path=ppt/tags/tag26.xml><?xml version="1.0" encoding="utf-8"?>
<p:tagLst xmlns:p="http://schemas.openxmlformats.org/presentationml/2006/main">
  <p:tag name="KSO_WM_DIAGRAM_VIRTUALLY_FRAME" val="{&quot;height&quot;:141,&quot;left&quot;:54,&quot;top&quot;:178.5,&quot;width&quot;:805.5}"/>
</p:tagLst>
</file>

<file path=ppt/tags/tag27.xml><?xml version="1.0" encoding="utf-8"?>
<p:tagLst xmlns:p="http://schemas.openxmlformats.org/presentationml/2006/main">
  <p:tag name="KSO_WM_DIAGRAM_VIRTUALLY_FRAME" val="{&quot;height&quot;:141,&quot;left&quot;:54,&quot;top&quot;:178.5,&quot;width&quot;:805.5}"/>
</p:tagLst>
</file>

<file path=ppt/tags/tag28.xml><?xml version="1.0" encoding="utf-8"?>
<p:tagLst xmlns:p="http://schemas.openxmlformats.org/presentationml/2006/main">
  <p:tag name="KSO_WM_DIAGRAM_VIRTUALLY_FRAME" val="{&quot;height&quot;:141,&quot;left&quot;:54,&quot;top&quot;:178.5,&quot;width&quot;:805.5}"/>
</p:tagLst>
</file>

<file path=ppt/tags/tag29.xml><?xml version="1.0" encoding="utf-8"?>
<p:tagLst xmlns:p="http://schemas.openxmlformats.org/presentationml/2006/main">
  <p:tag name="KSO_WM_DIAGRAM_VIRTUALLY_FRAME" val="{&quot;height&quot;:141,&quot;left&quot;:54,&quot;top&quot;:178.5,&quot;width&quot;:805.5}"/>
</p:tagLst>
</file>

<file path=ppt/tags/tag30.xml><?xml version="1.0" encoding="utf-8"?>
<p:tagLst xmlns:p="http://schemas.openxmlformats.org/presentationml/2006/main">
  <p:tag name="KSO_WM_DIAGRAM_VIRTUALLY_FRAME" val="{&quot;height&quot;:141,&quot;left&quot;:54,&quot;top&quot;:178.5,&quot;width&quot;:805.5}"/>
</p:tagLst>
</file>

<file path=ppt/tags/tag31.xml><?xml version="1.0" encoding="utf-8"?>
<p:tagLst xmlns:p="http://schemas.openxmlformats.org/presentationml/2006/main">
  <p:tag name="KSO_WM_DIAGRAM_VIRTUALLY_FRAME" val="{&quot;height&quot;:141,&quot;left&quot;:54,&quot;top&quot;:178.5,&quot;width&quot;:805.5}"/>
</p:tagLst>
</file>

<file path=ppt/tags/tag32.xml><?xml version="1.0" encoding="utf-8"?>
<p:tagLst xmlns:p="http://schemas.openxmlformats.org/presentationml/2006/main">
  <p:tag name="KSO_WM_DIAGRAM_VIRTUALLY_FRAME" val="{&quot;height&quot;:141,&quot;left&quot;:54,&quot;top&quot;:178.5,&quot;width&quot;:805.5}"/>
</p:tagLst>
</file>

<file path=ppt/tags/tag33.xml><?xml version="1.0" encoding="utf-8"?>
<p:tagLst xmlns:p="http://schemas.openxmlformats.org/presentationml/2006/main">
  <p:tag name="KSO_WM_DIAGRAM_VIRTUALLY_FRAME" val="{&quot;height&quot;:141,&quot;left&quot;:54,&quot;top&quot;:178.5,&quot;width&quot;:805.5}"/>
</p:tagLst>
</file>

<file path=ppt/tags/tag34.xml><?xml version="1.0" encoding="utf-8"?>
<p:tagLst xmlns:p="http://schemas.openxmlformats.org/presentationml/2006/main">
  <p:tag name="KSO_WM_DIAGRAM_VIRTUALLY_FRAME" val="{&quot;height&quot;:141,&quot;left&quot;:54,&quot;top&quot;:178.5,&quot;width&quot;:805.5}"/>
</p:tagLst>
</file>

<file path=ppt/tags/tag35.xml><?xml version="1.0" encoding="utf-8"?>
<p:tagLst xmlns:p="http://schemas.openxmlformats.org/presentationml/2006/main">
  <p:tag name="KSO_WM_DIAGRAM_VIRTUALLY_FRAME" val="{&quot;height&quot;:141,&quot;left&quot;:54,&quot;top&quot;:178.5,&quot;width&quot;:805.5}"/>
</p:tagLst>
</file>

<file path=ppt/tags/tag36.xml><?xml version="1.0" encoding="utf-8"?>
<p:tagLst xmlns:p="http://schemas.openxmlformats.org/presentationml/2006/main">
  <p:tag name="KSO_WM_DIAGRAM_VIRTUALLY_FRAME" val="{&quot;height&quot;:141,&quot;left&quot;:54,&quot;top&quot;:178.5,&quot;width&quot;:805.5}"/>
</p:tagLst>
</file>

<file path=ppt/tags/tag37.xml><?xml version="1.0" encoding="utf-8"?>
<p:tagLst xmlns:p="http://schemas.openxmlformats.org/presentationml/2006/main">
  <p:tag name="KSO_WM_DIAGRAM_VIRTUALLY_FRAME" val="{&quot;height&quot;:141,&quot;left&quot;:54,&quot;top&quot;:178.5,&quot;width&quot;:805.5}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8_3*m_i*1_1"/>
  <p:tag name="KSO_WM_TEMPLATE_CATEGORY" val="diagram"/>
  <p:tag name="KSO_WM_TEMPLATE_INDEX" val="20236918"/>
  <p:tag name="KSO_WM_UNIT_LAYERLEVEL" val="1_1"/>
  <p:tag name="KSO_WM_TAG_VERSION" val="3.0"/>
  <p:tag name="KSO_WM_BEAUTIFY_FLAG" val="#wm#"/>
  <p:tag name="KSO_WM_DIAGRAM_GROUP_CODE" val="m1-1"/>
  <p:tag name="KSO_WM_UNIT_TYPE" val="m_i"/>
  <p:tag name="KSO_WM_UNIT_INDEX" val="1_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1,&quot;foreColorIndex&quot;:5,&quot;pos&quot;:1,&quot;transparency&quot;:0.6000000238418579},{&quot;brightness&quot;:0,&quot;colorType&quot;:1,&quot;foreColorIndex&quot;:5,&quot;pos&quot;:0.4699999988079071,&quot;transparency&quot;:0.800000011920929},{&quot;brightness&quot;:0,&quot;colorType&quot;:1,&quot;foreColorIndex&quot;:5,&quot;pos&quot;:0,&quot;transparency&quot;:1}],&quot;type&quot;:3},&quot;glow&quot;:{&quot;colorType&quot;:0},&quot;line&quot;:{&quot;gradient&quot;:[{&quot;brightness&quot;:0,&quot;colorType&quot;:1,&quot;foreColorIndex&quot;:5,&quot;pos&quot;:0.6800000071525574,&quot;transparency&quot;:0},{&quot;brightness&quot;:0,&quot;colorType&quot;:1,&quot;foreColorIndex&quot;:5,&quot;pos&quot;:0.33000001311302185,&quot;transparency&quot;:0.6000000238418579},{&quot;brightness&quot;:0,&quot;colorType&quot;:1,&quot;foreColorIndex&quot;:5,&quot;pos&quot;:0,&quot;transparency&quot;:1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2_1"/>
  <p:tag name="KSO_WM_UNIT_ID" val="diagram20236918_3*m_h_i*1_2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8_3*m_h_i*1_3_2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3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5,&quot;transparency&quot;:0.6000000238418579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3_1"/>
  <p:tag name="KSO_WM_UNIT_ID" val="diagram20236918_3*m_h_i*1_3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4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6918_3*m_h_a*1_2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2,&quot;pos&quot;:0.23000000417232513,&quot;rgb&quot;:&quot;#ffffff&quot;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6918_3*m_h_a*1_3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2,&quot;pos&quot;:0.23000000417232513,&quot;rgb&quot;:&quot;#ffffff&quot;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8_3*m_h_i*1_2_2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2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5,&quot;transparency&quot;:0.6000000238418579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8_3*m_h_i*1_4_2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4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5,&quot;transparency&quot;:0.6000000238418579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6918_3*m_h_i*1_1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4_1"/>
  <p:tag name="KSO_WM_UNIT_ID" val="diagram20236918_3*m_h_i*1_4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8_3*m_h_f*1_1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m1-1"/>
  <p:tag name="KSO_WM_UNIT_TYPE" val="m_h_f"/>
  <p:tag name="KSO_WM_UNIT_INDEX" val="1_1_1"/>
  <p:tag name="KSO_WM_DIAGRAM_VERSION" val="3"/>
  <p:tag name="KSO_WM_DIAGRAM_COLOR_TRICK" val="1"/>
  <p:tag name="KSO_WM_DIAGRAM_COLOR_TEXT_CAN_REMOVE" val="n"/>
  <p:tag name="KSO_WM_UNIT_PRESET_TEXT" val="单击此处添加文本，简明扼要地阐述观点。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6918_3*m_h_a*1_1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2,&quot;pos&quot;:0.23000000417232513,&quot;rgb&quot;:&quot;#ffffff&quot;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8_3*m_h_f*1_4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m1-1"/>
  <p:tag name="KSO_WM_UNIT_TYPE" val="m_h_f"/>
  <p:tag name="KSO_WM_UNIT_INDEX" val="1_4_1"/>
  <p:tag name="KSO_WM_DIAGRAM_VERSION" val="3"/>
  <p:tag name="KSO_WM_DIAGRAM_COLOR_TRICK" val="1"/>
  <p:tag name="KSO_WM_DIAGRAM_COLOR_TEXT_CAN_REMOVE" val="n"/>
  <p:tag name="KSO_WM_UNIT_PRESET_TEXT" val="单击此处添加文本，简明扼要地阐述观点。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6918_3*m_h_a*1_4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2,&quot;pos&quot;:0.23000000417232513,&quot;rgb&quot;:&quot;#ffffff&quot;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52.xml><?xml version="1.0" encoding="utf-8"?>
<p:tagLst xmlns:p="http://schemas.openxmlformats.org/presentationml/2006/main">
  <p:tag name="KSO_WM_DIAGRAM_VIRTUALLY_FRAME" val="{&quot;height&quot;:285,&quot;left&quot;:472.5,&quot;top&quot;:152.25,&quot;width&quot;:405}"/>
</p:tagLst>
</file>

<file path=ppt/tags/tag53.xml><?xml version="1.0" encoding="utf-8"?>
<p:tagLst xmlns:p="http://schemas.openxmlformats.org/presentationml/2006/main">
  <p:tag name="KSO_WM_DIAGRAM_VIRTUALLY_FRAME" val="{&quot;height&quot;:285,&quot;left&quot;:472.5,&quot;top&quot;:152.25,&quot;width&quot;:405}"/>
</p:tagLst>
</file>

<file path=ppt/tags/tag54.xml><?xml version="1.0" encoding="utf-8"?>
<p:tagLst xmlns:p="http://schemas.openxmlformats.org/presentationml/2006/main">
  <p:tag name="KSO_WM_DIAGRAM_VIRTUALLY_FRAME" val="{&quot;height&quot;:285,&quot;left&quot;:472.5,&quot;top&quot;:152.25,&quot;width&quot;:405}"/>
</p:tagLst>
</file>

<file path=ppt/tags/tag55.xml><?xml version="1.0" encoding="utf-8"?>
<p:tagLst xmlns:p="http://schemas.openxmlformats.org/presentationml/2006/main">
  <p:tag name="KSO_WM_DIAGRAM_VIRTUALLY_FRAME" val="{&quot;height&quot;:285,&quot;left&quot;:472.5,&quot;top&quot;:152.25,&quot;width&quot;:405}"/>
</p:tagLst>
</file>

<file path=ppt/tags/tag56.xml><?xml version="1.0" encoding="utf-8"?>
<p:tagLst xmlns:p="http://schemas.openxmlformats.org/presentationml/2006/main">
  <p:tag name="KSO_WM_DIAGRAM_VIRTUALLY_FRAME" val="{&quot;height&quot;:285,&quot;left&quot;:472.5,&quot;top&quot;:152.25,&quot;width&quot;:405}"/>
</p:tagLst>
</file>

<file path=ppt/tags/tag57.xml><?xml version="1.0" encoding="utf-8"?>
<p:tagLst xmlns:p="http://schemas.openxmlformats.org/presentationml/2006/main">
  <p:tag name="KSO_WM_DIAGRAM_VIRTUALLY_FRAME" val="{&quot;height&quot;:285,&quot;left&quot;:472.5,&quot;top&quot;:152.25,&quot;width&quot;:405}"/>
</p:tagLst>
</file>

<file path=ppt/tags/tag58.xml><?xml version="1.0" encoding="utf-8"?>
<p:tagLst xmlns:p="http://schemas.openxmlformats.org/presentationml/2006/main">
  <p:tag name="KSO_WM_DIAGRAM_VIRTUALLY_FRAME" val="{&quot;height&quot;:285,&quot;left&quot;:472.5,&quot;top&quot;:152.25,&quot;width&quot;:405}"/>
</p:tagLst>
</file>

<file path=ppt/tags/tag59.xml><?xml version="1.0" encoding="utf-8"?>
<p:tagLst xmlns:p="http://schemas.openxmlformats.org/presentationml/2006/main">
  <p:tag name="KSO_WM_DIAGRAM_VIRTUALLY_FRAME" val="{&quot;height&quot;:285,&quot;left&quot;:472.5,&quot;top&quot;:152.25,&quot;width&quot;:405}"/>
</p:tagLst>
</file>

<file path=ppt/tags/tag60.xml><?xml version="1.0" encoding="utf-8"?>
<p:tagLst xmlns:p="http://schemas.openxmlformats.org/presentationml/2006/main">
  <p:tag name="KSO_WM_DIAGRAM_VIRTUALLY_FRAME" val="{&quot;height&quot;:285,&quot;left&quot;:472.5,&quot;top&quot;:152.25,&quot;width&quot;:405}"/>
</p:tagLst>
</file>

<file path=ppt/tags/tag61.xml><?xml version="1.0" encoding="utf-8"?>
<p:tagLst xmlns:p="http://schemas.openxmlformats.org/presentationml/2006/main">
  <p:tag name="KSO_WM_DIAGRAM_VIRTUALLY_FRAME" val="{&quot;height&quot;:285,&quot;left&quot;:472.5,&quot;top&quot;:152.25,&quot;width&quot;:405}"/>
</p:tagLst>
</file>

<file path=ppt/tags/tag62.xml><?xml version="1.0" encoding="utf-8"?>
<p:tagLst xmlns:p="http://schemas.openxmlformats.org/presentationml/2006/main">
  <p:tag name="KSO_WM_DIAGRAM_VIRTUALLY_FRAME" val="{&quot;height&quot;:285,&quot;left&quot;:472.5,&quot;top&quot;:152.25,&quot;width&quot;:405}"/>
</p:tagLst>
</file>

<file path=ppt/tags/tag63.xml><?xml version="1.0" encoding="utf-8"?>
<p:tagLst xmlns:p="http://schemas.openxmlformats.org/presentationml/2006/main">
  <p:tag name="KSO_WM_DIAGRAM_VIRTUALLY_FRAME" val="{&quot;height&quot;:285,&quot;left&quot;:472.5,&quot;top&quot;:152.25,&quot;width&quot;:405}"/>
</p:tagLst>
</file>

<file path=ppt/tags/tag64.xml><?xml version="1.0" encoding="utf-8"?>
<p:tagLst xmlns:p="http://schemas.openxmlformats.org/presentationml/2006/main">
  <p:tag name="KSO_WM_DIAGRAM_VIRTUALLY_FRAME" val="{&quot;height&quot;:285,&quot;left&quot;:472.5,&quot;top&quot;:152.25,&quot;width&quot;:405}"/>
</p:tagLst>
</file>

<file path=ppt/tags/tag65.xml><?xml version="1.0" encoding="utf-8"?>
<p:tagLst xmlns:p="http://schemas.openxmlformats.org/presentationml/2006/main">
  <p:tag name="KSO_WM_DIAGRAM_VIRTUALLY_FRAME" val="{&quot;height&quot;:114,&quot;left&quot;:55.5,&quot;top&quot;:322.5,&quot;width&quot;:838.5}"/>
</p:tagLst>
</file>

<file path=ppt/tags/tag66.xml><?xml version="1.0" encoding="utf-8"?>
<p:tagLst xmlns:p="http://schemas.openxmlformats.org/presentationml/2006/main">
  <p:tag name="KSO_WM_DIAGRAM_VIRTUALLY_FRAME" val="{&quot;height&quot;:114,&quot;left&quot;:55.5,&quot;top&quot;:322.5,&quot;width&quot;:838.5}"/>
</p:tagLst>
</file>

<file path=ppt/tags/tag67.xml><?xml version="1.0" encoding="utf-8"?>
<p:tagLst xmlns:p="http://schemas.openxmlformats.org/presentationml/2006/main">
  <p:tag name="KSO_WM_DIAGRAM_VIRTUALLY_FRAME" val="{&quot;height&quot;:114,&quot;left&quot;:55.5,&quot;top&quot;:322.5,&quot;width&quot;:838.5}"/>
</p:tagLst>
</file>

<file path=ppt/tags/tag68.xml><?xml version="1.0" encoding="utf-8"?>
<p:tagLst xmlns:p="http://schemas.openxmlformats.org/presentationml/2006/main">
  <p:tag name="KSO_WM_DIAGRAM_VIRTUALLY_FRAME" val="{&quot;height&quot;:114,&quot;left&quot;:55.5,&quot;top&quot;:322.5,&quot;width&quot;:838.5}"/>
</p:tagLst>
</file>

<file path=ppt/tags/tag69.xml><?xml version="1.0" encoding="utf-8"?>
<p:tagLst xmlns:p="http://schemas.openxmlformats.org/presentationml/2006/main">
  <p:tag name="KSO_WM_DIAGRAM_VIRTUALLY_FRAME" val="{&quot;height&quot;:114,&quot;left&quot;:55.5,&quot;top&quot;:322.5,&quot;width&quot;:838.5}"/>
</p:tagLst>
</file>

<file path=ppt/tags/tag70.xml><?xml version="1.0" encoding="utf-8"?>
<p:tagLst xmlns:p="http://schemas.openxmlformats.org/presentationml/2006/main">
  <p:tag name="KSO_WM_DIAGRAM_VIRTUALLY_FRAME" val="{&quot;height&quot;:114,&quot;left&quot;:55.5,&quot;top&quot;:322.5,&quot;width&quot;:838.5}"/>
</p:tagLst>
</file>

<file path=ppt/tags/tag71.xml><?xml version="1.0" encoding="utf-8"?>
<p:tagLst xmlns:p="http://schemas.openxmlformats.org/presentationml/2006/main">
  <p:tag name="KSO_WM_DIAGRAM_VIRTUALLY_FRAME" val="{&quot;height&quot;:114,&quot;left&quot;:55.5,&quot;top&quot;:322.5,&quot;width&quot;:838.5}"/>
</p:tagLst>
</file>

<file path=ppt/tags/tag72.xml><?xml version="1.0" encoding="utf-8"?>
<p:tagLst xmlns:p="http://schemas.openxmlformats.org/presentationml/2006/main">
  <p:tag name="KSO_WM_DIAGRAM_VIRTUALLY_FRAME" val="{&quot;height&quot;:114,&quot;left&quot;:55.5,&quot;top&quot;:322.5,&quot;width&quot;:838.5}"/>
</p:tagLst>
</file>

<file path=ppt/tags/tag73.xml><?xml version="1.0" encoding="utf-8"?>
<p:tagLst xmlns:p="http://schemas.openxmlformats.org/presentationml/2006/main">
  <p:tag name="KSO_WM_DIAGRAM_VIRTUALLY_FRAME" val="{&quot;height&quot;:114,&quot;left&quot;:55.5,&quot;top&quot;:322.5,&quot;width&quot;:838.5}"/>
</p:tagLst>
</file>

<file path=ppt/tags/tag74.xml><?xml version="1.0" encoding="utf-8"?>
<p:tagLst xmlns:p="http://schemas.openxmlformats.org/presentationml/2006/main">
  <p:tag name="KSO_WM_DIAGRAM_VIRTUALLY_FRAME" val="{&quot;height&quot;:114,&quot;left&quot;:55.5,&quot;top&quot;:322.5,&quot;width&quot;:838.5}"/>
</p:tagLst>
</file>

<file path=ppt/tags/tag75.xml><?xml version="1.0" encoding="utf-8"?>
<p:tagLst xmlns:p="http://schemas.openxmlformats.org/presentationml/2006/main">
  <p:tag name="KSO_WM_DIAGRAM_VIRTUALLY_FRAME" val="{&quot;height&quot;:114,&quot;left&quot;:55.5,&quot;top&quot;:322.5,&quot;width&quot;:838.5}"/>
</p:tagLst>
</file>

<file path=ppt/tags/tag76.xml><?xml version="1.0" encoding="utf-8"?>
<p:tagLst xmlns:p="http://schemas.openxmlformats.org/presentationml/2006/main">
  <p:tag name="KSO_WM_DIAGRAM_VIRTUALLY_FRAME" val="{&quot;height&quot;:114,&quot;left&quot;:55.5,&quot;top&quot;:322.5,&quot;width&quot;:838.5}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8_3*m_i*1_1"/>
  <p:tag name="KSO_WM_TEMPLATE_CATEGORY" val="diagram"/>
  <p:tag name="KSO_WM_TEMPLATE_INDEX" val="20236918"/>
  <p:tag name="KSO_WM_UNIT_LAYERLEVEL" val="1_1"/>
  <p:tag name="KSO_WM_TAG_VERSION" val="3.0"/>
  <p:tag name="KSO_WM_BEAUTIFY_FLAG" val="#wm#"/>
  <p:tag name="KSO_WM_DIAGRAM_GROUP_CODE" val="m1-1"/>
  <p:tag name="KSO_WM_UNIT_TYPE" val="m_i"/>
  <p:tag name="KSO_WM_UNIT_INDEX" val="1_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1,&quot;foreColorIndex&quot;:5,&quot;pos&quot;:1,&quot;transparency&quot;:0.6000000238418579},{&quot;brightness&quot;:0,&quot;colorType&quot;:1,&quot;foreColorIndex&quot;:5,&quot;pos&quot;:0.4699999988079071,&quot;transparency&quot;:0.800000011920929},{&quot;brightness&quot;:0,&quot;colorType&quot;:1,&quot;foreColorIndex&quot;:5,&quot;pos&quot;:0,&quot;transparency&quot;:1}],&quot;type&quot;:3},&quot;glow&quot;:{&quot;colorType&quot;:0},&quot;line&quot;:{&quot;gradient&quot;:[{&quot;brightness&quot;:0,&quot;colorType&quot;:1,&quot;foreColorIndex&quot;:5,&quot;pos&quot;:0.6800000071525574,&quot;transparency&quot;:0},{&quot;brightness&quot;:0,&quot;colorType&quot;:1,&quot;foreColorIndex&quot;:5,&quot;pos&quot;:0.33000001311302185,&quot;transparency&quot;:0.6000000238418579},{&quot;brightness&quot;:0,&quot;colorType&quot;:1,&quot;foreColorIndex&quot;:5,&quot;pos&quot;:0,&quot;transparency&quot;:1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2_1"/>
  <p:tag name="KSO_WM_UNIT_ID" val="diagram20236918_3*m_h_i*1_2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8_3*m_h_i*1_3_2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3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5,&quot;transparency&quot;:0.6000000238418579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3_1"/>
  <p:tag name="KSO_WM_UNIT_ID" val="diagram20236918_3*m_h_i*1_3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6918_3*m_h_a*1_2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2,&quot;pos&quot;:0.23000000417232513,&quot;rgb&quot;:&quot;#ffffff&quot;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8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6918_3*m_h_a*1_3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2,&quot;pos&quot;:0.23000000417232513,&quot;rgb&quot;:&quot;#ffffff&quot;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8_3*m_h_i*1_2_2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2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5,&quot;transparency&quot;:0.6000000238418579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8_3*m_h_i*1_4_2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4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5,&quot;transparency&quot;:0.6000000238418579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6918_3*m_h_i*1_1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4_1"/>
  <p:tag name="KSO_WM_UNIT_ID" val="diagram20236918_3*m_h_i*1_4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8_3*m_h_f*1_1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m1-1"/>
  <p:tag name="KSO_WM_UNIT_TYPE" val="m_h_f"/>
  <p:tag name="KSO_WM_UNIT_INDEX" val="1_1_1"/>
  <p:tag name="KSO_WM_DIAGRAM_VERSION" val="3"/>
  <p:tag name="KSO_WM_DIAGRAM_COLOR_TRICK" val="1"/>
  <p:tag name="KSO_WM_DIAGRAM_COLOR_TEXT_CAN_REMOVE" val="n"/>
  <p:tag name="KSO_WM_UNIT_PRESET_TEXT" val="单击此处添加文本，简明扼要地阐述观点。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6918_3*m_h_a*1_1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2,&quot;pos&quot;:0.23000000417232513,&quot;rgb&quot;:&quot;#ffffff&quot;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8_3*m_h_f*1_4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m1-1"/>
  <p:tag name="KSO_WM_UNIT_TYPE" val="m_h_f"/>
  <p:tag name="KSO_WM_UNIT_INDEX" val="1_4_1"/>
  <p:tag name="KSO_WM_DIAGRAM_VERSION" val="3"/>
  <p:tag name="KSO_WM_DIAGRAM_COLOR_TRICK" val="1"/>
  <p:tag name="KSO_WM_DIAGRAM_COLOR_TEXT_CAN_REMOVE" val="n"/>
  <p:tag name="KSO_WM_UNIT_PRESET_TEXT" val="单击此处添加文本，简明扼要地阐述观点。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9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6918_3*m_h_a*1_4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2,&quot;pos&quot;:0.23000000417232513,&quot;rgb&quot;:&quot;#ffffff&quot;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91.xml><?xml version="1.0" encoding="utf-8"?>
<p:tagLst xmlns:p="http://schemas.openxmlformats.org/presentationml/2006/main">
  <p:tag name="KSO_WM_DIAGRAM_VIRTUALLY_FRAME" val="{&quot;height&quot;:255,&quot;left&quot;:46.5,&quot;top&quot;:146.25,&quot;width&quot;:868.5}"/>
</p:tagLst>
</file>

<file path=ppt/tags/tag92.xml><?xml version="1.0" encoding="utf-8"?>
<p:tagLst xmlns:p="http://schemas.openxmlformats.org/presentationml/2006/main">
  <p:tag name="KSO_WM_DIAGRAM_VIRTUALLY_FRAME" val="{&quot;height&quot;:255,&quot;left&quot;:46.5,&quot;top&quot;:146.25,&quot;width&quot;:868.5}"/>
</p:tagLst>
</file>

<file path=ppt/tags/tag93.xml><?xml version="1.0" encoding="utf-8"?>
<p:tagLst xmlns:p="http://schemas.openxmlformats.org/presentationml/2006/main">
  <p:tag name="KSO_WM_DIAGRAM_VIRTUALLY_FRAME" val="{&quot;height&quot;:255,&quot;left&quot;:46.5,&quot;top&quot;:146.25,&quot;width&quot;:868.5}"/>
</p:tagLst>
</file>

<file path=ppt/tags/tag94.xml><?xml version="1.0" encoding="utf-8"?>
<p:tagLst xmlns:p="http://schemas.openxmlformats.org/presentationml/2006/main">
  <p:tag name="KSO_WM_DIAGRAM_VIRTUALLY_FRAME" val="{&quot;height&quot;:255,&quot;left&quot;:46.5,&quot;top&quot;:146.25,&quot;width&quot;:868.5}"/>
</p:tagLst>
</file>

<file path=ppt/tags/tag95.xml><?xml version="1.0" encoding="utf-8"?>
<p:tagLst xmlns:p="http://schemas.openxmlformats.org/presentationml/2006/main">
  <p:tag name="KSO_WM_DIAGRAM_VIRTUALLY_FRAME" val="{&quot;height&quot;:255,&quot;left&quot;:46.5,&quot;top&quot;:146.25,&quot;width&quot;:868.5}"/>
</p:tagLst>
</file>

<file path=ppt/tags/tag96.xml><?xml version="1.0" encoding="utf-8"?>
<p:tagLst xmlns:p="http://schemas.openxmlformats.org/presentationml/2006/main">
  <p:tag name="KSO_WM_DIAGRAM_VIRTUALLY_FRAME" val="{&quot;height&quot;:255,&quot;left&quot;:46.5,&quot;top&quot;:146.25,&quot;width&quot;:868.5}"/>
</p:tagLst>
</file>

<file path=ppt/tags/tag97.xml><?xml version="1.0" encoding="utf-8"?>
<p:tagLst xmlns:p="http://schemas.openxmlformats.org/presentationml/2006/main">
  <p:tag name="KSO_WM_DIAGRAM_VIRTUALLY_FRAME" val="{&quot;height&quot;:255,&quot;left&quot;:46.5,&quot;top&quot;:146.25,&quot;width&quot;:868.5}"/>
</p:tagLst>
</file>

<file path=ppt/tags/tag98.xml><?xml version="1.0" encoding="utf-8"?>
<p:tagLst xmlns:p="http://schemas.openxmlformats.org/presentationml/2006/main">
  <p:tag name="KSO_WM_DIAGRAM_VIRTUALLY_FRAME" val="{&quot;height&quot;:255,&quot;left&quot;:46.5,&quot;top&quot;:146.25,&quot;width&quot;:868.5}"/>
</p:tagLst>
</file>

<file path=ppt/tags/tag99.xml><?xml version="1.0" encoding="utf-8"?>
<p:tagLst xmlns:p="http://schemas.openxmlformats.org/presentationml/2006/main">
  <p:tag name="KSO_WM_DIAGRAM_VIRTUALLY_FRAME" val="{&quot;height&quot;:255,&quot;left&quot;:46.5,&quot;top&quot;:146.25,&quot;width&quot;:868.5}"/>
</p:tagLst>
</file>

<file path=ppt/tags/tag100.xml><?xml version="1.0" encoding="utf-8"?>
<p:tagLst xmlns:p="http://schemas.openxmlformats.org/presentationml/2006/main">
  <p:tag name="KSO_WM_DIAGRAM_VIRTUALLY_FRAME" val="{&quot;height&quot;:255,&quot;left&quot;:46.5,&quot;top&quot;:146.25,&quot;width&quot;:868.5}"/>
</p:tagLst>
</file>

<file path=ppt/tags/tag101.xml><?xml version="1.0" encoding="utf-8"?>
<p:tagLst xmlns:p="http://schemas.openxmlformats.org/presentationml/2006/main">
  <p:tag name="KSO_WM_DIAGRAM_VIRTUALLY_FRAME" val="{&quot;height&quot;:255,&quot;left&quot;:46.5,&quot;top&quot;:146.25,&quot;width&quot;:868.5}"/>
</p:tagLst>
</file>

<file path=ppt/tags/tag102.xml><?xml version="1.0" encoding="utf-8"?>
<p:tagLst xmlns:p="http://schemas.openxmlformats.org/presentationml/2006/main">
  <p:tag name="KSO_WM_DIAGRAM_VIRTUALLY_FRAME" val="{&quot;height&quot;:255,&quot;left&quot;:46.5,&quot;top&quot;:146.25,&quot;width&quot;:868.5}"/>
</p:tagLst>
</file>

<file path=ppt/tags/tag103.xml><?xml version="1.0" encoding="utf-8"?>
<p:tagLst xmlns:p="http://schemas.openxmlformats.org/presentationml/2006/main">
  <p:tag name="KSO_WM_DIAGRAM_VIRTUALLY_FRAME" val="{&quot;height&quot;:255,&quot;left&quot;:46.5,&quot;top&quot;:146.25,&quot;width&quot;:868.5}"/>
</p:tagLst>
</file>

<file path=ppt/tags/tag104.xml><?xml version="1.0" encoding="utf-8"?>
<p:tagLst xmlns:p="http://schemas.openxmlformats.org/presentationml/2006/main">
  <p:tag name="KSO_WM_DIAGRAM_VIRTUALLY_FRAME" val="{&quot;height&quot;:255,&quot;left&quot;:46.5,&quot;top&quot;:146.25,&quot;width&quot;:868.5}"/>
</p:tagLst>
</file>

<file path=ppt/tags/tag105.xml><?xml version="1.0" encoding="utf-8"?>
<p:tagLst xmlns:p="http://schemas.openxmlformats.org/presentationml/2006/main">
  <p:tag name="KSO_WM_DIAGRAM_VIRTUALLY_FRAME" val="{&quot;height&quot;:255,&quot;left&quot;:46.5,&quot;top&quot;:146.25,&quot;width&quot;:868.5}"/>
</p:tagLst>
</file>

<file path=ppt/tags/tag106.xml><?xml version="1.0" encoding="utf-8"?>
<p:tagLst xmlns:p="http://schemas.openxmlformats.org/presentationml/2006/main">
  <p:tag name="KSO_WM_DIAGRAM_VIRTUALLY_FRAME" val="{&quot;height&quot;:255,&quot;left&quot;:46.5,&quot;top&quot;:146.25,&quot;width&quot;:868.5}"/>
</p:tagLst>
</file>

<file path=ppt/tags/tag107.xml><?xml version="1.0" encoding="utf-8"?>
<p:tagLst xmlns:p="http://schemas.openxmlformats.org/presentationml/2006/main">
  <p:tag name="KSO_WM_DIAGRAM_VIRTUALLY_FRAME" val="{&quot;height&quot;:255,&quot;left&quot;:46.5,&quot;top&quot;:146.25,&quot;width&quot;:868.5}"/>
</p:tagLst>
</file>

<file path=ppt/tags/tag108.xml><?xml version="1.0" encoding="utf-8"?>
<p:tagLst xmlns:p="http://schemas.openxmlformats.org/presentationml/2006/main">
  <p:tag name="KSO_WM_DIAGRAM_VIRTUALLY_FRAME" val="{&quot;height&quot;:330.15,&quot;left&quot;:322.5,&quot;top&quot;:116.85,&quot;width&quot;:634.8}"/>
</p:tagLst>
</file>

<file path=ppt/tags/tag109.xml><?xml version="1.0" encoding="utf-8"?>
<p:tagLst xmlns:p="http://schemas.openxmlformats.org/presentationml/2006/main">
  <p:tag name="KSO_WM_DIAGRAM_VIRTUALLY_FRAME" val="{&quot;height&quot;:330.15,&quot;left&quot;:322.5,&quot;top&quot;:116.85,&quot;width&quot;:634.8}"/>
</p:tagLst>
</file>

<file path=ppt/tags/tag110.xml><?xml version="1.0" encoding="utf-8"?>
<p:tagLst xmlns:p="http://schemas.openxmlformats.org/presentationml/2006/main">
  <p:tag name="KSO_WM_DIAGRAM_VIRTUALLY_FRAME" val="{&quot;height&quot;:330.15,&quot;left&quot;:322.5,&quot;top&quot;:116.85,&quot;width&quot;:634.8}"/>
</p:tagLst>
</file>

<file path=ppt/tags/tag111.xml><?xml version="1.0" encoding="utf-8"?>
<p:tagLst xmlns:p="http://schemas.openxmlformats.org/presentationml/2006/main">
  <p:tag name="KSO_WM_DIAGRAM_VIRTUALLY_FRAME" val="{&quot;height&quot;:330.15,&quot;left&quot;:322.5,&quot;top&quot;:116.85,&quot;width&quot;:634.8}"/>
</p:tagLst>
</file>

<file path=ppt/tags/tag112.xml><?xml version="1.0" encoding="utf-8"?>
<p:tagLst xmlns:p="http://schemas.openxmlformats.org/presentationml/2006/main">
  <p:tag name="KSO_WM_DIAGRAM_VIRTUALLY_FRAME" val="{&quot;height&quot;:330.15,&quot;left&quot;:322.5,&quot;top&quot;:116.85,&quot;width&quot;:634.8}"/>
</p:tagLst>
</file>

<file path=ppt/tags/tag113.xml><?xml version="1.0" encoding="utf-8"?>
<p:tagLst xmlns:p="http://schemas.openxmlformats.org/presentationml/2006/main">
  <p:tag name="KSO_WM_DIAGRAM_VIRTUALLY_FRAME" val="{&quot;height&quot;:330.15,&quot;left&quot;:322.5,&quot;top&quot;:116.85,&quot;width&quot;:634.8}"/>
</p:tagLst>
</file>

<file path=ppt/tags/tag114.xml><?xml version="1.0" encoding="utf-8"?>
<p:tagLst xmlns:p="http://schemas.openxmlformats.org/presentationml/2006/main">
  <p:tag name="KSO_WM_DIAGRAM_VIRTUALLY_FRAME" val="{&quot;height&quot;:330.15,&quot;left&quot;:322.5,&quot;top&quot;:116.85,&quot;width&quot;:634.8}"/>
</p:tagLst>
</file>

<file path=ppt/tags/tag115.xml><?xml version="1.0" encoding="utf-8"?>
<p:tagLst xmlns:p="http://schemas.openxmlformats.org/presentationml/2006/main">
  <p:tag name="KSO_WM_DIAGRAM_VIRTUALLY_FRAME" val="{&quot;height&quot;:330.15,&quot;left&quot;:322.5,&quot;top&quot;:116.85,&quot;width&quot;:634.8}"/>
</p:tagLst>
</file>

<file path=ppt/tags/tag116.xml><?xml version="1.0" encoding="utf-8"?>
<p:tagLst xmlns:p="http://schemas.openxmlformats.org/presentationml/2006/main">
  <p:tag name="KSO_WM_DIAGRAM_VIRTUALLY_FRAME" val="{&quot;height&quot;:330.15,&quot;left&quot;:322.5,&quot;top&quot;:116.85,&quot;width&quot;:634.8}"/>
</p:tagLst>
</file>

<file path=ppt/tags/tag117.xml><?xml version="1.0" encoding="utf-8"?>
<p:tagLst xmlns:p="http://schemas.openxmlformats.org/presentationml/2006/main">
  <p:tag name="KSO_WM_DIAGRAM_VIRTUALLY_FRAME" val="{&quot;height&quot;:330.15,&quot;left&quot;:322.5,&quot;top&quot;:116.85,&quot;width&quot;:634.8}"/>
</p:tagLst>
</file>

<file path=ppt/tags/tag118.xml><?xml version="1.0" encoding="utf-8"?>
<p:tagLst xmlns:p="http://schemas.openxmlformats.org/presentationml/2006/main">
  <p:tag name="KSO_WM_DIAGRAM_VIRTUALLY_FRAME" val="{&quot;height&quot;:330.15,&quot;left&quot;:322.5,&quot;top&quot;:116.85,&quot;width&quot;:634.8}"/>
</p:tagLst>
</file>

<file path=ppt/tags/tag119.xml><?xml version="1.0" encoding="utf-8"?>
<p:tagLst xmlns:p="http://schemas.openxmlformats.org/presentationml/2006/main">
  <p:tag name="KSO_WM_DIAGRAM_VIRTUALLY_FRAME" val="{&quot;height&quot;:330.15,&quot;left&quot;:322.5,&quot;top&quot;:116.85,&quot;width&quot;:634.8}"/>
</p:tagLst>
</file>

<file path=ppt/tags/tag120.xml><?xml version="1.0" encoding="utf-8"?>
<p:tagLst xmlns:p="http://schemas.openxmlformats.org/presentationml/2006/main">
  <p:tag name="KSO_WM_DIAGRAM_VIRTUALLY_FRAME" val="{&quot;height&quot;:357,&quot;left&quot;:42,&quot;top&quot;:120,&quot;width&quot;:891}"/>
</p:tagLst>
</file>

<file path=ppt/tags/tag121.xml><?xml version="1.0" encoding="utf-8"?>
<p:tagLst xmlns:p="http://schemas.openxmlformats.org/presentationml/2006/main">
  <p:tag name="KSO_WM_DIAGRAM_VIRTUALLY_FRAME" val="{&quot;height&quot;:357,&quot;left&quot;:42,&quot;top&quot;:120,&quot;width&quot;:891}"/>
</p:tagLst>
</file>

<file path=ppt/tags/tag122.xml><?xml version="1.0" encoding="utf-8"?>
<p:tagLst xmlns:p="http://schemas.openxmlformats.org/presentationml/2006/main">
  <p:tag name="KSO_WM_DIAGRAM_VIRTUALLY_FRAME" val="{&quot;height&quot;:357,&quot;left&quot;:42,&quot;top&quot;:120,&quot;width&quot;:891}"/>
</p:tagLst>
</file>

<file path=ppt/tags/tag123.xml><?xml version="1.0" encoding="utf-8"?>
<p:tagLst xmlns:p="http://schemas.openxmlformats.org/presentationml/2006/main">
  <p:tag name="KSO_WM_DIAGRAM_VIRTUALLY_FRAME" val="{&quot;height&quot;:357,&quot;left&quot;:42,&quot;top&quot;:120,&quot;width&quot;:891}"/>
</p:tagLst>
</file>

<file path=ppt/tags/tag124.xml><?xml version="1.0" encoding="utf-8"?>
<p:tagLst xmlns:p="http://schemas.openxmlformats.org/presentationml/2006/main">
  <p:tag name="KSO_WM_DIAGRAM_VIRTUALLY_FRAME" val="{&quot;height&quot;:357,&quot;left&quot;:42,&quot;top&quot;:120,&quot;width&quot;:891}"/>
</p:tagLst>
</file>

<file path=ppt/tags/tag125.xml><?xml version="1.0" encoding="utf-8"?>
<p:tagLst xmlns:p="http://schemas.openxmlformats.org/presentationml/2006/main">
  <p:tag name="KSO_WM_DIAGRAM_VIRTUALLY_FRAME" val="{&quot;height&quot;:357,&quot;left&quot;:42,&quot;top&quot;:120,&quot;width&quot;:891}"/>
</p:tagLst>
</file>

<file path=ppt/tags/tag126.xml><?xml version="1.0" encoding="utf-8"?>
<p:tagLst xmlns:p="http://schemas.openxmlformats.org/presentationml/2006/main">
  <p:tag name="KSO_WM_DIAGRAM_VIRTUALLY_FRAME" val="{&quot;height&quot;:357,&quot;left&quot;:42,&quot;top&quot;:120,&quot;width&quot;:891}"/>
</p:tagLst>
</file>

<file path=ppt/tags/tag127.xml><?xml version="1.0" encoding="utf-8"?>
<p:tagLst xmlns:p="http://schemas.openxmlformats.org/presentationml/2006/main">
  <p:tag name="KSO_WM_DIAGRAM_VIRTUALLY_FRAME" val="{&quot;height&quot;:357,&quot;left&quot;:42,&quot;top&quot;:120,&quot;width&quot;:891}"/>
</p:tagLst>
</file>

<file path=ppt/tags/tag128.xml><?xml version="1.0" encoding="utf-8"?>
<p:tagLst xmlns:p="http://schemas.openxmlformats.org/presentationml/2006/main">
  <p:tag name="KSO_WM_DIAGRAM_VIRTUALLY_FRAME" val="{&quot;height&quot;:357,&quot;left&quot;:42,&quot;top&quot;:120,&quot;width&quot;:891}"/>
</p:tagLst>
</file>

<file path=ppt/tags/tag129.xml><?xml version="1.0" encoding="utf-8"?>
<p:tagLst xmlns:p="http://schemas.openxmlformats.org/presentationml/2006/main">
  <p:tag name="KSO_WM_DIAGRAM_VIRTUALLY_FRAME" val="{&quot;height&quot;:357,&quot;left&quot;:42,&quot;top&quot;:120,&quot;width&quot;:891}"/>
</p:tagLst>
</file>

<file path=ppt/tags/tag130.xml><?xml version="1.0" encoding="utf-8"?>
<p:tagLst xmlns:p="http://schemas.openxmlformats.org/presentationml/2006/main">
  <p:tag name="KSO_WM_DIAGRAM_VIRTUALLY_FRAME" val="{&quot;height&quot;:357,&quot;left&quot;:42,&quot;top&quot;:120,&quot;width&quot;:891}"/>
</p:tagLst>
</file>

<file path=ppt/tags/tag131.xml><?xml version="1.0" encoding="utf-8"?>
<p:tagLst xmlns:p="http://schemas.openxmlformats.org/presentationml/2006/main">
  <p:tag name="KSO_WM_DIAGRAM_VIRTUALLY_FRAME" val="{&quot;height&quot;:357,&quot;left&quot;:42,&quot;top&quot;:120,&quot;width&quot;:891}"/>
</p:tagLst>
</file>

<file path=ppt/tags/tag132.xml><?xml version="1.0" encoding="utf-8"?>
<p:tagLst xmlns:p="http://schemas.openxmlformats.org/presentationml/2006/main">
  <p:tag name="KSO_WM_DIAGRAM_VIRTUALLY_FRAME" val="{&quot;height&quot;:357,&quot;left&quot;:42,&quot;top&quot;:120,&quot;width&quot;:891}"/>
</p:tagLst>
</file>

<file path=ppt/tags/tag133.xml><?xml version="1.0" encoding="utf-8"?>
<p:tagLst xmlns:p="http://schemas.openxmlformats.org/presentationml/2006/main">
  <p:tag name="KSO_WM_DIAGRAM_VIRTUALLY_FRAME" val="{&quot;height&quot;:357,&quot;left&quot;:42,&quot;top&quot;:120,&quot;width&quot;:891}"/>
</p:tagLst>
</file>

<file path=ppt/tags/tag134.xml><?xml version="1.0" encoding="utf-8"?>
<p:tagLst xmlns:p="http://schemas.openxmlformats.org/presentationml/2006/main">
  <p:tag name="KSO_WM_DIAGRAM_VIRTUALLY_FRAME" val="{&quot;height&quot;:357,&quot;left&quot;:42,&quot;top&quot;:120,&quot;width&quot;:891}"/>
</p:tagLst>
</file>

<file path=ppt/tags/tag135.xml><?xml version="1.0" encoding="utf-8"?>
<p:tagLst xmlns:p="http://schemas.openxmlformats.org/presentationml/2006/main">
  <p:tag name="KSO_WM_DIAGRAM_VIRTUALLY_FRAME" val="{&quot;height&quot;:357,&quot;left&quot;:42,&quot;top&quot;:120,&quot;width&quot;:891}"/>
</p:tagLst>
</file>

<file path=ppt/tags/tag136.xml><?xml version="1.0" encoding="utf-8"?>
<p:tagLst xmlns:p="http://schemas.openxmlformats.org/presentationml/2006/main">
  <p:tag name="KSO_WM_DIAGRAM_VIRTUALLY_FRAME" val="{&quot;height&quot;:357,&quot;left&quot;:42,&quot;top&quot;:120,&quot;width&quot;:891}"/>
</p:tagLst>
</file>

<file path=ppt/tags/tag137.xml><?xml version="1.0" encoding="utf-8"?>
<p:tagLst xmlns:p="http://schemas.openxmlformats.org/presentationml/2006/main">
  <p:tag name="KSO_WM_DIAGRAM_VIRTUALLY_FRAME" val="{&quot;height&quot;:357,&quot;left&quot;:42,&quot;top&quot;:120,&quot;width&quot;:891}"/>
</p:tagLst>
</file>

<file path=ppt/tags/tag138.xml><?xml version="1.0" encoding="utf-8"?>
<p:tagLst xmlns:p="http://schemas.openxmlformats.org/presentationml/2006/main">
  <p:tag name="KSO_WM_DIAGRAM_VIRTUALLY_FRAME" val="{&quot;height&quot;:357,&quot;left&quot;:42,&quot;top&quot;:120,&quot;width&quot;:891}"/>
</p:tagLst>
</file>

<file path=ppt/tags/tag139.xml><?xml version="1.0" encoding="utf-8"?>
<p:tagLst xmlns:p="http://schemas.openxmlformats.org/presentationml/2006/main">
  <p:tag name="KSO_WM_DIAGRAM_VIRTUALLY_FRAME" val="{&quot;height&quot;:357,&quot;left&quot;:42,&quot;top&quot;:120,&quot;width&quot;:891}"/>
</p:tagLst>
</file>

<file path=ppt/tags/tag140.xml><?xml version="1.0" encoding="utf-8"?>
<p:tagLst xmlns:p="http://schemas.openxmlformats.org/presentationml/2006/main">
  <p:tag name="KSO_WM_DIAGRAM_VIRTUALLY_FRAME" val="{&quot;height&quot;:357,&quot;left&quot;:42,&quot;top&quot;:120,&quot;width&quot;:891}"/>
</p:tagLst>
</file>

<file path=ppt/tags/tag141.xml><?xml version="1.0" encoding="utf-8"?>
<p:tagLst xmlns:p="http://schemas.openxmlformats.org/presentationml/2006/main">
  <p:tag name="KSO_WM_DIAGRAM_VIRTUALLY_FRAME" val="{&quot;height&quot;:357,&quot;left&quot;:42,&quot;top&quot;:120,&quot;width&quot;:891}"/>
</p:tagLst>
</file>

<file path=ppt/tags/tag142.xml><?xml version="1.0" encoding="utf-8"?>
<p:tagLst xmlns:p="http://schemas.openxmlformats.org/presentationml/2006/main">
  <p:tag name="KSO_WM_DIAGRAM_VIRTUALLY_FRAME" val="{&quot;height&quot;:357,&quot;left&quot;:42,&quot;top&quot;:120,&quot;width&quot;:891}"/>
</p:tagLst>
</file>

<file path=ppt/tags/tag143.xml><?xml version="1.0" encoding="utf-8"?>
<p:tagLst xmlns:p="http://schemas.openxmlformats.org/presentationml/2006/main">
  <p:tag name="KSO_WM_DIAGRAM_VIRTUALLY_FRAME" val="{&quot;height&quot;:357,&quot;left&quot;:42,&quot;top&quot;:120,&quot;width&quot;:891}"/>
</p:tagLst>
</file>

<file path=ppt/tags/tag144.xml><?xml version="1.0" encoding="utf-8"?>
<p:tagLst xmlns:p="http://schemas.openxmlformats.org/presentationml/2006/main">
  <p:tag name="KSO_WM_DIAGRAM_VIRTUALLY_FRAME" val="{&quot;height&quot;:357,&quot;left&quot;:42,&quot;top&quot;:120,&quot;width&quot;:891}"/>
</p:tagLst>
</file>

<file path=ppt/tags/tag145.xml><?xml version="1.0" encoding="utf-8"?>
<p:tagLst xmlns:p="http://schemas.openxmlformats.org/presentationml/2006/main">
  <p:tag name="KSO_WM_DIAGRAM_VIRTUALLY_FRAME" val="{&quot;height&quot;:357,&quot;left&quot;:42,&quot;top&quot;:120,&quot;width&quot;:891}"/>
</p:tagLst>
</file>

<file path=ppt/tags/tag146.xml><?xml version="1.0" encoding="utf-8"?>
<p:tagLst xmlns:p="http://schemas.openxmlformats.org/presentationml/2006/main">
  <p:tag name="KSO_WM_DIAGRAM_VIRTUALLY_FRAME" val="{&quot;height&quot;:357,&quot;left&quot;:42,&quot;top&quot;:120,&quot;width&quot;:891}"/>
</p:tagLst>
</file>

<file path=ppt/tags/tag147.xml><?xml version="1.0" encoding="utf-8"?>
<p:tagLst xmlns:p="http://schemas.openxmlformats.org/presentationml/2006/main">
  <p:tag name="KSO_WM_DIAGRAM_VIRTUALLY_FRAME" val="{&quot;height&quot;:357,&quot;left&quot;:42,&quot;top&quot;:120,&quot;width&quot;:891}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8_3*m_i*1_1"/>
  <p:tag name="KSO_WM_TEMPLATE_CATEGORY" val="diagram"/>
  <p:tag name="KSO_WM_TEMPLATE_INDEX" val="20236918"/>
  <p:tag name="KSO_WM_UNIT_LAYERLEVEL" val="1_1"/>
  <p:tag name="KSO_WM_TAG_VERSION" val="3.0"/>
  <p:tag name="KSO_WM_BEAUTIFY_FLAG" val="#wm#"/>
  <p:tag name="KSO_WM_DIAGRAM_GROUP_CODE" val="m1-1"/>
  <p:tag name="KSO_WM_UNIT_TYPE" val="m_i"/>
  <p:tag name="KSO_WM_UNIT_INDEX" val="1_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1,&quot;foreColorIndex&quot;:5,&quot;pos&quot;:1,&quot;transparency&quot;:0.6000000238418579},{&quot;brightness&quot;:0,&quot;colorType&quot;:1,&quot;foreColorIndex&quot;:5,&quot;pos&quot;:0.4699999988079071,&quot;transparency&quot;:0.800000011920929},{&quot;brightness&quot;:0,&quot;colorType&quot;:1,&quot;foreColorIndex&quot;:5,&quot;pos&quot;:0,&quot;transparency&quot;:1}],&quot;type&quot;:3},&quot;glow&quot;:{&quot;colorType&quot;:0},&quot;line&quot;:{&quot;gradient&quot;:[{&quot;brightness&quot;:0,&quot;colorType&quot;:1,&quot;foreColorIndex&quot;:5,&quot;pos&quot;:0.6800000071525574,&quot;transparency&quot;:0},{&quot;brightness&quot;:0,&quot;colorType&quot;:1,&quot;foreColorIndex&quot;:5,&quot;pos&quot;:0.33000001311302185,&quot;transparency&quot;:0.6000000238418579},{&quot;brightness&quot;:0,&quot;colorType&quot;:1,&quot;foreColorIndex&quot;:5,&quot;pos&quot;:0,&quot;transparency&quot;:1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2_1"/>
  <p:tag name="KSO_WM_UNIT_ID" val="diagram20236918_3*m_h_i*1_2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8_3*m_h_i*1_3_2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3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5,&quot;transparency&quot;:0.6000000238418579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3_1"/>
  <p:tag name="KSO_WM_UNIT_ID" val="diagram20236918_3*m_h_i*1_3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5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6918_3*m_h_a*1_2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2,&quot;pos&quot;:0.23000000417232513,&quot;rgb&quot;:&quot;#ffffff&quot;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15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6918_3*m_h_a*1_3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2,&quot;pos&quot;:0.23000000417232513,&quot;rgb&quot;:&quot;#ffffff&quot;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8_3*m_h_i*1_2_2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2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5,&quot;transparency&quot;:0.6000000238418579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8_3*m_h_i*1_4_2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DIAGRAM_GROUP_CODE" val="m1-1"/>
  <p:tag name="KSO_WM_UNIT_TYPE" val="m_h_i"/>
  <p:tag name="KSO_WM_UNIT_INDEX" val="1_4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5,&quot;transparency&quot;:0.6000000238418579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6918_3*m_h_i*1_1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4_1"/>
  <p:tag name="KSO_WM_UNIT_ID" val="diagram20236918_3*m_h_i*1_4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GROUP_CODE" val="m1-1"/>
  <p:tag name="KSO_WM_DIAGRAM_VERSION" val="3"/>
  <p:tag name="KSO_WM_DIAGRAM_COLOR_TRICK" val="1"/>
  <p:tag name="KSO_WM_DIAGRAM_COLOR_TEXT_CAN_REMOVE" val="n"/>
  <p:tag name="KSO_WM_UNIT_FILL_TYPE" val="3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1,&quot;foreColorIndex&quot;:5,&quot;pos&quot;:0,&quot;transparency&quot;:0},{&quot;brightness&quot;:0.6000000238418579,&quot;colorType&quot;:1,&quot;foreColorIndex&quot;:5,&quot;pos&quot;:0.6299999952316284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20000000298023224},&quot;type&quot;:1},&quot;glow&quot;:{&quot;colorType&quot;:0},&quot;line&quot;:{&quot;type&quot;:0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8_3*m_h_f*1_1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m1-1"/>
  <p:tag name="KSO_WM_UNIT_TYPE" val="m_h_f"/>
  <p:tag name="KSO_WM_UNIT_INDEX" val="1_1_1"/>
  <p:tag name="KSO_WM_DIAGRAM_VERSION" val="3"/>
  <p:tag name="KSO_WM_DIAGRAM_COLOR_TRICK" val="1"/>
  <p:tag name="KSO_WM_DIAGRAM_COLOR_TEXT_CAN_REMOVE" val="n"/>
  <p:tag name="KSO_WM_UNIT_PRESET_TEXT" val="单击此处添加文本，简明扼要地阐述观点。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15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6918_3*m_h_a*1_1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2,&quot;pos&quot;:0.23000000417232513,&quot;rgb&quot;:&quot;#ffffff&quot;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8_3*m_h_f*1_4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SUBTYPE" val="a"/>
  <p:tag name="KSO_WM_UNIT_NOCLEAR" val="0"/>
  <p:tag name="KSO_WM_DIAGRAM_GROUP_CODE" val="m1-1"/>
  <p:tag name="KSO_WM_UNIT_TYPE" val="m_h_f"/>
  <p:tag name="KSO_WM_UNIT_INDEX" val="1_4_1"/>
  <p:tag name="KSO_WM_DIAGRAM_VERSION" val="3"/>
  <p:tag name="KSO_WM_DIAGRAM_COLOR_TRICK" val="1"/>
  <p:tag name="KSO_WM_DIAGRAM_COLOR_TEXT_CAN_REMOVE" val="n"/>
  <p:tag name="KSO_WM_UNIT_PRESET_TEXT" val="单击此处添加文本，简明扼要地阐述观点。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16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6918_3*m_h_a*1_4_1"/>
  <p:tag name="KSO_WM_TEMPLATE_CATEGORY" val="diagram"/>
  <p:tag name="KSO_WM_TEMPLATE_INDEX" val="20236918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5"/>
  <p:tag name="KSO_WM_DIAGRAM_MIN_ITEMCNT" val="2"/>
  <p:tag name="KSO_WM_DIAGRAM_VIRTUALLY_FRAME" val="{&quot;height&quot;:357.8187255859375,&quot;left&quot;:48.149993896484375,&quot;top&quot;:149.74063720703126,&quot;width&quot;:863.7000122070312}"/>
  <p:tag name="KSO_WM_DIAGRAM_COLOR_MATCH_VALUE" val="{&quot;shape&quot;:{&quot;fill&quot;:{&quot;gradient&quot;:[{&quot;brightness&quot;:0,&quot;colorType&quot;:2,&quot;pos&quot;:0.23000000417232513,&quot;rgb&quot;:&quot;#ffffff&quot;,&quot;transparency&quot;:0},{&quot;brightness&quot;:0.80000001192092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DIAGRAM_USE_COLOR_VALUE" val="{&quot;color_scheme&quot;:1,&quot;color_type&quot;:1,&quot;theme_color_indexes&quot;:[5,6,5,6,5,6]}"/>
</p:tagLst>
</file>

<file path=ppt/tags/tag162.xml><?xml version="1.0" encoding="utf-8"?>
<p:tagLst xmlns:p="http://schemas.openxmlformats.org/presentationml/2006/main">
  <p:tag name="KSO_WM_DIAGRAM_VIRTUALLY_FRAME" val="{&quot;height&quot;:208.5,&quot;left&quot;:532.5,&quot;top&quot;:187.5,&quot;width&quot;:356.25}"/>
</p:tagLst>
</file>

<file path=ppt/tags/tag163.xml><?xml version="1.0" encoding="utf-8"?>
<p:tagLst xmlns:p="http://schemas.openxmlformats.org/presentationml/2006/main">
  <p:tag name="KSO_WM_DIAGRAM_VIRTUALLY_FRAME" val="{&quot;height&quot;:208.5,&quot;left&quot;:532.5,&quot;top&quot;:187.5,&quot;width&quot;:356.25}"/>
</p:tagLst>
</file>

<file path=ppt/tags/tag164.xml><?xml version="1.0" encoding="utf-8"?>
<p:tagLst xmlns:p="http://schemas.openxmlformats.org/presentationml/2006/main">
  <p:tag name="KSO_WM_DIAGRAM_VIRTUALLY_FRAME" val="{&quot;height&quot;:208.5,&quot;left&quot;:532.5,&quot;top&quot;:187.5,&quot;width&quot;:356.25}"/>
</p:tagLst>
</file>

<file path=ppt/tags/tag165.xml><?xml version="1.0" encoding="utf-8"?>
<p:tagLst xmlns:p="http://schemas.openxmlformats.org/presentationml/2006/main">
  <p:tag name="KSO_WM_DIAGRAM_VIRTUALLY_FRAME" val="{&quot;height&quot;:208.5,&quot;left&quot;:532.5,&quot;top&quot;:187.5,&quot;width&quot;:356.25}"/>
</p:tagLst>
</file>

<file path=ppt/tags/tag166.xml><?xml version="1.0" encoding="utf-8"?>
<p:tagLst xmlns:p="http://schemas.openxmlformats.org/presentationml/2006/main">
  <p:tag name="KSO_WM_DIAGRAM_VIRTUALLY_FRAME" val="{&quot;height&quot;:208.5,&quot;left&quot;:532.5,&quot;top&quot;:187.5,&quot;width&quot;:356.25}"/>
</p:tagLst>
</file>

<file path=ppt/tags/tag167.xml><?xml version="1.0" encoding="utf-8"?>
<p:tagLst xmlns:p="http://schemas.openxmlformats.org/presentationml/2006/main">
  <p:tag name="KSO_WM_DIAGRAM_VIRTUALLY_FRAME" val="{&quot;height&quot;:208.5,&quot;left&quot;:532.5,&quot;top&quot;:187.5,&quot;width&quot;:356.25}"/>
</p:tagLst>
</file>

<file path=ppt/tags/tag168.xml><?xml version="1.0" encoding="utf-8"?>
<p:tagLst xmlns:p="http://schemas.openxmlformats.org/presentationml/2006/main">
  <p:tag name="KSO_WM_DIAGRAM_VIRTUALLY_FRAME" val="{&quot;height&quot;:208.5,&quot;left&quot;:532.5,&quot;top&quot;:187.5,&quot;width&quot;:356.25}"/>
</p:tagLst>
</file>

<file path=ppt/tags/tag169.xml><?xml version="1.0" encoding="utf-8"?>
<p:tagLst xmlns:p="http://schemas.openxmlformats.org/presentationml/2006/main">
  <p:tag name="KSO_WM_DIAGRAM_VIRTUALLY_FRAME" val="{&quot;height&quot;:208.5,&quot;left&quot;:532.5,&quot;top&quot;:187.5,&quot;width&quot;:356.25}"/>
</p:tagLst>
</file>

<file path=ppt/tags/tag170.xml><?xml version="1.0" encoding="utf-8"?>
<p:tagLst xmlns:p="http://schemas.openxmlformats.org/presentationml/2006/main">
  <p:tag name="KSO_WM_DIAGRAM_VIRTUALLY_FRAME" val="{&quot;height&quot;:208.5,&quot;left&quot;:532.5,&quot;top&quot;:187.5,&quot;width&quot;:356.25}"/>
</p:tagLst>
</file>

<file path=ppt/tags/tag171.xml><?xml version="1.0" encoding="utf-8"?>
<p:tagLst xmlns:p="http://schemas.openxmlformats.org/presentationml/2006/main">
  <p:tag name="KSO_WM_DIAGRAM_VIRTUALLY_FRAME" val="{&quot;height&quot;:208.5,&quot;left&quot;:532.5,&quot;top&quot;:187.5,&quot;width&quot;:356.25}"/>
</p:tagLst>
</file>

<file path=ppt/tags/tag172.xml><?xml version="1.0" encoding="utf-8"?>
<p:tagLst xmlns:p="http://schemas.openxmlformats.org/presentationml/2006/main">
  <p:tag name="KSO_WM_DIAGRAM_VIRTUALLY_FRAME" val="{&quot;height&quot;:208.5,&quot;left&quot;:532.5,&quot;top&quot;:187.5,&quot;width&quot;:356.25}"/>
</p:tagLst>
</file>

<file path=ppt/tags/tag173.xml><?xml version="1.0" encoding="utf-8"?>
<p:tagLst xmlns:p="http://schemas.openxmlformats.org/presentationml/2006/main">
  <p:tag name="KSO_WM_DIAGRAM_VIRTUALLY_FRAME" val="{&quot;height&quot;:208.5,&quot;left&quot;:532.5,&quot;top&quot;:187.5,&quot;width&quot;:356.25}"/>
</p:tagLst>
</file>

<file path=ppt/tags/tag174.xml><?xml version="1.0" encoding="utf-8"?>
<p:tagLst xmlns:p="http://schemas.openxmlformats.org/presentationml/2006/main">
  <p:tag name="KSO_WM_DIAGRAM_VIRTUALLY_FRAME" val="{&quot;height&quot;:142.5,&quot;left&quot;:42,&quot;top&quot;:124.5,&quot;width&quot;:873}"/>
</p:tagLst>
</file>

<file path=ppt/tags/tag175.xml><?xml version="1.0" encoding="utf-8"?>
<p:tagLst xmlns:p="http://schemas.openxmlformats.org/presentationml/2006/main">
  <p:tag name="KSO_WM_DIAGRAM_VIRTUALLY_FRAME" val="{&quot;height&quot;:142.5,&quot;left&quot;:42,&quot;top&quot;:124.5,&quot;width&quot;:873}"/>
</p:tagLst>
</file>

<file path=ppt/tags/tag176.xml><?xml version="1.0" encoding="utf-8"?>
<p:tagLst xmlns:p="http://schemas.openxmlformats.org/presentationml/2006/main">
  <p:tag name="KSO_WM_DIAGRAM_VIRTUALLY_FRAME" val="{&quot;height&quot;:142.5,&quot;left&quot;:42,&quot;top&quot;:124.5,&quot;width&quot;:873}"/>
</p:tagLst>
</file>

<file path=ppt/tags/tag177.xml><?xml version="1.0" encoding="utf-8"?>
<p:tagLst xmlns:p="http://schemas.openxmlformats.org/presentationml/2006/main">
  <p:tag name="KSO_WM_DIAGRAM_VIRTUALLY_FRAME" val="{&quot;height&quot;:142.5,&quot;left&quot;:42,&quot;top&quot;:124.5,&quot;width&quot;:873}"/>
</p:tagLst>
</file>

<file path=ppt/tags/tag178.xml><?xml version="1.0" encoding="utf-8"?>
<p:tagLst xmlns:p="http://schemas.openxmlformats.org/presentationml/2006/main">
  <p:tag name="KSO_WM_DIAGRAM_VIRTUALLY_FRAME" val="{&quot;height&quot;:142.5,&quot;left&quot;:42,&quot;top&quot;:124.5,&quot;width&quot;:873}"/>
</p:tagLst>
</file>

<file path=ppt/tags/tag179.xml><?xml version="1.0" encoding="utf-8"?>
<p:tagLst xmlns:p="http://schemas.openxmlformats.org/presentationml/2006/main">
  <p:tag name="KSO_WM_DIAGRAM_VIRTUALLY_FRAME" val="{&quot;height&quot;:142.5,&quot;left&quot;:42,&quot;top&quot;:124.5,&quot;width&quot;:873}"/>
</p:tagLst>
</file>

<file path=ppt/tags/tag180.xml><?xml version="1.0" encoding="utf-8"?>
<p:tagLst xmlns:p="http://schemas.openxmlformats.org/presentationml/2006/main">
  <p:tag name="KSO_WM_DIAGRAM_VIRTUALLY_FRAME" val="{&quot;height&quot;:142.5,&quot;left&quot;:42,&quot;top&quot;:124.5,&quot;width&quot;:873}"/>
</p:tagLst>
</file>

<file path=ppt/tags/tag181.xml><?xml version="1.0" encoding="utf-8"?>
<p:tagLst xmlns:p="http://schemas.openxmlformats.org/presentationml/2006/main">
  <p:tag name="KSO_WM_DIAGRAM_VIRTUALLY_FRAME" val="{&quot;height&quot;:142.5,&quot;left&quot;:42,&quot;top&quot;:124.5,&quot;width&quot;:873}"/>
</p:tagLst>
</file>

<file path=ppt/tags/tag182.xml><?xml version="1.0" encoding="utf-8"?>
<p:tagLst xmlns:p="http://schemas.openxmlformats.org/presentationml/2006/main">
  <p:tag name="KSO_WM_DIAGRAM_VIRTUALLY_FRAME" val="{&quot;height&quot;:142.5,&quot;left&quot;:42,&quot;top&quot;:124.5,&quot;width&quot;:873}"/>
</p:tagLst>
</file>

<file path=ppt/tags/tag183.xml><?xml version="1.0" encoding="utf-8"?>
<p:tagLst xmlns:p="http://schemas.openxmlformats.org/presentationml/2006/main">
  <p:tag name="KSO_WM_DIAGRAM_VIRTUALLY_FRAME" val="{&quot;height&quot;:142.5,&quot;left&quot;:42,&quot;top&quot;:124.5,&quot;width&quot;:873}"/>
</p:tagLst>
</file>

<file path=ppt/tags/tag184.xml><?xml version="1.0" encoding="utf-8"?>
<p:tagLst xmlns:p="http://schemas.openxmlformats.org/presentationml/2006/main">
  <p:tag name="KSO_WM_DIAGRAM_VIRTUALLY_FRAME" val="{&quot;height&quot;:142.5,&quot;left&quot;:42,&quot;top&quot;:124.5,&quot;width&quot;:873}"/>
</p:tagLst>
</file>

<file path=ppt/tags/tag185.xml><?xml version="1.0" encoding="utf-8"?>
<p:tagLst xmlns:p="http://schemas.openxmlformats.org/presentationml/2006/main">
  <p:tag name="KSO_WM_DIAGRAM_VIRTUALLY_FRAME" val="{&quot;height&quot;:142.5,&quot;left&quot;:42,&quot;top&quot;:124.5,&quot;width&quot;:873}"/>
</p:tagLst>
</file>

<file path=ppt/tags/tag186.xml><?xml version="1.0" encoding="utf-8"?>
<p:tagLst xmlns:p="http://schemas.openxmlformats.org/presentationml/2006/main">
  <p:tag name="KSO_WM_DIAGRAM_VIRTUALLY_FRAME" val="{&quot;height&quot;:292.5,&quot;left&quot;:43.5,&quot;top&quot;:127.5,&quot;width&quot;:875.25}"/>
</p:tagLst>
</file>

<file path=ppt/tags/tag187.xml><?xml version="1.0" encoding="utf-8"?>
<p:tagLst xmlns:p="http://schemas.openxmlformats.org/presentationml/2006/main">
  <p:tag name="KSO_WM_DIAGRAM_VIRTUALLY_FRAME" val="{&quot;height&quot;:292.5,&quot;left&quot;:43.5,&quot;top&quot;:127.5,&quot;width&quot;:875.25}"/>
</p:tagLst>
</file>

<file path=ppt/tags/tag188.xml><?xml version="1.0" encoding="utf-8"?>
<p:tagLst xmlns:p="http://schemas.openxmlformats.org/presentationml/2006/main">
  <p:tag name="KSO_WM_DIAGRAM_VIRTUALLY_FRAME" val="{&quot;height&quot;:292.5,&quot;left&quot;:43.5,&quot;top&quot;:127.5,&quot;width&quot;:875.25}"/>
</p:tagLst>
</file>

<file path=ppt/tags/tag189.xml><?xml version="1.0" encoding="utf-8"?>
<p:tagLst xmlns:p="http://schemas.openxmlformats.org/presentationml/2006/main">
  <p:tag name="KSO_WM_DIAGRAM_VIRTUALLY_FRAME" val="{&quot;height&quot;:292.5,&quot;left&quot;:43.5,&quot;top&quot;:127.5,&quot;width&quot;:875.25}"/>
</p:tagLst>
</file>

<file path=ppt/tags/tag190.xml><?xml version="1.0" encoding="utf-8"?>
<p:tagLst xmlns:p="http://schemas.openxmlformats.org/presentationml/2006/main">
  <p:tag name="KSO_WM_DIAGRAM_VIRTUALLY_FRAME" val="{&quot;height&quot;:292.5,&quot;left&quot;:43.5,&quot;top&quot;:127.5,&quot;width&quot;:875.25}"/>
</p:tagLst>
</file>

<file path=ppt/tags/tag191.xml><?xml version="1.0" encoding="utf-8"?>
<p:tagLst xmlns:p="http://schemas.openxmlformats.org/presentationml/2006/main">
  <p:tag name="KSO_WM_DIAGRAM_VIRTUALLY_FRAME" val="{&quot;height&quot;:292.5,&quot;left&quot;:43.5,&quot;top&quot;:127.5,&quot;width&quot;:875.25}"/>
</p:tagLst>
</file>

<file path=ppt/tags/tag192.xml><?xml version="1.0" encoding="utf-8"?>
<p:tagLst xmlns:p="http://schemas.openxmlformats.org/presentationml/2006/main">
  <p:tag name="KSO_WM_DIAGRAM_VIRTUALLY_FRAME" val="{&quot;height&quot;:292.5,&quot;left&quot;:43.5,&quot;top&quot;:127.5,&quot;width&quot;:875.25}"/>
</p:tagLst>
</file>

<file path=ppt/tags/tag193.xml><?xml version="1.0" encoding="utf-8"?>
<p:tagLst xmlns:p="http://schemas.openxmlformats.org/presentationml/2006/main">
  <p:tag name="KSO_WM_DIAGRAM_VIRTUALLY_FRAME" val="{&quot;height&quot;:292.5,&quot;left&quot;:43.5,&quot;top&quot;:127.5,&quot;width&quot;:875.25}"/>
</p:tagLst>
</file>

<file path=ppt/tags/tag194.xml><?xml version="1.0" encoding="utf-8"?>
<p:tagLst xmlns:p="http://schemas.openxmlformats.org/presentationml/2006/main">
  <p:tag name="KSO_WM_DIAGRAM_VIRTUALLY_FRAME" val="{&quot;height&quot;:292.5,&quot;left&quot;:43.5,&quot;top&quot;:127.5,&quot;width&quot;:875.25}"/>
</p:tagLst>
</file>

<file path=ppt/tags/tag195.xml><?xml version="1.0" encoding="utf-8"?>
<p:tagLst xmlns:p="http://schemas.openxmlformats.org/presentationml/2006/main">
  <p:tag name="KSO_WM_DIAGRAM_VIRTUALLY_FRAME" val="{&quot;height&quot;:292.5,&quot;left&quot;:43.5,&quot;top&quot;:127.5,&quot;width&quot;:875.25}"/>
</p:tagLst>
</file>

<file path=ppt/tags/tag196.xml><?xml version="1.0" encoding="utf-8"?>
<p:tagLst xmlns:p="http://schemas.openxmlformats.org/presentationml/2006/main">
  <p:tag name="KSO_WM_DIAGRAM_VIRTUALLY_FRAME" val="{&quot;height&quot;:292.5,&quot;left&quot;:43.5,&quot;top&quot;:127.5,&quot;width&quot;:875.25}"/>
</p:tagLst>
</file>

<file path=ppt/tags/tag197.xml><?xml version="1.0" encoding="utf-8"?>
<p:tagLst xmlns:p="http://schemas.openxmlformats.org/presentationml/2006/main">
  <p:tag name="KSO_WM_DIAGRAM_VIRTUALLY_FRAME" val="{&quot;height&quot;:292.5,&quot;left&quot;:43.5,&quot;top&quot;:127.5,&quot;width&quot;:875.25}"/>
</p:tagLst>
</file>

<file path=ppt/tags/tag198.xml><?xml version="1.0" encoding="utf-8"?>
<p:tagLst xmlns:p="http://schemas.openxmlformats.org/presentationml/2006/main">
  <p:tag name="resource_record_key" val="{&quot;70&quot;:[3327358]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3811</Words>
  <Application>WPS 演示</Application>
  <PresentationFormat>Converted Presentation</PresentationFormat>
  <Paragraphs>698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7" baseType="lpstr">
      <vt:lpstr>Arial</vt:lpstr>
      <vt:lpstr>宋体</vt:lpstr>
      <vt:lpstr>Wingdings</vt:lpstr>
      <vt:lpstr>微软雅黑</vt:lpstr>
      <vt:lpstr>Cascadia Mono</vt:lpstr>
      <vt:lpstr>Arial Unicode MS</vt:lpstr>
      <vt:lpstr>Calibri</vt:lpstr>
      <vt:lpstr>Roboto Regular</vt:lpstr>
      <vt:lpstr>思源黑体 CN Regular</vt:lpstr>
      <vt:lpstr>Segoe Print</vt:lpstr>
      <vt:lpstr>黑体</vt:lpstr>
      <vt:lpstr>Calibri Light</vt:lpstr>
      <vt:lpstr>Times New Roman</vt:lpstr>
      <vt:lpstr>Wingdings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林金茂</cp:lastModifiedBy>
  <cp:revision>1</cp:revision>
  <dcterms:created xsi:type="dcterms:W3CDTF">2026-07-14T10:00:37Z</dcterms:created>
  <dcterms:modified xsi:type="dcterms:W3CDTF">2026-07-14T10:00:37Z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EDC3DECC385C440DAB03F9BA0F21A63A_12</vt:lpwstr>
  </property>
</Properties>
</file>